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00" r:id="rId4"/>
    <p:sldId id="308" r:id="rId5"/>
    <p:sldId id="301" r:id="rId6"/>
    <p:sldId id="303" r:id="rId7"/>
    <p:sldId id="298" r:id="rId8"/>
    <p:sldId id="304" r:id="rId9"/>
    <p:sldId id="321" r:id="rId10"/>
    <p:sldId id="320" r:id="rId11"/>
    <p:sldId id="323" r:id="rId12"/>
    <p:sldId id="322" r:id="rId13"/>
    <p:sldId id="305" r:id="rId14"/>
    <p:sldId id="309" r:id="rId15"/>
    <p:sldId id="318" r:id="rId16"/>
    <p:sldId id="319" r:id="rId17"/>
    <p:sldId id="306" r:id="rId18"/>
    <p:sldId id="307" r:id="rId19"/>
    <p:sldId id="299" r:id="rId20"/>
    <p:sldId id="289" r:id="rId21"/>
    <p:sldId id="29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45" autoAdjust="0"/>
    <p:restoredTop sz="96132" autoAdjust="0"/>
  </p:normalViewPr>
  <p:slideViewPr>
    <p:cSldViewPr snapToGrid="0" snapToObjects="1">
      <p:cViewPr varScale="1">
        <p:scale>
          <a:sx n="68" d="100"/>
          <a:sy n="68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ito_\Documents\Github\Gestion_Proyectos\Documentos_generados\5.%20Costes%20y%20Justificaci&#243;n%20t&#233;cnica\Estimacion%20cos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Ingresos</c:v>
          </c:tx>
          <c:marker>
            <c:symbol val="none"/>
          </c:marker>
          <c:cat>
            <c:strRef>
              <c:f>Hoja1!$X$2:$AJ$2</c:f>
              <c:strCache>
                <c:ptCount val="13"/>
                <c:pt idx="0">
                  <c:v>SEPTIEMBRE</c:v>
                </c:pt>
                <c:pt idx="1">
                  <c:v>OCTUBRE</c:v>
                </c:pt>
                <c:pt idx="2">
                  <c:v>NOVIEMBRE</c:v>
                </c:pt>
                <c:pt idx="3">
                  <c:v>DICIEMBRE</c:v>
                </c:pt>
                <c:pt idx="4">
                  <c:v>ENERO</c:v>
                </c:pt>
                <c:pt idx="5">
                  <c:v>FEBRERO</c:v>
                </c:pt>
                <c:pt idx="6">
                  <c:v>MARZO</c:v>
                </c:pt>
                <c:pt idx="7">
                  <c:v>ABRIL</c:v>
                </c:pt>
                <c:pt idx="8">
                  <c:v>MAYO</c:v>
                </c:pt>
                <c:pt idx="9">
                  <c:v>JUNIO</c:v>
                </c:pt>
                <c:pt idx="10">
                  <c:v>JULIO</c:v>
                </c:pt>
                <c:pt idx="11">
                  <c:v>AGOSTO</c:v>
                </c:pt>
                <c:pt idx="12">
                  <c:v>SEPTIEMBRE</c:v>
                </c:pt>
              </c:strCache>
            </c:strRef>
          </c:cat>
          <c:val>
            <c:numRef>
              <c:f>Hoja1!$X$12:$AJ$12</c:f>
              <c:numCache>
                <c:formatCode>#,##0.00\ "€"</c:formatCode>
                <c:ptCount val="13"/>
                <c:pt idx="0">
                  <c:v>444413.87199999997</c:v>
                </c:pt>
                <c:pt idx="1">
                  <c:v>444413.87199999997</c:v>
                </c:pt>
                <c:pt idx="2">
                  <c:v>444413.87199999997</c:v>
                </c:pt>
                <c:pt idx="3">
                  <c:v>888827.74399999995</c:v>
                </c:pt>
                <c:pt idx="4">
                  <c:v>888827.74399999995</c:v>
                </c:pt>
                <c:pt idx="5">
                  <c:v>888827.74399999995</c:v>
                </c:pt>
                <c:pt idx="6">
                  <c:v>1111034.68</c:v>
                </c:pt>
                <c:pt idx="7">
                  <c:v>1333241.6159999999</c:v>
                </c:pt>
                <c:pt idx="8">
                  <c:v>1333241.6159999999</c:v>
                </c:pt>
                <c:pt idx="9">
                  <c:v>1777655.4879999999</c:v>
                </c:pt>
                <c:pt idx="10">
                  <c:v>1777655.4879999999</c:v>
                </c:pt>
                <c:pt idx="11">
                  <c:v>1999862.4239999999</c:v>
                </c:pt>
                <c:pt idx="12">
                  <c:v>2222069.36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62-4932-B8E3-0694E3D08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99552"/>
        <c:axId val="141065536"/>
      </c:lineChart>
      <c:catAx>
        <c:axId val="154199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s-ES"/>
          </a:p>
        </c:txPr>
        <c:crossAx val="141065536"/>
        <c:crosses val="autoZero"/>
        <c:auto val="1"/>
        <c:lblAlgn val="ctr"/>
        <c:lblOffset val="100"/>
        <c:noMultiLvlLbl val="0"/>
      </c:catAx>
      <c:valAx>
        <c:axId val="141065536"/>
        <c:scaling>
          <c:orientation val="minMax"/>
        </c:scaling>
        <c:delete val="0"/>
        <c:axPos val="l"/>
        <c:majorGridlines/>
        <c:numFmt formatCode="#,##0.00\ &quot;€&quot;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s-ES"/>
          </a:p>
        </c:txPr>
        <c:crossAx val="1541995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5288988492395075"/>
          <c:y val="0.27926948073445707"/>
          <c:w val="0.21971973849444423"/>
          <c:h val="0.11867654412289953"/>
        </c:manualLayout>
      </c:layout>
      <c:overlay val="0"/>
      <c:txPr>
        <a:bodyPr/>
        <a:lstStyle/>
        <a:p>
          <a:pPr>
            <a:defRPr sz="1800"/>
          </a:pPr>
          <a:endParaRPr lang="es-ES"/>
        </a:p>
      </c:txPr>
    </c:legend>
    <c:plotVisOnly val="1"/>
    <c:dispBlanksAs val="gap"/>
    <c:showDLblsOverMax val="0"/>
  </c:chart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12/01/2019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12/01/2019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97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157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1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12/01/2019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12/01/2019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/24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618F1EC-7EE2-AE44-882A-6CDB04AB9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171629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24" y="2213068"/>
            <a:ext cx="7478011" cy="3204948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/22</a:t>
            </a:r>
          </a:p>
        </p:txBody>
      </p:sp>
      <p:pic>
        <p:nvPicPr>
          <p:cNvPr id="11" name="Imagen 10" descr="Imagen que contiene texto&#10;&#10;&#10;&#10;Descripción generada automáticamente">
            <a:extLst>
              <a:ext uri="{FF2B5EF4-FFF2-40B4-BE49-F238E27FC236}">
                <a16:creationId xmlns:a16="http://schemas.microsoft.com/office/drawing/2014/main" id="{2C17273C-672A-6645-9F89-C0CF78BB56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58200" y="1918284"/>
            <a:ext cx="3211286" cy="262145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D227A02-44BF-5645-AE81-26FA69C2F9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756" y="1535405"/>
            <a:ext cx="3004337" cy="300433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B37DB92-30F9-A748-A6C4-287664E2D814}"/>
              </a:ext>
            </a:extLst>
          </p:cNvPr>
          <p:cNvSpPr txBox="1"/>
          <p:nvPr/>
        </p:nvSpPr>
        <p:spPr>
          <a:xfrm>
            <a:off x="1260752" y="4140680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</a:t>
            </a:r>
            <a:r>
              <a:rPr lang="es-ES" sz="1200" dirty="0" err="1">
                <a:solidFill>
                  <a:schemeClr val="tx2"/>
                </a:solidFill>
              </a:rPr>
              <a:t>pixabay.com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E4FF17-8718-6E4E-B635-D4E408E26B71}"/>
              </a:ext>
            </a:extLst>
          </p:cNvPr>
          <p:cNvSpPr txBox="1"/>
          <p:nvPr/>
        </p:nvSpPr>
        <p:spPr>
          <a:xfrm>
            <a:off x="9142420" y="4461520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</a:t>
            </a:r>
            <a:r>
              <a:rPr lang="es-ES" sz="1200" dirty="0" err="1">
                <a:solidFill>
                  <a:schemeClr val="tx2"/>
                </a:solidFill>
              </a:rPr>
              <a:t>pixabay.com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E198E4E-8FF0-4F1E-8753-6F05BE69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</a:t>
            </a:r>
          </a:p>
        </p:txBody>
      </p:sp>
    </p:spTree>
    <p:extLst>
      <p:ext uri="{BB962C8B-B14F-4D97-AF65-F5344CB8AC3E}">
        <p14:creationId xmlns:p14="http://schemas.microsoft.com/office/powerpoint/2010/main" val="313395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EE94F-A38C-4B45-948E-9FF46419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/22</a:t>
            </a:r>
          </a:p>
        </p:txBody>
      </p:sp>
      <p:pic>
        <p:nvPicPr>
          <p:cNvPr id="6" name="Imagen 5" descr="Imagen que contiene captura de pantalla, texto, mapa&#10;&#10;&#10;&#10;Descripción generada automáticamente">
            <a:extLst>
              <a:ext uri="{FF2B5EF4-FFF2-40B4-BE49-F238E27FC236}">
                <a16:creationId xmlns:a16="http://schemas.microsoft.com/office/drawing/2014/main" id="{46B37BF1-48E0-634F-B252-1241DFD5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82" y="1846818"/>
            <a:ext cx="9770836" cy="404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4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/22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99FA11-5DBD-E64F-8E15-AE0C4528CB58}"/>
              </a:ext>
            </a:extLst>
          </p:cNvPr>
          <p:cNvSpPr txBox="1"/>
          <p:nvPr/>
        </p:nvSpPr>
        <p:spPr>
          <a:xfrm>
            <a:off x="552090" y="2057401"/>
            <a:ext cx="61592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Proyectos propios: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Proyecto E-</a:t>
            </a:r>
            <a:r>
              <a:rPr lang="es-ES" sz="2400" dirty="0" err="1"/>
              <a:t>Health</a:t>
            </a:r>
            <a:r>
              <a:rPr lang="es-ES" sz="2400" dirty="0"/>
              <a:t> Bogotá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Proyecto E-</a:t>
            </a:r>
            <a:r>
              <a:rPr lang="es-ES" sz="2400" dirty="0" err="1"/>
              <a:t>Health</a:t>
            </a:r>
            <a:r>
              <a:rPr lang="es-ES" sz="2400" dirty="0"/>
              <a:t> Buenos Aires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Proyecto E-</a:t>
            </a:r>
            <a:r>
              <a:rPr lang="es-ES" sz="2400" dirty="0" err="1"/>
              <a:t>Health</a:t>
            </a:r>
            <a:r>
              <a:rPr lang="es-ES" sz="2400" dirty="0"/>
              <a:t> Granada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905F14-76D1-024A-85FE-3AAD0957118B}"/>
              </a:ext>
            </a:extLst>
          </p:cNvPr>
          <p:cNvSpPr txBox="1"/>
          <p:nvPr/>
        </p:nvSpPr>
        <p:spPr>
          <a:xfrm>
            <a:off x="552090" y="4066799"/>
            <a:ext cx="9454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Proyectos en los que hemos participado: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Electronic</a:t>
            </a:r>
            <a:r>
              <a:rPr lang="es-ES" sz="2400" dirty="0"/>
              <a:t> </a:t>
            </a:r>
            <a:r>
              <a:rPr lang="es-ES" sz="2400" dirty="0" err="1"/>
              <a:t>consultation</a:t>
            </a:r>
            <a:r>
              <a:rPr lang="es-ES" sz="2400" dirty="0"/>
              <a:t> </a:t>
            </a:r>
            <a:r>
              <a:rPr lang="es-ES" sz="2400" dirty="0" err="1"/>
              <a:t>register</a:t>
            </a:r>
            <a:r>
              <a:rPr lang="es-ES" sz="2400" dirty="0"/>
              <a:t> en Burkina Faso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Medical Cloud en EEUU.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Telemedicine</a:t>
            </a:r>
            <a:r>
              <a:rPr lang="es-ES" sz="2400" dirty="0"/>
              <a:t> Network en Suiza.</a:t>
            </a:r>
          </a:p>
          <a:p>
            <a:pPr lvl="1"/>
            <a:endParaRPr lang="es-ES" sz="2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88CDF19-B70E-1848-A8F3-51FE017B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221" y="1869416"/>
            <a:ext cx="3175000" cy="27051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A301C5F-35E4-F646-9F87-E0E8A6DD89D2}"/>
              </a:ext>
            </a:extLst>
          </p:cNvPr>
          <p:cNvSpPr txBox="1"/>
          <p:nvPr/>
        </p:nvSpPr>
        <p:spPr>
          <a:xfrm>
            <a:off x="8643729" y="4574516"/>
            <a:ext cx="216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https://</a:t>
            </a:r>
            <a:r>
              <a:rPr lang="es-ES" sz="1200" dirty="0" err="1"/>
              <a:t>www.openpr.com</a:t>
            </a:r>
            <a:endParaRPr lang="es-ES" sz="12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C493191-012A-4BD1-87EF-4BCEFE2F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PROYECTOS</a:t>
            </a:r>
          </a:p>
        </p:txBody>
      </p:sp>
    </p:spTree>
    <p:extLst>
      <p:ext uri="{BB962C8B-B14F-4D97-AF65-F5344CB8AC3E}">
        <p14:creationId xmlns:p14="http://schemas.microsoft.com/office/powerpoint/2010/main" val="199350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/22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E661F0-F988-8A47-9147-34C44DD8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5" y="4159281"/>
            <a:ext cx="3431886" cy="920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ACF3EED-125E-DD41-8A71-0F4ED9804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20" y="1642165"/>
            <a:ext cx="3535163" cy="1502445"/>
          </a:xfrm>
          <a:prstGeom prst="rect">
            <a:avLst/>
          </a:prstGeom>
        </p:spPr>
      </p:pic>
      <p:pic>
        <p:nvPicPr>
          <p:cNvPr id="9" name="Imagen 8" descr="Imagen que contiene señal, exterior, cielo, texto&#10;&#10;&#10;&#10;Descripción generada automáticamente">
            <a:extLst>
              <a:ext uri="{FF2B5EF4-FFF2-40B4-BE49-F238E27FC236}">
                <a16:creationId xmlns:a16="http://schemas.microsoft.com/office/drawing/2014/main" id="{C5E74572-56C6-8D40-95B7-30C4C244D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907" y="4301802"/>
            <a:ext cx="2743200" cy="19413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00A3B97-065B-0E41-BF3C-221BF2139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413" y="4159282"/>
            <a:ext cx="3479862" cy="1403808"/>
          </a:xfrm>
          <a:prstGeom prst="rect">
            <a:avLst/>
          </a:prstGeom>
        </p:spPr>
      </p:pic>
      <p:pic>
        <p:nvPicPr>
          <p:cNvPr id="11" name="Imagen 10" descr="Imagen que contiene imágenes prediseñadas&#10;&#10;&#10;&#10;Descripción generada automáticamente">
            <a:extLst>
              <a:ext uri="{FF2B5EF4-FFF2-40B4-BE49-F238E27FC236}">
                <a16:creationId xmlns:a16="http://schemas.microsoft.com/office/drawing/2014/main" id="{2CD80353-91D2-B64F-BCD4-A0323A6F7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999" y="1879251"/>
            <a:ext cx="1963406" cy="19634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5235F44-BFEA-3342-AAE4-68E956D43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239" y="2315484"/>
            <a:ext cx="3484924" cy="1397907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F0881CA0-944C-453C-A42B-F49A4870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organizaciones </a:t>
            </a:r>
          </a:p>
        </p:txBody>
      </p:sp>
    </p:spTree>
    <p:extLst>
      <p:ext uri="{BB962C8B-B14F-4D97-AF65-F5344CB8AC3E}">
        <p14:creationId xmlns:p14="http://schemas.microsoft.com/office/powerpoint/2010/main" val="419682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/24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23C085A3-62C5-D541-9E6B-EEE312357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517176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Flecha derecha 8">
            <a:extLst>
              <a:ext uri="{FF2B5EF4-FFF2-40B4-BE49-F238E27FC236}">
                <a16:creationId xmlns:a16="http://schemas.microsoft.com/office/drawing/2014/main" id="{409214D7-A261-884C-9FDF-B32C26A1993E}"/>
              </a:ext>
            </a:extLst>
          </p:cNvPr>
          <p:cNvSpPr/>
          <p:nvPr/>
        </p:nvSpPr>
        <p:spPr>
          <a:xfrm>
            <a:off x="1973020" y="375249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nillo 9">
            <a:extLst>
              <a:ext uri="{FF2B5EF4-FFF2-40B4-BE49-F238E27FC236}">
                <a16:creationId xmlns:a16="http://schemas.microsoft.com/office/drawing/2014/main" id="{E2B7A3A7-96DE-DD41-861F-AE407579C800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1" name="Anillo 10">
            <a:extLst>
              <a:ext uri="{FF2B5EF4-FFF2-40B4-BE49-F238E27FC236}">
                <a16:creationId xmlns:a16="http://schemas.microsoft.com/office/drawing/2014/main" id="{8C8E2577-405A-B047-99C1-9FBF59709B3D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Anillo 11">
            <a:extLst>
              <a:ext uri="{FF2B5EF4-FFF2-40B4-BE49-F238E27FC236}">
                <a16:creationId xmlns:a16="http://schemas.microsoft.com/office/drawing/2014/main" id="{362B8359-9A80-FC45-9EA0-C98D23F8827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Anillo 12">
            <a:extLst>
              <a:ext uri="{FF2B5EF4-FFF2-40B4-BE49-F238E27FC236}">
                <a16:creationId xmlns:a16="http://schemas.microsoft.com/office/drawing/2014/main" id="{048FD790-169C-264C-B015-7CF76A632F2B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48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90" y="1424360"/>
            <a:ext cx="9269092" cy="534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Cooperación con empresas destacadas en sus sectores.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Desarrollo software: Alhambra Eidos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Data center: Telefónica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Formación del personal privada.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Implementación progresiva: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Prueba piloto + implementación final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Muestra: 20 pacientes por hospital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Total: 100 pacientes por hospital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6283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9843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7BC70C9-2726-4FC5-B918-EA8378508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069" y="1834576"/>
            <a:ext cx="8855214" cy="397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4 Conector recto de flecha">
            <a:extLst>
              <a:ext uri="{FF2B5EF4-FFF2-40B4-BE49-F238E27FC236}">
                <a16:creationId xmlns:a16="http://schemas.microsoft.com/office/drawing/2014/main" id="{D5E94DC6-E1FA-49EF-B12E-16A868BF6D04}"/>
              </a:ext>
            </a:extLst>
          </p:cNvPr>
          <p:cNvCxnSpPr/>
          <p:nvPr/>
        </p:nvCxnSpPr>
        <p:spPr>
          <a:xfrm rot="10800000" flipV="1">
            <a:off x="1025417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4 Conector recto de flecha">
            <a:extLst>
              <a:ext uri="{FF2B5EF4-FFF2-40B4-BE49-F238E27FC236}">
                <a16:creationId xmlns:a16="http://schemas.microsoft.com/office/drawing/2014/main" id="{12E75257-809A-46D5-9E66-2860F2A5DBD2}"/>
              </a:ext>
            </a:extLst>
          </p:cNvPr>
          <p:cNvCxnSpPr/>
          <p:nvPr/>
        </p:nvCxnSpPr>
        <p:spPr>
          <a:xfrm rot="10800000" flipV="1">
            <a:off x="554882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5 Conector recto de flecha">
            <a:extLst>
              <a:ext uri="{FF2B5EF4-FFF2-40B4-BE49-F238E27FC236}">
                <a16:creationId xmlns:a16="http://schemas.microsoft.com/office/drawing/2014/main" id="{BA62D5EC-8008-4BB4-B398-624B3E0F4264}"/>
              </a:ext>
            </a:extLst>
          </p:cNvPr>
          <p:cNvCxnSpPr/>
          <p:nvPr/>
        </p:nvCxnSpPr>
        <p:spPr>
          <a:xfrm rot="10800000" flipV="1">
            <a:off x="5106574" y="4298444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6 Conector recto de flecha">
            <a:extLst>
              <a:ext uri="{FF2B5EF4-FFF2-40B4-BE49-F238E27FC236}">
                <a16:creationId xmlns:a16="http://schemas.microsoft.com/office/drawing/2014/main" id="{4A89E665-8FB2-4B75-A9B2-8ADE77BF90C0}"/>
              </a:ext>
            </a:extLst>
          </p:cNvPr>
          <p:cNvCxnSpPr/>
          <p:nvPr/>
        </p:nvCxnSpPr>
        <p:spPr>
          <a:xfrm rot="10800000" flipV="1">
            <a:off x="2296841" y="532211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7 Conector recto de flecha">
            <a:extLst>
              <a:ext uri="{FF2B5EF4-FFF2-40B4-BE49-F238E27FC236}">
                <a16:creationId xmlns:a16="http://schemas.microsoft.com/office/drawing/2014/main" id="{E7920C57-7517-4FB0-8ADE-FD647E8E63BF}"/>
              </a:ext>
            </a:extLst>
          </p:cNvPr>
          <p:cNvCxnSpPr/>
          <p:nvPr/>
        </p:nvCxnSpPr>
        <p:spPr>
          <a:xfrm rot="10800000" flipV="1">
            <a:off x="5035356" y="5361406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8 CuadroTexto">
            <a:extLst>
              <a:ext uri="{FF2B5EF4-FFF2-40B4-BE49-F238E27FC236}">
                <a16:creationId xmlns:a16="http://schemas.microsoft.com/office/drawing/2014/main" id="{97D5678F-812E-4F71-90DE-5AAACC59145E}"/>
              </a:ext>
            </a:extLst>
          </p:cNvPr>
          <p:cNvSpPr txBox="1"/>
          <p:nvPr/>
        </p:nvSpPr>
        <p:spPr>
          <a:xfrm>
            <a:off x="9203881" y="141547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</a:p>
        </p:txBody>
      </p:sp>
      <p:sp>
        <p:nvSpPr>
          <p:cNvPr id="16" name="19 CuadroTexto">
            <a:extLst>
              <a:ext uri="{FF2B5EF4-FFF2-40B4-BE49-F238E27FC236}">
                <a16:creationId xmlns:a16="http://schemas.microsoft.com/office/drawing/2014/main" id="{29CA4401-C356-4FAD-819B-FF25BE9171E5}"/>
              </a:ext>
            </a:extLst>
          </p:cNvPr>
          <p:cNvSpPr txBox="1"/>
          <p:nvPr/>
        </p:nvSpPr>
        <p:spPr>
          <a:xfrm>
            <a:off x="3994931" y="579797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De Getafe </a:t>
            </a:r>
          </a:p>
        </p:txBody>
      </p:sp>
      <p:sp>
        <p:nvSpPr>
          <p:cNvPr id="17" name="20 CuadroTexto">
            <a:extLst>
              <a:ext uri="{FF2B5EF4-FFF2-40B4-BE49-F238E27FC236}">
                <a16:creationId xmlns:a16="http://schemas.microsoft.com/office/drawing/2014/main" id="{C4D04E6F-146E-4AE7-9C8B-E11B07F10123}"/>
              </a:ext>
            </a:extLst>
          </p:cNvPr>
          <p:cNvSpPr txBox="1"/>
          <p:nvPr/>
        </p:nvSpPr>
        <p:spPr>
          <a:xfrm>
            <a:off x="1275469" y="468172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</a:p>
        </p:txBody>
      </p:sp>
      <p:sp>
        <p:nvSpPr>
          <p:cNvPr id="18" name="23 CuadroTexto">
            <a:extLst>
              <a:ext uri="{FF2B5EF4-FFF2-40B4-BE49-F238E27FC236}">
                <a16:creationId xmlns:a16="http://schemas.microsoft.com/office/drawing/2014/main" id="{65D983F8-A3CA-43F1-8622-ECDEFBFBFCB4}"/>
              </a:ext>
            </a:extLst>
          </p:cNvPr>
          <p:cNvSpPr txBox="1"/>
          <p:nvPr/>
        </p:nvSpPr>
        <p:spPr>
          <a:xfrm>
            <a:off x="4414031" y="1384613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</a:p>
        </p:txBody>
      </p:sp>
      <p:sp>
        <p:nvSpPr>
          <p:cNvPr id="19" name="22 CuadroTexto">
            <a:extLst>
              <a:ext uri="{FF2B5EF4-FFF2-40B4-BE49-F238E27FC236}">
                <a16:creationId xmlns:a16="http://schemas.microsoft.com/office/drawing/2014/main" id="{8D896A4D-1575-4E49-8018-E9B7456383C3}"/>
              </a:ext>
            </a:extLst>
          </p:cNvPr>
          <p:cNvSpPr txBox="1"/>
          <p:nvPr/>
        </p:nvSpPr>
        <p:spPr>
          <a:xfrm>
            <a:off x="3994931" y="3717066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</a:p>
        </p:txBody>
      </p:sp>
    </p:spTree>
    <p:extLst>
      <p:ext uri="{BB962C8B-B14F-4D97-AF65-F5344CB8AC3E}">
        <p14:creationId xmlns:p14="http://schemas.microsoft.com/office/powerpoint/2010/main" val="120173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9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1075833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Patologías crónicas a tratar: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EPOC (Enfermedad Pulmonar Obstructiva Crónica)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Diabetes Mellitus Tipo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Insuficiencia cardiaca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Hipertensión Arterial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Dispositivos de </a:t>
            </a:r>
            <a:r>
              <a:rPr lang="es-ES" sz="2400" dirty="0" err="1"/>
              <a:t>biomedida</a:t>
            </a:r>
            <a:r>
              <a:rPr lang="es-ES" sz="2400" dirty="0"/>
              <a:t> 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5010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10758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5EA8F7-80AB-40D5-A26C-358AA24A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512" y="3749180"/>
            <a:ext cx="2055612" cy="19384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88D5C9-9AB1-4377-A22E-673E898FB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22" y="1453895"/>
            <a:ext cx="2360442" cy="1932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D9DED93-102C-4A21-84FE-28563206D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835" y="1463543"/>
            <a:ext cx="1638610" cy="1932323"/>
          </a:xfrm>
          <a:prstGeom prst="rect">
            <a:avLst/>
          </a:prstGeom>
        </p:spPr>
      </p:pic>
      <p:pic>
        <p:nvPicPr>
          <p:cNvPr id="12" name="Picture 2" descr="Resultado de imagen de Omron 708-BT">
            <a:extLst>
              <a:ext uri="{FF2B5EF4-FFF2-40B4-BE49-F238E27FC236}">
                <a16:creationId xmlns:a16="http://schemas.microsoft.com/office/drawing/2014/main" id="{F37E709E-C462-4D01-A442-F2CAF25DF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505" y="3493203"/>
            <a:ext cx="2450436" cy="24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F5AA041-60F7-4769-87DF-DA0CF1F36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972" y="2595680"/>
            <a:ext cx="3514675" cy="2227266"/>
          </a:xfrm>
          <a:prstGeom prst="rect">
            <a:avLst/>
          </a:prstGeom>
        </p:spPr>
      </p:pic>
      <p:pic>
        <p:nvPicPr>
          <p:cNvPr id="14" name="Picture 4" descr="Icono De Bluetooth, Logotipo De Bluetooth, Bluetooth">
            <a:extLst>
              <a:ext uri="{FF2B5EF4-FFF2-40B4-BE49-F238E27FC236}">
                <a16:creationId xmlns:a16="http://schemas.microsoft.com/office/drawing/2014/main" id="{6678D8DE-35C8-4DC4-9CF6-B0020858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75" y="1190997"/>
            <a:ext cx="920848" cy="14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190ED0CC-E462-466B-B5D5-89131F2565CB}"/>
              </a:ext>
            </a:extLst>
          </p:cNvPr>
          <p:cNvSpPr txBox="1"/>
          <p:nvPr/>
        </p:nvSpPr>
        <p:spPr>
          <a:xfrm>
            <a:off x="977882" y="3372393"/>
            <a:ext cx="2673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 err="1"/>
              <a:t>FreeStyle</a:t>
            </a:r>
            <a:r>
              <a:rPr lang="es-ES" b="1" dirty="0"/>
              <a:t> </a:t>
            </a:r>
            <a:r>
              <a:rPr lang="es-ES" b="1" dirty="0" err="1"/>
              <a:t>Optium</a:t>
            </a:r>
            <a:r>
              <a:rPr lang="es-ES" b="1" dirty="0"/>
              <a:t> Neo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E1D2C82-83D5-45CD-B536-3C867BB7E8E0}"/>
              </a:ext>
            </a:extLst>
          </p:cNvPr>
          <p:cNvSpPr txBox="1"/>
          <p:nvPr/>
        </p:nvSpPr>
        <p:spPr>
          <a:xfrm>
            <a:off x="4755063" y="4689468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Galaxy </a:t>
            </a:r>
            <a:r>
              <a:rPr lang="es-ES" b="1" dirty="0" err="1"/>
              <a:t>Tab</a:t>
            </a:r>
            <a:r>
              <a:rPr lang="es-ES" b="1" dirty="0"/>
              <a:t> A (2016) 10.1 4G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74FFEB07-7CFC-4665-840E-5709CB586EBD}"/>
              </a:ext>
            </a:extLst>
          </p:cNvPr>
          <p:cNvSpPr txBox="1"/>
          <p:nvPr/>
        </p:nvSpPr>
        <p:spPr>
          <a:xfrm>
            <a:off x="1400456" y="5522200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BF 511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E28349DA-7035-4F30-BBC3-60C885FD8B1E}"/>
              </a:ext>
            </a:extLst>
          </p:cNvPr>
          <p:cNvSpPr txBox="1"/>
          <p:nvPr/>
        </p:nvSpPr>
        <p:spPr>
          <a:xfrm>
            <a:off x="8883578" y="318772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cap="all" dirty="0"/>
              <a:t>ONYX 9560</a:t>
            </a:r>
            <a:endParaRPr lang="es-ES" b="1" dirty="0"/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7D6B8AD4-B738-4A99-BE9C-58A20169D515}"/>
              </a:ext>
            </a:extLst>
          </p:cNvPr>
          <p:cNvSpPr txBox="1"/>
          <p:nvPr/>
        </p:nvSpPr>
        <p:spPr>
          <a:xfrm>
            <a:off x="8812358" y="573416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HEM-780</a:t>
            </a:r>
          </a:p>
        </p:txBody>
      </p:sp>
      <p:pic>
        <p:nvPicPr>
          <p:cNvPr id="1026" name="Picture 2" descr="Resultado de imagen de 3g 4g">
            <a:extLst>
              <a:ext uri="{FF2B5EF4-FFF2-40B4-BE49-F238E27FC236}">
                <a16:creationId xmlns:a16="http://schemas.microsoft.com/office/drawing/2014/main" id="{E8296D46-0998-42FD-BB5C-8C0967E1B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73" y="4951754"/>
            <a:ext cx="1464188" cy="190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de telefonica">
            <a:extLst>
              <a:ext uri="{FF2B5EF4-FFF2-40B4-BE49-F238E27FC236}">
                <a16:creationId xmlns:a16="http://schemas.microsoft.com/office/drawing/2014/main" id="{9052F87F-E1EA-4F92-AB58-9C86266B5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890" y="5512689"/>
            <a:ext cx="2671373" cy="73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6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338018" y="1565037"/>
            <a:ext cx="1185398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Objetivos: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25% las urgencias por descompensación.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25% la probabilidad de ingreso no programado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20% la probabilidad de ingreso por descompensación.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25-30% la tasa de mortalidad del grupo focal.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de un 25% en las consultas de atención primaria.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los costes en un 25%.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439238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A46FAC7-B420-4369-99F1-0554E220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1D297C-B132-4192-B4C3-139BB440E058}"/>
              </a:ext>
            </a:extLst>
          </p:cNvPr>
          <p:cNvSpPr txBox="1"/>
          <p:nvPr/>
        </p:nvSpPr>
        <p:spPr>
          <a:xfrm>
            <a:off x="338018" y="1565037"/>
            <a:ext cx="118539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Fecha de inicio: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Fecha de finalización: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Cronograma: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230440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/22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4BEE6E-E5EF-4F44-B226-C7A668E20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55" y="961220"/>
            <a:ext cx="3690586" cy="364946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67271E57-A755-4D15-8F0C-6BEE847D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B86E196-0EF3-465A-9ADF-1CAC3EEC0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08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0A1FEC7-D45B-494E-8A71-2D9082CF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32" y="1116399"/>
            <a:ext cx="3571875" cy="5343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/22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D538F45-5580-49DC-8B2D-98951FD89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/22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AAFEA4-B242-4194-A802-451A94366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864" y="1101088"/>
            <a:ext cx="53340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1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/22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88CBAEE-F6AA-4803-B1B3-9B749514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calidad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C2A0E0-ED86-4512-945A-5C7F9572552B}"/>
              </a:ext>
            </a:extLst>
          </p:cNvPr>
          <p:cNvSpPr txBox="1"/>
          <p:nvPr/>
        </p:nvSpPr>
        <p:spPr>
          <a:xfrm>
            <a:off x="901217" y="1675819"/>
            <a:ext cx="9635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internas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externas: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 de renovación ISO 9001:2015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Dispositivos con Marcado CE e ISO </a:t>
            </a:r>
            <a:r>
              <a:rPr lang="es-ES" sz="2400" dirty="0"/>
              <a:t>13485:2016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Metodología ITIL</a:t>
            </a:r>
          </a:p>
          <a:p>
            <a:endParaRPr lang="es-ES_tradnl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02A96F4-017D-4B67-9259-031E94F8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25" y="1582615"/>
            <a:ext cx="2704258" cy="10431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4FEE7F5-8B47-4831-BE59-62FC2AE6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205" y="4548989"/>
            <a:ext cx="1905000" cy="13620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AA89F37-148B-4BF8-A9B6-2D5A94749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000" y="4158463"/>
            <a:ext cx="2143125" cy="21431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1258840-B595-4B80-BC33-59EC4AA05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920" y="4599022"/>
            <a:ext cx="2143125" cy="9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40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17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4D76957-1026-478C-AC57-D27832D5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presupuesto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121DF3-A7F0-4A65-ADBD-8ACE646479F6}"/>
              </a:ext>
            </a:extLst>
          </p:cNvPr>
          <p:cNvSpPr txBox="1"/>
          <p:nvPr/>
        </p:nvSpPr>
        <p:spPr>
          <a:xfrm>
            <a:off x="552090" y="1424360"/>
            <a:ext cx="724141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Presupuesto final: 2.222.069,36€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Inyección pautada de capital: 7 pagos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dirty="0"/>
              <a:t>20% | 20% | 10% | 10% | 20% | 10% | 10%</a:t>
            </a:r>
          </a:p>
          <a:p>
            <a:endParaRPr lang="es-ES" sz="2400" dirty="0"/>
          </a:p>
        </p:txBody>
      </p:sp>
      <p:graphicFrame>
        <p:nvGraphicFramePr>
          <p:cNvPr id="9" name="1 Gráfico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8031446"/>
              </p:ext>
            </p:extLst>
          </p:nvPr>
        </p:nvGraphicFramePr>
        <p:xfrm>
          <a:off x="1893830" y="2433712"/>
          <a:ext cx="9087588" cy="4258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1105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18</a:t>
            </a:fld>
            <a:r>
              <a:rPr lang="es-ES" sz="2000" dirty="0"/>
              <a:t>/24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189F9F86-9971-334E-90DE-0CE47668F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817613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Flecha derecha 14">
            <a:extLst>
              <a:ext uri="{FF2B5EF4-FFF2-40B4-BE49-F238E27FC236}">
                <a16:creationId xmlns:a16="http://schemas.microsoft.com/office/drawing/2014/main" id="{8169F9E9-B02E-9C4F-AAE0-6695B9530A97}"/>
              </a:ext>
            </a:extLst>
          </p:cNvPr>
          <p:cNvSpPr/>
          <p:nvPr/>
        </p:nvSpPr>
        <p:spPr>
          <a:xfrm>
            <a:off x="1973020" y="524486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nillo 15">
            <a:extLst>
              <a:ext uri="{FF2B5EF4-FFF2-40B4-BE49-F238E27FC236}">
                <a16:creationId xmlns:a16="http://schemas.microsoft.com/office/drawing/2014/main" id="{E4847C0D-D5C0-034B-AC76-16A584EEFE3B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" name="Anillo 16">
            <a:extLst>
              <a:ext uri="{FF2B5EF4-FFF2-40B4-BE49-F238E27FC236}">
                <a16:creationId xmlns:a16="http://schemas.microsoft.com/office/drawing/2014/main" id="{7CF0BC9B-4F48-8E43-829F-3C4F973176D1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" name="Anillo 17">
            <a:extLst>
              <a:ext uri="{FF2B5EF4-FFF2-40B4-BE49-F238E27FC236}">
                <a16:creationId xmlns:a16="http://schemas.microsoft.com/office/drawing/2014/main" id="{C2ED0A51-FD41-CC45-98BC-79201011392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Anillo 18">
            <a:extLst>
              <a:ext uri="{FF2B5EF4-FFF2-40B4-BE49-F238E27FC236}">
                <a16:creationId xmlns:a16="http://schemas.microsoft.com/office/drawing/2014/main" id="{5089576A-0BD8-3141-9700-67D806F10784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0" name="Anillo 19">
            <a:extLst>
              <a:ext uri="{FF2B5EF4-FFF2-40B4-BE49-F238E27FC236}">
                <a16:creationId xmlns:a16="http://schemas.microsoft.com/office/drawing/2014/main" id="{41220052-AE07-DD4A-AFF9-7275564AB419}"/>
              </a:ext>
            </a:extLst>
          </p:cNvPr>
          <p:cNvSpPr/>
          <p:nvPr/>
        </p:nvSpPr>
        <p:spPr>
          <a:xfrm>
            <a:off x="2162801" y="373218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1" name="Anillo 20">
            <a:extLst>
              <a:ext uri="{FF2B5EF4-FFF2-40B4-BE49-F238E27FC236}">
                <a16:creationId xmlns:a16="http://schemas.microsoft.com/office/drawing/2014/main" id="{84365D38-197A-8249-B2C3-92ECD11417AD}"/>
              </a:ext>
            </a:extLst>
          </p:cNvPr>
          <p:cNvSpPr/>
          <p:nvPr/>
        </p:nvSpPr>
        <p:spPr>
          <a:xfrm>
            <a:off x="3827699" y="370965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Anillo 21">
            <a:extLst>
              <a:ext uri="{FF2B5EF4-FFF2-40B4-BE49-F238E27FC236}">
                <a16:creationId xmlns:a16="http://schemas.microsoft.com/office/drawing/2014/main" id="{84413EE8-8876-2A4D-9770-BB7D2C172F69}"/>
              </a:ext>
            </a:extLst>
          </p:cNvPr>
          <p:cNvSpPr/>
          <p:nvPr/>
        </p:nvSpPr>
        <p:spPr>
          <a:xfrm>
            <a:off x="3827699" y="4071553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3" name="Anillo 22">
            <a:extLst>
              <a:ext uri="{FF2B5EF4-FFF2-40B4-BE49-F238E27FC236}">
                <a16:creationId xmlns:a16="http://schemas.microsoft.com/office/drawing/2014/main" id="{A7F81AEC-66E8-AD48-8597-58DE4A8A2A80}"/>
              </a:ext>
            </a:extLst>
          </p:cNvPr>
          <p:cNvSpPr/>
          <p:nvPr/>
        </p:nvSpPr>
        <p:spPr>
          <a:xfrm>
            <a:off x="3827699" y="4463824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4" name="Anillo 23">
            <a:extLst>
              <a:ext uri="{FF2B5EF4-FFF2-40B4-BE49-F238E27FC236}">
                <a16:creationId xmlns:a16="http://schemas.microsoft.com/office/drawing/2014/main" id="{282AAF2E-EBC2-2242-BE02-85C99593B576}"/>
              </a:ext>
            </a:extLst>
          </p:cNvPr>
          <p:cNvSpPr/>
          <p:nvPr/>
        </p:nvSpPr>
        <p:spPr>
          <a:xfrm>
            <a:off x="3822394" y="480392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5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ovages.es/wp-content/uploads/2016/05/Grafica-ascendente1.jpg">
            <a:extLst>
              <a:ext uri="{FF2B5EF4-FFF2-40B4-BE49-F238E27FC236}">
                <a16:creationId xmlns:a16="http://schemas.microsoft.com/office/drawing/2014/main" id="{3A06A4B5-01EC-438D-90C0-C3C1CBB07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59" y="1899284"/>
            <a:ext cx="5530141" cy="334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19</a:t>
            </a:fld>
            <a:r>
              <a:rPr lang="es-ES" sz="2000" dirty="0"/>
              <a:t>/22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C7ABED4-F7D2-4DA5-AC79-471C4AA6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181D46-D805-4BB5-B119-EC502F6131A3}"/>
              </a:ext>
            </a:extLst>
          </p:cNvPr>
          <p:cNvSpPr txBox="1"/>
          <p:nvPr/>
        </p:nvSpPr>
        <p:spPr>
          <a:xfrm>
            <a:off x="552090" y="2090172"/>
            <a:ext cx="72414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Sostenibilidad del proyecto y servicio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Sistema escalable: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 enfermedades a tratar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del número de hospitales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Añadir nuevas funcionalidades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5E6FD3-D60C-4C2B-B8BD-710F0180ADA2}"/>
              </a:ext>
            </a:extLst>
          </p:cNvPr>
          <p:cNvSpPr txBox="1"/>
          <p:nvPr/>
        </p:nvSpPr>
        <p:spPr>
          <a:xfrm>
            <a:off x="8566757" y="5209644"/>
            <a:ext cx="2005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https://www.novages.es</a:t>
            </a:r>
          </a:p>
        </p:txBody>
      </p:sp>
    </p:spTree>
    <p:extLst>
      <p:ext uri="{BB962C8B-B14F-4D97-AF65-F5344CB8AC3E}">
        <p14:creationId xmlns:p14="http://schemas.microsoft.com/office/powerpoint/2010/main" val="844322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2B775D-6E9C-4F60-892F-E88AEF7D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37" y="1584419"/>
            <a:ext cx="3689160" cy="3689160"/>
          </a:xfrm>
          <a:prstGeom prst="rect">
            <a:avLst/>
          </a:prstGeom>
          <a:ln w="31750" cap="sq">
            <a:noFill/>
            <a:miter lim="800000"/>
          </a:ln>
        </p:spPr>
      </p:pic>
      <p:pic>
        <p:nvPicPr>
          <p:cNvPr id="4" name="Imagen 4">
            <a:extLst>
              <a:ext uri="{FF2B5EF4-FFF2-40B4-BE49-F238E27FC236}">
                <a16:creationId xmlns:a16="http://schemas.microsoft.com/office/drawing/2014/main" id="{282E0993-4F0D-4BD0-B5B2-2CDA92FE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32" y="2089534"/>
            <a:ext cx="6250832" cy="2678928"/>
          </a:xfrm>
          <a:prstGeom prst="rect">
            <a:avLst/>
          </a:prstGeom>
          <a:ln w="31750" cap="sq">
            <a:noFill/>
            <a:miter lim="800000"/>
          </a:ln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476AA9E-7E7A-40C1-85F2-AFC09E3A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375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"/>
    </mc:Choice>
    <mc:Fallback xmlns="">
      <p:transition spd="slow" advTm="414"/>
    </mc:Fallback>
  </mc:AlternateContent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465</Words>
  <Application>Microsoft Office PowerPoint</Application>
  <PresentationFormat>Panorámica</PresentationFormat>
  <Paragraphs>182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Century Gothic</vt:lpstr>
      <vt:lpstr>Estela de condensación</vt:lpstr>
      <vt:lpstr>Proyecto MeCuida</vt:lpstr>
      <vt:lpstr>Índice</vt:lpstr>
      <vt:lpstr>¿Quiénes somos?</vt:lpstr>
      <vt:lpstr>¿Quiénes somos?</vt:lpstr>
      <vt:lpstr>PROYECTOS</vt:lpstr>
      <vt:lpstr>organizaciones </vt:lpstr>
      <vt:lpstr>Índice</vt:lpstr>
      <vt:lpstr>Características</vt:lpstr>
      <vt:lpstr>Características</vt:lpstr>
      <vt:lpstr>Características</vt:lpstr>
      <vt:lpstr>Características</vt:lpstr>
      <vt:lpstr>Características</vt:lpstr>
      <vt:lpstr>Tiempo y fases</vt:lpstr>
      <vt:lpstr>Tiempo y fases (WBS)</vt:lpstr>
      <vt:lpstr>Tiempo y fases (WBS)</vt:lpstr>
      <vt:lpstr>Tiempo y fases (WBS)</vt:lpstr>
      <vt:lpstr>calidad</vt:lpstr>
      <vt:lpstr>presupuesto</vt:lpstr>
      <vt:lpstr>Índice</vt:lpstr>
      <vt:lpstr>Líneas futuras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Sergio Lluva</cp:lastModifiedBy>
  <cp:revision>156</cp:revision>
  <dcterms:created xsi:type="dcterms:W3CDTF">2018-11-10T15:50:50Z</dcterms:created>
  <dcterms:modified xsi:type="dcterms:W3CDTF">2019-01-12T16:59:24Z</dcterms:modified>
</cp:coreProperties>
</file>