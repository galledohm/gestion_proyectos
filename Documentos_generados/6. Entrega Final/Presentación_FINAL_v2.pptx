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78" r:id="rId1"/>
  </p:sldMasterIdLst>
  <p:notesMasterIdLst>
    <p:notesMasterId r:id="rId23"/>
  </p:notesMasterIdLst>
  <p:handoutMasterIdLst>
    <p:handoutMasterId r:id="rId24"/>
  </p:handoutMasterIdLst>
  <p:sldIdLst>
    <p:sldId id="256" r:id="rId2"/>
    <p:sldId id="257" r:id="rId3"/>
    <p:sldId id="300" r:id="rId4"/>
    <p:sldId id="308" r:id="rId5"/>
    <p:sldId id="301" r:id="rId6"/>
    <p:sldId id="303" r:id="rId7"/>
    <p:sldId id="298" r:id="rId8"/>
    <p:sldId id="304" r:id="rId9"/>
    <p:sldId id="321" r:id="rId10"/>
    <p:sldId id="320" r:id="rId11"/>
    <p:sldId id="323" r:id="rId12"/>
    <p:sldId id="322" r:id="rId13"/>
    <p:sldId id="305" r:id="rId14"/>
    <p:sldId id="309" r:id="rId15"/>
    <p:sldId id="318" r:id="rId16"/>
    <p:sldId id="319" r:id="rId17"/>
    <p:sldId id="306" r:id="rId18"/>
    <p:sldId id="307" r:id="rId19"/>
    <p:sldId id="299" r:id="rId20"/>
    <p:sldId id="289" r:id="rId21"/>
    <p:sldId id="297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45" autoAdjust="0"/>
    <p:restoredTop sz="96132" autoAdjust="0"/>
  </p:normalViewPr>
  <p:slideViewPr>
    <p:cSldViewPr snapToGrid="0" snapToObjects="1">
      <p:cViewPr varScale="1">
        <p:scale>
          <a:sx n="88" d="100"/>
          <a:sy n="88" d="100"/>
        </p:scale>
        <p:origin x="-774" y="-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tito_\Documents\Github\Gestion_Proyectos\Documentos_generados\5.%20Costes%20y%20Justificaci&#243;n%20t&#233;cnica\Estimacion%20costes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en-US" sz="2400" dirty="0" err="1"/>
              <a:t>Ingresos</a:t>
            </a:r>
            <a:endParaRPr lang="en-US" dirty="0"/>
          </a:p>
        </c:rich>
      </c:tx>
      <c:layout>
        <c:manualLayout>
          <c:xMode val="edge"/>
          <c:yMode val="edge"/>
          <c:x val="0.6478879764355514"/>
          <c:y val="2.3855790805377131E-2"/>
        </c:manualLayout>
      </c:layout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Ingresos</c:v>
          </c:tx>
          <c:marker>
            <c:symbol val="none"/>
          </c:marker>
          <c:cat>
            <c:strRef>
              <c:f>Hoja1!$X$2:$AJ$2</c:f>
              <c:strCache>
                <c:ptCount val="13"/>
                <c:pt idx="0">
                  <c:v>SEPTIEMBRE</c:v>
                </c:pt>
                <c:pt idx="1">
                  <c:v>OCTUBRE</c:v>
                </c:pt>
                <c:pt idx="2">
                  <c:v>NOVIEMBRE</c:v>
                </c:pt>
                <c:pt idx="3">
                  <c:v>DICIEMBRE</c:v>
                </c:pt>
                <c:pt idx="4">
                  <c:v>ENERO</c:v>
                </c:pt>
                <c:pt idx="5">
                  <c:v>FEBRERO</c:v>
                </c:pt>
                <c:pt idx="6">
                  <c:v>MARZO</c:v>
                </c:pt>
                <c:pt idx="7">
                  <c:v>ABRIL</c:v>
                </c:pt>
                <c:pt idx="8">
                  <c:v>MAYO</c:v>
                </c:pt>
                <c:pt idx="9">
                  <c:v>JUNIO</c:v>
                </c:pt>
                <c:pt idx="10">
                  <c:v>JULIO</c:v>
                </c:pt>
                <c:pt idx="11">
                  <c:v>AGOSTO</c:v>
                </c:pt>
                <c:pt idx="12">
                  <c:v>SEPTIEMBRE</c:v>
                </c:pt>
              </c:strCache>
            </c:strRef>
          </c:cat>
          <c:val>
            <c:numRef>
              <c:f>Hoja1!$X$12:$AJ$12</c:f>
              <c:numCache>
                <c:formatCode>#,##0.00\ "€"</c:formatCode>
                <c:ptCount val="13"/>
                <c:pt idx="0">
                  <c:v>444413.87199999997</c:v>
                </c:pt>
                <c:pt idx="1">
                  <c:v>444413.87199999997</c:v>
                </c:pt>
                <c:pt idx="2">
                  <c:v>444413.87199999997</c:v>
                </c:pt>
                <c:pt idx="3">
                  <c:v>888827.74399999995</c:v>
                </c:pt>
                <c:pt idx="4">
                  <c:v>888827.74399999995</c:v>
                </c:pt>
                <c:pt idx="5">
                  <c:v>888827.74399999995</c:v>
                </c:pt>
                <c:pt idx="6">
                  <c:v>1111034.68</c:v>
                </c:pt>
                <c:pt idx="7">
                  <c:v>1333241.6159999999</c:v>
                </c:pt>
                <c:pt idx="8">
                  <c:v>1333241.6159999999</c:v>
                </c:pt>
                <c:pt idx="9">
                  <c:v>1777655.4879999999</c:v>
                </c:pt>
                <c:pt idx="10">
                  <c:v>1777655.4879999999</c:v>
                </c:pt>
                <c:pt idx="11">
                  <c:v>1999862.4239999999</c:v>
                </c:pt>
                <c:pt idx="12">
                  <c:v>2222069.36</c:v>
                </c:pt>
              </c:numCache>
            </c:numRef>
          </c:val>
          <c:smooth val="0"/>
          <c:extLst xmlns:c16r2="http://schemas.microsoft.com/office/drawing/2015/06/chart">
            <c:ext xmlns:c16="http://schemas.microsoft.com/office/drawing/2014/chart" uri="{C3380CC4-5D6E-409C-BE32-E72D297353CC}">
              <c16:uniqueId val="{00000000-3362-4932-B8E3-0694E3D084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27472384"/>
        <c:axId val="168608320"/>
      </c:lineChart>
      <c:catAx>
        <c:axId val="2274723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50"/>
            </a:pPr>
            <a:endParaRPr lang="es-ES"/>
          </a:p>
        </c:txPr>
        <c:crossAx val="168608320"/>
        <c:crosses val="autoZero"/>
        <c:auto val="1"/>
        <c:lblAlgn val="ctr"/>
        <c:lblOffset val="100"/>
        <c:noMultiLvlLbl val="0"/>
      </c:catAx>
      <c:valAx>
        <c:axId val="168608320"/>
        <c:scaling>
          <c:orientation val="minMax"/>
        </c:scaling>
        <c:delete val="0"/>
        <c:axPos val="l"/>
        <c:majorGridlines/>
        <c:numFmt formatCode="#,##0.00\ &quot;€&quot;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s-ES"/>
          </a:p>
        </c:txPr>
        <c:crossAx val="227472384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0.15288988492395075"/>
          <c:y val="0.27926948073445707"/>
          <c:w val="0.21971973849444423"/>
          <c:h val="0.11867654412289953"/>
        </c:manualLayout>
      </c:layout>
      <c:overlay val="0"/>
      <c:txPr>
        <a:bodyPr/>
        <a:lstStyle/>
        <a:p>
          <a:pPr>
            <a:defRPr sz="1800"/>
          </a:pPr>
          <a:endParaRPr lang="es-ES"/>
        </a:p>
      </c:txPr>
    </c:legend>
    <c:plotVisOnly val="1"/>
    <c:dispBlanksAs val="gap"/>
    <c:showDLblsOverMax val="0"/>
  </c:chart>
  <c:externalData r:id="rId1">
    <c:autoUpdate val="0"/>
  </c:externalData>
</c:chartSpace>
</file>

<file path=ppt/diagrams/_rels/data1.x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iagrams/_rels/data2.x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iagrams/_rels/data3.x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iagrams/_rels/drawing2.x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iagrams/_rels/drawing3.x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¿Quiénes somos?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Proyectos</a:t>
          </a:r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Organizaciones con las que se ha colaborado</a:t>
          </a:r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Proyecto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Características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Empresa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Tiempo + Fases (WBS)</a:t>
          </a:r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Presupuesto</a:t>
          </a:r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9C72B4A7-9E41-F145-8AD3-8256C9A803CC}">
      <dgm:prSet phldrT="[Texto]"/>
      <dgm:spPr/>
      <dgm:t>
        <a:bodyPr/>
        <a:lstStyle/>
        <a:p>
          <a:r>
            <a:rPr lang="es-ES" dirty="0"/>
            <a:t>Líneas futuras</a:t>
          </a:r>
        </a:p>
      </dgm:t>
    </dgm:pt>
    <dgm:pt modelId="{039D7ABA-FFC7-B445-A429-CFC439A2367F}" type="parTrans" cxnId="{A916F14C-FD8F-1041-9237-07A7F4B0E424}">
      <dgm:prSet/>
      <dgm:spPr/>
      <dgm:t>
        <a:bodyPr/>
        <a:lstStyle/>
        <a:p>
          <a:endParaRPr lang="es-ES"/>
        </a:p>
      </dgm:t>
    </dgm:pt>
    <dgm:pt modelId="{05E1DC99-928D-904E-97A5-EF73BF8DD59B}" type="sibTrans" cxnId="{A916F14C-FD8F-1041-9237-07A7F4B0E424}">
      <dgm:prSet/>
      <dgm:spPr/>
      <dgm:t>
        <a:bodyPr/>
        <a:lstStyle/>
        <a:p>
          <a:endParaRPr lang="es-ES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4324E71C-51E4-4FFA-9638-472734009553}" type="pres">
      <dgm:prSet presAssocID="{D1D10F65-8C36-4800-AD9D-4A75930380A4}" presName="thickLine" presStyleLbl="alignNode1" presStyleIdx="0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0" presStyleCnt="10" custScaleY="81135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1" presStyleCnt="10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2" presStyleCnt="10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>
        <a:blipFill rotWithShape="0">
          <a:blip xmlns:r="http://schemas.openxmlformats.org/officeDocument/2006/relationships" r:embed="rId1"/>
          <a:stretch>
            <a:fillRect/>
          </a:stretch>
        </a:blipFill>
      </dgm:spPr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3" presStyleCnt="10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 custLinFactNeighborY="-22571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1" presStyleCnt="3" custLinFactNeighborY="-696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10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5" presStyleCnt="10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6" presStyleCnt="10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7" presStyleCnt="10"/>
      <dgm:spPr/>
      <dgm:t>
        <a:bodyPr/>
        <a:lstStyle/>
        <a:p>
          <a:endParaRPr lang="es-ES"/>
        </a:p>
      </dgm:t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10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  <dgm:pt modelId="{F3F97593-6E83-0F47-AC56-87F880B5136A}" type="pres">
      <dgm:prSet presAssocID="{9C72B4A7-9E41-F145-8AD3-8256C9A803CC}" presName="thickLine" presStyleLbl="alignNode1" presStyleIdx="2" presStyleCnt="3"/>
      <dgm:spPr/>
    </dgm:pt>
    <dgm:pt modelId="{5252C1B0-2D3F-E946-88C3-3B9DE026AA3B}" type="pres">
      <dgm:prSet presAssocID="{9C72B4A7-9E41-F145-8AD3-8256C9A803CC}" presName="horz1" presStyleCnt="0"/>
      <dgm:spPr/>
    </dgm:pt>
    <dgm:pt modelId="{DB02E969-16E1-B544-B84F-34044CEA806B}" type="pres">
      <dgm:prSet presAssocID="{9C72B4A7-9E41-F145-8AD3-8256C9A803CC}" presName="tx1" presStyleLbl="revTx" presStyleIdx="9" presStyleCnt="10"/>
      <dgm:spPr/>
      <dgm:t>
        <a:bodyPr/>
        <a:lstStyle/>
        <a:p>
          <a:endParaRPr lang="es-ES"/>
        </a:p>
      </dgm:t>
    </dgm:pt>
    <dgm:pt modelId="{198006FC-E4EB-0749-8807-9F4FBE5C6BCC}" type="pres">
      <dgm:prSet presAssocID="{9C72B4A7-9E41-F145-8AD3-8256C9A803CC}" presName="vert1" presStyleCnt="0"/>
      <dgm:spPr/>
    </dgm:pt>
  </dgm:ptLst>
  <dgm:cxnLst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9B92625F-F6BB-B542-BFDD-1C913DC7F688}" type="presOf" srcId="{9C72B4A7-9E41-F145-8AD3-8256C9A803CC}" destId="{DB02E969-16E1-B544-B84F-34044CEA806B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A916F14C-FD8F-1041-9237-07A7F4B0E424}" srcId="{C3CE8D9A-2F5F-E04C-AF81-B61DA3187B58}" destId="{9C72B4A7-9E41-F145-8AD3-8256C9A803CC}" srcOrd="2" destOrd="0" parTransId="{039D7ABA-FFC7-B445-A429-CFC439A2367F}" sibTransId="{05E1DC99-928D-904E-97A5-EF73BF8DD59B}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7D1D3080-7900-4CC4-B4C0-BD39D5B7C3EE}" srcId="{C3CE8D9A-2F5F-E04C-AF81-B61DA3187B58}" destId="{D1D10F65-8C36-4800-AD9D-4A75930380A4}" srcOrd="0" destOrd="0" parTransId="{90F18EEC-639F-4363-B4CF-89223F0F6C38}" sibTransId="{99324C82-0C51-4B8E-B7FB-AB0EDB6CDB40}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C36FE991-C046-254D-B645-ED7CD9E49D91}" srcId="{C3CE8D9A-2F5F-E04C-AF81-B61DA3187B58}" destId="{A00DC1EC-B999-A640-8654-4E50ABDDE020}" srcOrd="1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4DB7B23E-B30F-4C81-8ACC-F20339733989}" type="presParOf" srcId="{A4615577-DB07-0E46-BAD9-752076C1E8EB}" destId="{4324E71C-51E4-4FFA-9638-472734009553}" srcOrd="0" destOrd="0" presId="urn:microsoft.com/office/officeart/2008/layout/LinedList"/>
    <dgm:cxn modelId="{5F89DA01-B92A-4DC0-9CEE-1F6FA1D40ECE}" type="presParOf" srcId="{A4615577-DB07-0E46-BAD9-752076C1E8EB}" destId="{35D4AF3C-4879-491B-8004-F3B88F6D9FB5}" srcOrd="1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2" destOrd="0" presId="urn:microsoft.com/office/officeart/2008/layout/LinedList"/>
    <dgm:cxn modelId="{5F47EFD6-2CBD-894E-8B6E-5A8B8B366D05}" type="presParOf" srcId="{A4615577-DB07-0E46-BAD9-752076C1E8EB}" destId="{0C40495D-3188-9E48-A89E-F64BB2F461F5}" srcOrd="3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  <dgm:cxn modelId="{301FE55C-B156-C245-81DE-948BDE672DA3}" type="presParOf" srcId="{A4615577-DB07-0E46-BAD9-752076C1E8EB}" destId="{F3F97593-6E83-0F47-AC56-87F880B5136A}" srcOrd="4" destOrd="0" presId="urn:microsoft.com/office/officeart/2008/layout/LinedList"/>
    <dgm:cxn modelId="{534EAD63-809B-3546-9FE8-02A4711C8CF2}" type="presParOf" srcId="{A4615577-DB07-0E46-BAD9-752076C1E8EB}" destId="{5252C1B0-2D3F-E946-88C3-3B9DE026AA3B}" srcOrd="5" destOrd="0" presId="urn:microsoft.com/office/officeart/2008/layout/LinedList"/>
    <dgm:cxn modelId="{7F3CEEB0-1800-574C-9892-E20C22089DAD}" type="presParOf" srcId="{5252C1B0-2D3F-E946-88C3-3B9DE026AA3B}" destId="{DB02E969-16E1-B544-B84F-34044CEA806B}" srcOrd="0" destOrd="0" presId="urn:microsoft.com/office/officeart/2008/layout/LinedList"/>
    <dgm:cxn modelId="{C19916A7-6A83-F942-927D-DA81C8F3CA9B}" type="presParOf" srcId="{5252C1B0-2D3F-E946-88C3-3B9DE026AA3B}" destId="{198006FC-E4EB-0749-8807-9F4FBE5C6BC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¿Quiénes somos?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Proyectos</a:t>
          </a:r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Organizaciones con las que se ha colaborado</a:t>
          </a:r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Proyecto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Características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Empresa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Tiempo + Fases (WBS)</a:t>
          </a:r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Presupuesto</a:t>
          </a:r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9C72B4A7-9E41-F145-8AD3-8256C9A803CC}">
      <dgm:prSet phldrT="[Texto]"/>
      <dgm:spPr/>
      <dgm:t>
        <a:bodyPr/>
        <a:lstStyle/>
        <a:p>
          <a:r>
            <a:rPr lang="es-ES" dirty="0"/>
            <a:t>Líneas futuras</a:t>
          </a:r>
        </a:p>
      </dgm:t>
    </dgm:pt>
    <dgm:pt modelId="{039D7ABA-FFC7-B445-A429-CFC439A2367F}" type="parTrans" cxnId="{A916F14C-FD8F-1041-9237-07A7F4B0E424}">
      <dgm:prSet/>
      <dgm:spPr/>
      <dgm:t>
        <a:bodyPr/>
        <a:lstStyle/>
        <a:p>
          <a:endParaRPr lang="es-ES"/>
        </a:p>
      </dgm:t>
    </dgm:pt>
    <dgm:pt modelId="{05E1DC99-928D-904E-97A5-EF73BF8DD59B}" type="sibTrans" cxnId="{A916F14C-FD8F-1041-9237-07A7F4B0E424}">
      <dgm:prSet/>
      <dgm:spPr/>
      <dgm:t>
        <a:bodyPr/>
        <a:lstStyle/>
        <a:p>
          <a:endParaRPr lang="es-ES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4324E71C-51E4-4FFA-9638-472734009553}" type="pres">
      <dgm:prSet presAssocID="{D1D10F65-8C36-4800-AD9D-4A75930380A4}" presName="thickLine" presStyleLbl="alignNode1" presStyleIdx="0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0" presStyleCnt="10" custScaleY="81135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1" presStyleCnt="10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2" presStyleCnt="10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>
        <a:blipFill rotWithShape="0">
          <a:blip xmlns:r="http://schemas.openxmlformats.org/officeDocument/2006/relationships" r:embed="rId1"/>
          <a:stretch>
            <a:fillRect/>
          </a:stretch>
        </a:blipFill>
      </dgm:spPr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3" presStyleCnt="10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 custLinFactNeighborY="-22571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1" presStyleCnt="3" custLinFactNeighborY="-696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10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5" presStyleCnt="10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6" presStyleCnt="10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7" presStyleCnt="10"/>
      <dgm:spPr/>
      <dgm:t>
        <a:bodyPr/>
        <a:lstStyle/>
        <a:p>
          <a:endParaRPr lang="es-ES"/>
        </a:p>
      </dgm:t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10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  <dgm:pt modelId="{F3F97593-6E83-0F47-AC56-87F880B5136A}" type="pres">
      <dgm:prSet presAssocID="{9C72B4A7-9E41-F145-8AD3-8256C9A803CC}" presName="thickLine" presStyleLbl="alignNode1" presStyleIdx="2" presStyleCnt="3"/>
      <dgm:spPr/>
    </dgm:pt>
    <dgm:pt modelId="{5252C1B0-2D3F-E946-88C3-3B9DE026AA3B}" type="pres">
      <dgm:prSet presAssocID="{9C72B4A7-9E41-F145-8AD3-8256C9A803CC}" presName="horz1" presStyleCnt="0"/>
      <dgm:spPr/>
    </dgm:pt>
    <dgm:pt modelId="{DB02E969-16E1-B544-B84F-34044CEA806B}" type="pres">
      <dgm:prSet presAssocID="{9C72B4A7-9E41-F145-8AD3-8256C9A803CC}" presName="tx1" presStyleLbl="revTx" presStyleIdx="9" presStyleCnt="10"/>
      <dgm:spPr/>
      <dgm:t>
        <a:bodyPr/>
        <a:lstStyle/>
        <a:p>
          <a:endParaRPr lang="es-ES"/>
        </a:p>
      </dgm:t>
    </dgm:pt>
    <dgm:pt modelId="{198006FC-E4EB-0749-8807-9F4FBE5C6BCC}" type="pres">
      <dgm:prSet presAssocID="{9C72B4A7-9E41-F145-8AD3-8256C9A803CC}" presName="vert1" presStyleCnt="0"/>
      <dgm:spPr/>
    </dgm:pt>
  </dgm:ptLst>
  <dgm:cxnLst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9B92625F-F6BB-B542-BFDD-1C913DC7F688}" type="presOf" srcId="{9C72B4A7-9E41-F145-8AD3-8256C9A803CC}" destId="{DB02E969-16E1-B544-B84F-34044CEA806B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A916F14C-FD8F-1041-9237-07A7F4B0E424}" srcId="{C3CE8D9A-2F5F-E04C-AF81-B61DA3187B58}" destId="{9C72B4A7-9E41-F145-8AD3-8256C9A803CC}" srcOrd="2" destOrd="0" parTransId="{039D7ABA-FFC7-B445-A429-CFC439A2367F}" sibTransId="{05E1DC99-928D-904E-97A5-EF73BF8DD59B}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7D1D3080-7900-4CC4-B4C0-BD39D5B7C3EE}" srcId="{C3CE8D9A-2F5F-E04C-AF81-B61DA3187B58}" destId="{D1D10F65-8C36-4800-AD9D-4A75930380A4}" srcOrd="0" destOrd="0" parTransId="{90F18EEC-639F-4363-B4CF-89223F0F6C38}" sibTransId="{99324C82-0C51-4B8E-B7FB-AB0EDB6CDB40}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C36FE991-C046-254D-B645-ED7CD9E49D91}" srcId="{C3CE8D9A-2F5F-E04C-AF81-B61DA3187B58}" destId="{A00DC1EC-B999-A640-8654-4E50ABDDE020}" srcOrd="1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4DB7B23E-B30F-4C81-8ACC-F20339733989}" type="presParOf" srcId="{A4615577-DB07-0E46-BAD9-752076C1E8EB}" destId="{4324E71C-51E4-4FFA-9638-472734009553}" srcOrd="0" destOrd="0" presId="urn:microsoft.com/office/officeart/2008/layout/LinedList"/>
    <dgm:cxn modelId="{5F89DA01-B92A-4DC0-9CEE-1F6FA1D40ECE}" type="presParOf" srcId="{A4615577-DB07-0E46-BAD9-752076C1E8EB}" destId="{35D4AF3C-4879-491B-8004-F3B88F6D9FB5}" srcOrd="1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2" destOrd="0" presId="urn:microsoft.com/office/officeart/2008/layout/LinedList"/>
    <dgm:cxn modelId="{5F47EFD6-2CBD-894E-8B6E-5A8B8B366D05}" type="presParOf" srcId="{A4615577-DB07-0E46-BAD9-752076C1E8EB}" destId="{0C40495D-3188-9E48-A89E-F64BB2F461F5}" srcOrd="3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  <dgm:cxn modelId="{301FE55C-B156-C245-81DE-948BDE672DA3}" type="presParOf" srcId="{A4615577-DB07-0E46-BAD9-752076C1E8EB}" destId="{F3F97593-6E83-0F47-AC56-87F880B5136A}" srcOrd="4" destOrd="0" presId="urn:microsoft.com/office/officeart/2008/layout/LinedList"/>
    <dgm:cxn modelId="{534EAD63-809B-3546-9FE8-02A4711C8CF2}" type="presParOf" srcId="{A4615577-DB07-0E46-BAD9-752076C1E8EB}" destId="{5252C1B0-2D3F-E946-88C3-3B9DE026AA3B}" srcOrd="5" destOrd="0" presId="urn:microsoft.com/office/officeart/2008/layout/LinedList"/>
    <dgm:cxn modelId="{7F3CEEB0-1800-574C-9892-E20C22089DAD}" type="presParOf" srcId="{5252C1B0-2D3F-E946-88C3-3B9DE026AA3B}" destId="{DB02E969-16E1-B544-B84F-34044CEA806B}" srcOrd="0" destOrd="0" presId="urn:microsoft.com/office/officeart/2008/layout/LinedList"/>
    <dgm:cxn modelId="{C19916A7-6A83-F942-927D-DA81C8F3CA9B}" type="presParOf" srcId="{5252C1B0-2D3F-E946-88C3-3B9DE026AA3B}" destId="{198006FC-E4EB-0749-8807-9F4FBE5C6BC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¿Quiénes somos?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Proyectos</a:t>
          </a:r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Organizaciones con las que se ha colaborado</a:t>
          </a:r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Proyecto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Características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Empresa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Tiempo + Fases (WBS)</a:t>
          </a:r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Presupuesto</a:t>
          </a:r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9C72B4A7-9E41-F145-8AD3-8256C9A803CC}">
      <dgm:prSet phldrT="[Texto]"/>
      <dgm:spPr/>
      <dgm:t>
        <a:bodyPr/>
        <a:lstStyle/>
        <a:p>
          <a:r>
            <a:rPr lang="es-ES" dirty="0"/>
            <a:t>Líneas futuras</a:t>
          </a:r>
        </a:p>
      </dgm:t>
    </dgm:pt>
    <dgm:pt modelId="{039D7ABA-FFC7-B445-A429-CFC439A2367F}" type="parTrans" cxnId="{A916F14C-FD8F-1041-9237-07A7F4B0E424}">
      <dgm:prSet/>
      <dgm:spPr/>
      <dgm:t>
        <a:bodyPr/>
        <a:lstStyle/>
        <a:p>
          <a:endParaRPr lang="es-ES"/>
        </a:p>
      </dgm:t>
    </dgm:pt>
    <dgm:pt modelId="{05E1DC99-928D-904E-97A5-EF73BF8DD59B}" type="sibTrans" cxnId="{A916F14C-FD8F-1041-9237-07A7F4B0E424}">
      <dgm:prSet/>
      <dgm:spPr/>
      <dgm:t>
        <a:bodyPr/>
        <a:lstStyle/>
        <a:p>
          <a:endParaRPr lang="es-ES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4324E71C-51E4-4FFA-9638-472734009553}" type="pres">
      <dgm:prSet presAssocID="{D1D10F65-8C36-4800-AD9D-4A75930380A4}" presName="thickLine" presStyleLbl="alignNode1" presStyleIdx="0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0" presStyleCnt="10" custScaleY="81135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1" presStyleCnt="10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2" presStyleCnt="10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>
        <a:blipFill rotWithShape="0">
          <a:blip xmlns:r="http://schemas.openxmlformats.org/officeDocument/2006/relationships" r:embed="rId1"/>
          <a:stretch>
            <a:fillRect/>
          </a:stretch>
        </a:blipFill>
      </dgm:spPr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3" presStyleCnt="10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 custLinFactNeighborY="-22571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1" presStyleCnt="3" custLinFactNeighborY="-696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10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5" presStyleCnt="10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6" presStyleCnt="10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7" presStyleCnt="10"/>
      <dgm:spPr/>
      <dgm:t>
        <a:bodyPr/>
        <a:lstStyle/>
        <a:p>
          <a:endParaRPr lang="es-ES"/>
        </a:p>
      </dgm:t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10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  <dgm:pt modelId="{F3F97593-6E83-0F47-AC56-87F880B5136A}" type="pres">
      <dgm:prSet presAssocID="{9C72B4A7-9E41-F145-8AD3-8256C9A803CC}" presName="thickLine" presStyleLbl="alignNode1" presStyleIdx="2" presStyleCnt="3"/>
      <dgm:spPr/>
    </dgm:pt>
    <dgm:pt modelId="{5252C1B0-2D3F-E946-88C3-3B9DE026AA3B}" type="pres">
      <dgm:prSet presAssocID="{9C72B4A7-9E41-F145-8AD3-8256C9A803CC}" presName="horz1" presStyleCnt="0"/>
      <dgm:spPr/>
    </dgm:pt>
    <dgm:pt modelId="{DB02E969-16E1-B544-B84F-34044CEA806B}" type="pres">
      <dgm:prSet presAssocID="{9C72B4A7-9E41-F145-8AD3-8256C9A803CC}" presName="tx1" presStyleLbl="revTx" presStyleIdx="9" presStyleCnt="10"/>
      <dgm:spPr/>
      <dgm:t>
        <a:bodyPr/>
        <a:lstStyle/>
        <a:p>
          <a:endParaRPr lang="es-ES"/>
        </a:p>
      </dgm:t>
    </dgm:pt>
    <dgm:pt modelId="{198006FC-E4EB-0749-8807-9F4FBE5C6BCC}" type="pres">
      <dgm:prSet presAssocID="{9C72B4A7-9E41-F145-8AD3-8256C9A803CC}" presName="vert1" presStyleCnt="0"/>
      <dgm:spPr/>
    </dgm:pt>
  </dgm:ptLst>
  <dgm:cxnLst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9B92625F-F6BB-B542-BFDD-1C913DC7F688}" type="presOf" srcId="{9C72B4A7-9E41-F145-8AD3-8256C9A803CC}" destId="{DB02E969-16E1-B544-B84F-34044CEA806B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A916F14C-FD8F-1041-9237-07A7F4B0E424}" srcId="{C3CE8D9A-2F5F-E04C-AF81-B61DA3187B58}" destId="{9C72B4A7-9E41-F145-8AD3-8256C9A803CC}" srcOrd="2" destOrd="0" parTransId="{039D7ABA-FFC7-B445-A429-CFC439A2367F}" sibTransId="{05E1DC99-928D-904E-97A5-EF73BF8DD59B}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7D1D3080-7900-4CC4-B4C0-BD39D5B7C3EE}" srcId="{C3CE8D9A-2F5F-E04C-AF81-B61DA3187B58}" destId="{D1D10F65-8C36-4800-AD9D-4A75930380A4}" srcOrd="0" destOrd="0" parTransId="{90F18EEC-639F-4363-B4CF-89223F0F6C38}" sibTransId="{99324C82-0C51-4B8E-B7FB-AB0EDB6CDB40}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C36FE991-C046-254D-B645-ED7CD9E49D91}" srcId="{C3CE8D9A-2F5F-E04C-AF81-B61DA3187B58}" destId="{A00DC1EC-B999-A640-8654-4E50ABDDE020}" srcOrd="1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4DB7B23E-B30F-4C81-8ACC-F20339733989}" type="presParOf" srcId="{A4615577-DB07-0E46-BAD9-752076C1E8EB}" destId="{4324E71C-51E4-4FFA-9638-472734009553}" srcOrd="0" destOrd="0" presId="urn:microsoft.com/office/officeart/2008/layout/LinedList"/>
    <dgm:cxn modelId="{5F89DA01-B92A-4DC0-9CEE-1F6FA1D40ECE}" type="presParOf" srcId="{A4615577-DB07-0E46-BAD9-752076C1E8EB}" destId="{35D4AF3C-4879-491B-8004-F3B88F6D9FB5}" srcOrd="1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2" destOrd="0" presId="urn:microsoft.com/office/officeart/2008/layout/LinedList"/>
    <dgm:cxn modelId="{5F47EFD6-2CBD-894E-8B6E-5A8B8B366D05}" type="presParOf" srcId="{A4615577-DB07-0E46-BAD9-752076C1E8EB}" destId="{0C40495D-3188-9E48-A89E-F64BB2F461F5}" srcOrd="3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  <dgm:cxn modelId="{301FE55C-B156-C245-81DE-948BDE672DA3}" type="presParOf" srcId="{A4615577-DB07-0E46-BAD9-752076C1E8EB}" destId="{F3F97593-6E83-0F47-AC56-87F880B5136A}" srcOrd="4" destOrd="0" presId="urn:microsoft.com/office/officeart/2008/layout/LinedList"/>
    <dgm:cxn modelId="{534EAD63-809B-3546-9FE8-02A4711C8CF2}" type="presParOf" srcId="{A4615577-DB07-0E46-BAD9-752076C1E8EB}" destId="{5252C1B0-2D3F-E946-88C3-3B9DE026AA3B}" srcOrd="5" destOrd="0" presId="urn:microsoft.com/office/officeart/2008/layout/LinedList"/>
    <dgm:cxn modelId="{7F3CEEB0-1800-574C-9892-E20C22089DAD}" type="presParOf" srcId="{5252C1B0-2D3F-E946-88C3-3B9DE026AA3B}" destId="{DB02E969-16E1-B544-B84F-34044CEA806B}" srcOrd="0" destOrd="0" presId="urn:microsoft.com/office/officeart/2008/layout/LinedList"/>
    <dgm:cxn modelId="{C19916A7-6A83-F942-927D-DA81C8F3CA9B}" type="presParOf" srcId="{5252C1B0-2D3F-E946-88C3-3B9DE026AA3B}" destId="{198006FC-E4EB-0749-8807-9F4FBE5C6BC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2228"/>
          <a:ext cx="1497367" cy="12332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300" kern="1200" dirty="0"/>
            <a:t>Empresa</a:t>
          </a:r>
        </a:p>
      </dsp:txBody>
      <dsp:txXfrm>
        <a:off x="0" y="2228"/>
        <a:ext cx="1497367" cy="1233209"/>
      </dsp:txXfrm>
    </dsp:sp>
    <dsp:sp modelId="{520D1D2C-1114-41BF-8F7E-61F71B01A781}">
      <dsp:nvSpPr>
        <dsp:cNvPr id="0" name=""/>
        <dsp:cNvSpPr/>
      </dsp:nvSpPr>
      <dsp:spPr>
        <a:xfrm>
          <a:off x="1609669" y="25977"/>
          <a:ext cx="5877165" cy="4749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¿Quiénes somos?</a:t>
          </a:r>
        </a:p>
      </dsp:txBody>
      <dsp:txXfrm>
        <a:off x="1609669" y="25977"/>
        <a:ext cx="5877165" cy="474983"/>
      </dsp:txXfrm>
    </dsp:sp>
    <dsp:sp modelId="{0A0EB41C-54BD-4DBD-AE20-1F9966450DC3}">
      <dsp:nvSpPr>
        <dsp:cNvPr id="0" name=""/>
        <dsp:cNvSpPr/>
      </dsp:nvSpPr>
      <dsp:spPr>
        <a:xfrm>
          <a:off x="1497366" y="50096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524710"/>
          <a:ext cx="5877165" cy="4749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Proyectos</a:t>
          </a:r>
        </a:p>
      </dsp:txBody>
      <dsp:txXfrm>
        <a:off x="1609669" y="524710"/>
        <a:ext cx="5877165" cy="474983"/>
      </dsp:txXfrm>
    </dsp:sp>
    <dsp:sp modelId="{2B79C5B5-7045-4C8A-A0D3-ED34D320DACE}">
      <dsp:nvSpPr>
        <dsp:cNvPr id="0" name=""/>
        <dsp:cNvSpPr/>
      </dsp:nvSpPr>
      <dsp:spPr>
        <a:xfrm>
          <a:off x="1497366" y="999694"/>
          <a:ext cx="5989468" cy="0"/>
        </a:xfrm>
        <a:prstGeom prst="line">
          <a:avLst/>
        </a:prstGeom>
        <a:blipFill rotWithShape="0">
          <a:blip xmlns:r="http://schemas.openxmlformats.org/officeDocument/2006/relationships" r:embed="rId1"/>
          <a:stretch>
            <a:fillRect/>
          </a:stretch>
        </a:blip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1023443"/>
          <a:ext cx="5877165" cy="4749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Organizaciones con las que se ha colaborado</a:t>
          </a:r>
        </a:p>
      </dsp:txBody>
      <dsp:txXfrm>
        <a:off x="1609669" y="1023443"/>
        <a:ext cx="5877165" cy="474983"/>
      </dsp:txXfrm>
    </dsp:sp>
    <dsp:sp modelId="{AFB2C275-AEA0-46EA-8FAC-DEEB17253C42}">
      <dsp:nvSpPr>
        <dsp:cNvPr id="0" name=""/>
        <dsp:cNvSpPr/>
      </dsp:nvSpPr>
      <dsp:spPr>
        <a:xfrm>
          <a:off x="1497366" y="1493067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1511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1522176"/>
          <a:ext cx="1497367" cy="1519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300" kern="1200" dirty="0"/>
            <a:t>Proyecto</a:t>
          </a:r>
        </a:p>
      </dsp:txBody>
      <dsp:txXfrm>
        <a:off x="0" y="1522176"/>
        <a:ext cx="1497367" cy="1519948"/>
      </dsp:txXfrm>
    </dsp:sp>
    <dsp:sp modelId="{CECABC1D-D0D2-4346-AB17-5BDF3AE0B320}">
      <dsp:nvSpPr>
        <dsp:cNvPr id="0" name=""/>
        <dsp:cNvSpPr/>
      </dsp:nvSpPr>
      <dsp:spPr>
        <a:xfrm>
          <a:off x="1609669" y="1540044"/>
          <a:ext cx="5877165" cy="3573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Características</a:t>
          </a:r>
        </a:p>
      </dsp:txBody>
      <dsp:txXfrm>
        <a:off x="1609669" y="1540044"/>
        <a:ext cx="5877165" cy="357351"/>
      </dsp:txXfrm>
    </dsp:sp>
    <dsp:sp modelId="{5D84D3DB-F553-4712-A813-E34BD39795E9}">
      <dsp:nvSpPr>
        <dsp:cNvPr id="0" name=""/>
        <dsp:cNvSpPr/>
      </dsp:nvSpPr>
      <dsp:spPr>
        <a:xfrm>
          <a:off x="1497366" y="1897395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1915263"/>
          <a:ext cx="5877165" cy="3573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Tiempo + Fases (WBS)</a:t>
          </a:r>
        </a:p>
      </dsp:txBody>
      <dsp:txXfrm>
        <a:off x="1609669" y="1915263"/>
        <a:ext cx="5877165" cy="357351"/>
      </dsp:txXfrm>
    </dsp:sp>
    <dsp:sp modelId="{5E350EE4-2D6A-4A16-A0FE-9FACA9074727}">
      <dsp:nvSpPr>
        <dsp:cNvPr id="0" name=""/>
        <dsp:cNvSpPr/>
      </dsp:nvSpPr>
      <dsp:spPr>
        <a:xfrm>
          <a:off x="1497366" y="227261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2290481"/>
          <a:ext cx="5877165" cy="3573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Calidad</a:t>
          </a:r>
        </a:p>
      </dsp:txBody>
      <dsp:txXfrm>
        <a:off x="1609669" y="2290481"/>
        <a:ext cx="5877165" cy="357351"/>
      </dsp:txXfrm>
    </dsp:sp>
    <dsp:sp modelId="{DF72560F-E95F-423D-A8FF-AAE8DAA00A74}">
      <dsp:nvSpPr>
        <dsp:cNvPr id="0" name=""/>
        <dsp:cNvSpPr/>
      </dsp:nvSpPr>
      <dsp:spPr>
        <a:xfrm>
          <a:off x="1497366" y="2647832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2665700"/>
          <a:ext cx="5877165" cy="3573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Presupuesto</a:t>
          </a:r>
        </a:p>
      </dsp:txBody>
      <dsp:txXfrm>
        <a:off x="1609669" y="2665700"/>
        <a:ext cx="5877165" cy="357351"/>
      </dsp:txXfrm>
    </dsp:sp>
    <dsp:sp modelId="{22FFB06E-FF71-449B-9AA1-BDA4A6D85DF8}">
      <dsp:nvSpPr>
        <dsp:cNvPr id="0" name=""/>
        <dsp:cNvSpPr/>
      </dsp:nvSpPr>
      <dsp:spPr>
        <a:xfrm>
          <a:off x="1497366" y="302305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3F97593-6E83-0F47-AC56-87F880B5136A}">
      <dsp:nvSpPr>
        <dsp:cNvPr id="0" name=""/>
        <dsp:cNvSpPr/>
      </dsp:nvSpPr>
      <dsp:spPr>
        <a:xfrm>
          <a:off x="0" y="3042125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DB02E969-16E1-B544-B84F-34044CEA806B}">
      <dsp:nvSpPr>
        <dsp:cNvPr id="0" name=""/>
        <dsp:cNvSpPr/>
      </dsp:nvSpPr>
      <dsp:spPr>
        <a:xfrm>
          <a:off x="0" y="3042125"/>
          <a:ext cx="1497367" cy="1519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300" kern="1200" dirty="0"/>
            <a:t>Líneas futuras</a:t>
          </a:r>
        </a:p>
      </dsp:txBody>
      <dsp:txXfrm>
        <a:off x="0" y="3042125"/>
        <a:ext cx="1497367" cy="151994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2228"/>
          <a:ext cx="1497367" cy="12332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300" kern="1200" dirty="0"/>
            <a:t>Empresa</a:t>
          </a:r>
        </a:p>
      </dsp:txBody>
      <dsp:txXfrm>
        <a:off x="0" y="2228"/>
        <a:ext cx="1497367" cy="1233209"/>
      </dsp:txXfrm>
    </dsp:sp>
    <dsp:sp modelId="{520D1D2C-1114-41BF-8F7E-61F71B01A781}">
      <dsp:nvSpPr>
        <dsp:cNvPr id="0" name=""/>
        <dsp:cNvSpPr/>
      </dsp:nvSpPr>
      <dsp:spPr>
        <a:xfrm>
          <a:off x="1609669" y="25977"/>
          <a:ext cx="5877165" cy="4749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¿Quiénes somos?</a:t>
          </a:r>
        </a:p>
      </dsp:txBody>
      <dsp:txXfrm>
        <a:off x="1609669" y="25977"/>
        <a:ext cx="5877165" cy="474983"/>
      </dsp:txXfrm>
    </dsp:sp>
    <dsp:sp modelId="{0A0EB41C-54BD-4DBD-AE20-1F9966450DC3}">
      <dsp:nvSpPr>
        <dsp:cNvPr id="0" name=""/>
        <dsp:cNvSpPr/>
      </dsp:nvSpPr>
      <dsp:spPr>
        <a:xfrm>
          <a:off x="1497366" y="50096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524710"/>
          <a:ext cx="5877165" cy="4749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Proyectos</a:t>
          </a:r>
        </a:p>
      </dsp:txBody>
      <dsp:txXfrm>
        <a:off x="1609669" y="524710"/>
        <a:ext cx="5877165" cy="474983"/>
      </dsp:txXfrm>
    </dsp:sp>
    <dsp:sp modelId="{2B79C5B5-7045-4C8A-A0D3-ED34D320DACE}">
      <dsp:nvSpPr>
        <dsp:cNvPr id="0" name=""/>
        <dsp:cNvSpPr/>
      </dsp:nvSpPr>
      <dsp:spPr>
        <a:xfrm>
          <a:off x="1497366" y="999694"/>
          <a:ext cx="5989468" cy="0"/>
        </a:xfrm>
        <a:prstGeom prst="line">
          <a:avLst/>
        </a:prstGeom>
        <a:blipFill rotWithShape="0">
          <a:blip xmlns:r="http://schemas.openxmlformats.org/officeDocument/2006/relationships" r:embed="rId1"/>
          <a:stretch>
            <a:fillRect/>
          </a:stretch>
        </a:blip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1023443"/>
          <a:ext cx="5877165" cy="4749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Organizaciones con las que se ha colaborado</a:t>
          </a:r>
        </a:p>
      </dsp:txBody>
      <dsp:txXfrm>
        <a:off x="1609669" y="1023443"/>
        <a:ext cx="5877165" cy="474983"/>
      </dsp:txXfrm>
    </dsp:sp>
    <dsp:sp modelId="{AFB2C275-AEA0-46EA-8FAC-DEEB17253C42}">
      <dsp:nvSpPr>
        <dsp:cNvPr id="0" name=""/>
        <dsp:cNvSpPr/>
      </dsp:nvSpPr>
      <dsp:spPr>
        <a:xfrm>
          <a:off x="1497366" y="1493067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1511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1522176"/>
          <a:ext cx="1497367" cy="1519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300" kern="1200" dirty="0"/>
            <a:t>Proyecto</a:t>
          </a:r>
        </a:p>
      </dsp:txBody>
      <dsp:txXfrm>
        <a:off x="0" y="1522176"/>
        <a:ext cx="1497367" cy="1519948"/>
      </dsp:txXfrm>
    </dsp:sp>
    <dsp:sp modelId="{CECABC1D-D0D2-4346-AB17-5BDF3AE0B320}">
      <dsp:nvSpPr>
        <dsp:cNvPr id="0" name=""/>
        <dsp:cNvSpPr/>
      </dsp:nvSpPr>
      <dsp:spPr>
        <a:xfrm>
          <a:off x="1609669" y="1540044"/>
          <a:ext cx="5877165" cy="3573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Características</a:t>
          </a:r>
        </a:p>
      </dsp:txBody>
      <dsp:txXfrm>
        <a:off x="1609669" y="1540044"/>
        <a:ext cx="5877165" cy="357351"/>
      </dsp:txXfrm>
    </dsp:sp>
    <dsp:sp modelId="{5D84D3DB-F553-4712-A813-E34BD39795E9}">
      <dsp:nvSpPr>
        <dsp:cNvPr id="0" name=""/>
        <dsp:cNvSpPr/>
      </dsp:nvSpPr>
      <dsp:spPr>
        <a:xfrm>
          <a:off x="1497366" y="1897395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1915263"/>
          <a:ext cx="5877165" cy="3573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Tiempo + Fases (WBS)</a:t>
          </a:r>
        </a:p>
      </dsp:txBody>
      <dsp:txXfrm>
        <a:off x="1609669" y="1915263"/>
        <a:ext cx="5877165" cy="357351"/>
      </dsp:txXfrm>
    </dsp:sp>
    <dsp:sp modelId="{5E350EE4-2D6A-4A16-A0FE-9FACA9074727}">
      <dsp:nvSpPr>
        <dsp:cNvPr id="0" name=""/>
        <dsp:cNvSpPr/>
      </dsp:nvSpPr>
      <dsp:spPr>
        <a:xfrm>
          <a:off x="1497366" y="227261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2290481"/>
          <a:ext cx="5877165" cy="3573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Calidad</a:t>
          </a:r>
        </a:p>
      </dsp:txBody>
      <dsp:txXfrm>
        <a:off x="1609669" y="2290481"/>
        <a:ext cx="5877165" cy="357351"/>
      </dsp:txXfrm>
    </dsp:sp>
    <dsp:sp modelId="{DF72560F-E95F-423D-A8FF-AAE8DAA00A74}">
      <dsp:nvSpPr>
        <dsp:cNvPr id="0" name=""/>
        <dsp:cNvSpPr/>
      </dsp:nvSpPr>
      <dsp:spPr>
        <a:xfrm>
          <a:off x="1497366" y="2647832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2665700"/>
          <a:ext cx="5877165" cy="3573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Presupuesto</a:t>
          </a:r>
        </a:p>
      </dsp:txBody>
      <dsp:txXfrm>
        <a:off x="1609669" y="2665700"/>
        <a:ext cx="5877165" cy="357351"/>
      </dsp:txXfrm>
    </dsp:sp>
    <dsp:sp modelId="{22FFB06E-FF71-449B-9AA1-BDA4A6D85DF8}">
      <dsp:nvSpPr>
        <dsp:cNvPr id="0" name=""/>
        <dsp:cNvSpPr/>
      </dsp:nvSpPr>
      <dsp:spPr>
        <a:xfrm>
          <a:off x="1497366" y="302305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3F97593-6E83-0F47-AC56-87F880B5136A}">
      <dsp:nvSpPr>
        <dsp:cNvPr id="0" name=""/>
        <dsp:cNvSpPr/>
      </dsp:nvSpPr>
      <dsp:spPr>
        <a:xfrm>
          <a:off x="0" y="3042125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DB02E969-16E1-B544-B84F-34044CEA806B}">
      <dsp:nvSpPr>
        <dsp:cNvPr id="0" name=""/>
        <dsp:cNvSpPr/>
      </dsp:nvSpPr>
      <dsp:spPr>
        <a:xfrm>
          <a:off x="0" y="3042125"/>
          <a:ext cx="1497367" cy="1519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300" kern="1200" dirty="0"/>
            <a:t>Líneas futuras</a:t>
          </a:r>
        </a:p>
      </dsp:txBody>
      <dsp:txXfrm>
        <a:off x="0" y="3042125"/>
        <a:ext cx="1497367" cy="151994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2228"/>
          <a:ext cx="1497367" cy="12332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300" kern="1200" dirty="0"/>
            <a:t>Empresa</a:t>
          </a:r>
        </a:p>
      </dsp:txBody>
      <dsp:txXfrm>
        <a:off x="0" y="2228"/>
        <a:ext cx="1497367" cy="1233209"/>
      </dsp:txXfrm>
    </dsp:sp>
    <dsp:sp modelId="{520D1D2C-1114-41BF-8F7E-61F71B01A781}">
      <dsp:nvSpPr>
        <dsp:cNvPr id="0" name=""/>
        <dsp:cNvSpPr/>
      </dsp:nvSpPr>
      <dsp:spPr>
        <a:xfrm>
          <a:off x="1609669" y="25977"/>
          <a:ext cx="5877165" cy="4749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¿Quiénes somos?</a:t>
          </a:r>
        </a:p>
      </dsp:txBody>
      <dsp:txXfrm>
        <a:off x="1609669" y="25977"/>
        <a:ext cx="5877165" cy="474983"/>
      </dsp:txXfrm>
    </dsp:sp>
    <dsp:sp modelId="{0A0EB41C-54BD-4DBD-AE20-1F9966450DC3}">
      <dsp:nvSpPr>
        <dsp:cNvPr id="0" name=""/>
        <dsp:cNvSpPr/>
      </dsp:nvSpPr>
      <dsp:spPr>
        <a:xfrm>
          <a:off x="1497366" y="50096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524710"/>
          <a:ext cx="5877165" cy="4749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Proyectos</a:t>
          </a:r>
        </a:p>
      </dsp:txBody>
      <dsp:txXfrm>
        <a:off x="1609669" y="524710"/>
        <a:ext cx="5877165" cy="474983"/>
      </dsp:txXfrm>
    </dsp:sp>
    <dsp:sp modelId="{2B79C5B5-7045-4C8A-A0D3-ED34D320DACE}">
      <dsp:nvSpPr>
        <dsp:cNvPr id="0" name=""/>
        <dsp:cNvSpPr/>
      </dsp:nvSpPr>
      <dsp:spPr>
        <a:xfrm>
          <a:off x="1497366" y="999694"/>
          <a:ext cx="5989468" cy="0"/>
        </a:xfrm>
        <a:prstGeom prst="line">
          <a:avLst/>
        </a:prstGeom>
        <a:blipFill rotWithShape="0">
          <a:blip xmlns:r="http://schemas.openxmlformats.org/officeDocument/2006/relationships" r:embed="rId1"/>
          <a:stretch>
            <a:fillRect/>
          </a:stretch>
        </a:blip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1023443"/>
          <a:ext cx="5877165" cy="4749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Organizaciones con las que se ha colaborado</a:t>
          </a:r>
        </a:p>
      </dsp:txBody>
      <dsp:txXfrm>
        <a:off x="1609669" y="1023443"/>
        <a:ext cx="5877165" cy="474983"/>
      </dsp:txXfrm>
    </dsp:sp>
    <dsp:sp modelId="{AFB2C275-AEA0-46EA-8FAC-DEEB17253C42}">
      <dsp:nvSpPr>
        <dsp:cNvPr id="0" name=""/>
        <dsp:cNvSpPr/>
      </dsp:nvSpPr>
      <dsp:spPr>
        <a:xfrm>
          <a:off x="1497366" y="1493067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1511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1522176"/>
          <a:ext cx="1497367" cy="1519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300" kern="1200" dirty="0"/>
            <a:t>Proyecto</a:t>
          </a:r>
        </a:p>
      </dsp:txBody>
      <dsp:txXfrm>
        <a:off x="0" y="1522176"/>
        <a:ext cx="1497367" cy="1519948"/>
      </dsp:txXfrm>
    </dsp:sp>
    <dsp:sp modelId="{CECABC1D-D0D2-4346-AB17-5BDF3AE0B320}">
      <dsp:nvSpPr>
        <dsp:cNvPr id="0" name=""/>
        <dsp:cNvSpPr/>
      </dsp:nvSpPr>
      <dsp:spPr>
        <a:xfrm>
          <a:off x="1609669" y="1540044"/>
          <a:ext cx="5877165" cy="3573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Características</a:t>
          </a:r>
        </a:p>
      </dsp:txBody>
      <dsp:txXfrm>
        <a:off x="1609669" y="1540044"/>
        <a:ext cx="5877165" cy="357351"/>
      </dsp:txXfrm>
    </dsp:sp>
    <dsp:sp modelId="{5D84D3DB-F553-4712-A813-E34BD39795E9}">
      <dsp:nvSpPr>
        <dsp:cNvPr id="0" name=""/>
        <dsp:cNvSpPr/>
      </dsp:nvSpPr>
      <dsp:spPr>
        <a:xfrm>
          <a:off x="1497366" y="1897395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1915263"/>
          <a:ext cx="5877165" cy="3573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Tiempo + Fases (WBS)</a:t>
          </a:r>
        </a:p>
      </dsp:txBody>
      <dsp:txXfrm>
        <a:off x="1609669" y="1915263"/>
        <a:ext cx="5877165" cy="357351"/>
      </dsp:txXfrm>
    </dsp:sp>
    <dsp:sp modelId="{5E350EE4-2D6A-4A16-A0FE-9FACA9074727}">
      <dsp:nvSpPr>
        <dsp:cNvPr id="0" name=""/>
        <dsp:cNvSpPr/>
      </dsp:nvSpPr>
      <dsp:spPr>
        <a:xfrm>
          <a:off x="1497366" y="227261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2290481"/>
          <a:ext cx="5877165" cy="3573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Calidad</a:t>
          </a:r>
        </a:p>
      </dsp:txBody>
      <dsp:txXfrm>
        <a:off x="1609669" y="2290481"/>
        <a:ext cx="5877165" cy="357351"/>
      </dsp:txXfrm>
    </dsp:sp>
    <dsp:sp modelId="{DF72560F-E95F-423D-A8FF-AAE8DAA00A74}">
      <dsp:nvSpPr>
        <dsp:cNvPr id="0" name=""/>
        <dsp:cNvSpPr/>
      </dsp:nvSpPr>
      <dsp:spPr>
        <a:xfrm>
          <a:off x="1497366" y="2647832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2665700"/>
          <a:ext cx="5877165" cy="3573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/>
            <a:t>Presupuesto</a:t>
          </a:r>
        </a:p>
      </dsp:txBody>
      <dsp:txXfrm>
        <a:off x="1609669" y="2665700"/>
        <a:ext cx="5877165" cy="357351"/>
      </dsp:txXfrm>
    </dsp:sp>
    <dsp:sp modelId="{22FFB06E-FF71-449B-9AA1-BDA4A6D85DF8}">
      <dsp:nvSpPr>
        <dsp:cNvPr id="0" name=""/>
        <dsp:cNvSpPr/>
      </dsp:nvSpPr>
      <dsp:spPr>
        <a:xfrm>
          <a:off x="1497366" y="302305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3F97593-6E83-0F47-AC56-87F880B5136A}">
      <dsp:nvSpPr>
        <dsp:cNvPr id="0" name=""/>
        <dsp:cNvSpPr/>
      </dsp:nvSpPr>
      <dsp:spPr>
        <a:xfrm>
          <a:off x="0" y="3042125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DB02E969-16E1-B544-B84F-34044CEA806B}">
      <dsp:nvSpPr>
        <dsp:cNvPr id="0" name=""/>
        <dsp:cNvSpPr/>
      </dsp:nvSpPr>
      <dsp:spPr>
        <a:xfrm>
          <a:off x="0" y="3042125"/>
          <a:ext cx="1497367" cy="1519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300" kern="1200" dirty="0"/>
            <a:t>Líneas futuras</a:t>
          </a:r>
        </a:p>
      </dsp:txBody>
      <dsp:txXfrm>
        <a:off x="0" y="3042125"/>
        <a:ext cx="1497367" cy="1519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xmlns="" id="{F4AE34A5-FED9-664C-9CA9-61368CA3A72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xmlns="" id="{EED74FDE-7D61-0448-99C3-1C2510A4DC2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B6A847-B2BB-5A4F-AA22-ADD924C5DC37}" type="datetimeFigureOut">
              <a:rPr lang="es-ES" smtClean="0"/>
              <a:t>12/01/2019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xmlns="" id="{1B538993-078D-4446-97A5-F286C787E0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811C8AC5-611A-DB4D-AF97-9339B8C3E1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EC5F80-6C64-1B4D-B2B7-2AED68CAF8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72138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706AB-1D76-3248-9524-C7A1782978BE}" type="datetimeFigureOut">
              <a:rPr lang="es-ES" smtClean="0"/>
              <a:t>12/01/2019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/>
              <a:t>Editar los estilos de texto del patrón
Segundo nivel
Tercer nivel
Cuarto nivel
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E37864-CDD0-ED46-84C3-11742EF3F2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30025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E37864-CDD0-ED46-84C3-11742EF3F25F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9973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E37864-CDD0-ED46-84C3-11742EF3F25F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531576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E37864-CDD0-ED46-84C3-11742EF3F25F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544126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CF658B0C-03D2-4EC9-ADB2-F61D2A7F1A7F}" type="datetime1">
              <a:rPr lang="es-ES" smtClean="0"/>
              <a:t>12/01/2019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533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36A0F-4E3B-4A47-BBFC-C7A596A9AFBF}" type="datetime1">
              <a:rPr lang="es-ES" smtClean="0"/>
              <a:t>12/01/2019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2250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D23FFCC6-FF5E-4D54-9F73-DBED3D409C44}" type="datetime1">
              <a:rPr lang="es-ES" smtClean="0"/>
              <a:t>12/01/2019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9191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789B3-7CF1-4F25-BD37-C1474D9B93A1}" type="datetime1">
              <a:rPr lang="es-ES" smtClean="0"/>
              <a:t>12/01/2019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081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370B3-F095-4B61-A454-9A89B25CA30F}" type="datetime1">
              <a:rPr lang="es-ES" smtClean="0"/>
              <a:t>12/01/2019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1632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9B04D-B0B4-45F4-9FDC-7D0C3BE59D6C}" type="datetime1">
              <a:rPr lang="es-ES" smtClean="0"/>
              <a:t>12/01/2019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74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DFE21-064F-4B68-BD90-552980F678E9}" type="datetime1">
              <a:rPr lang="es-ES" smtClean="0"/>
              <a:t>12/01/2019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77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39170A-DE66-4D4D-9A06-42FA2FF1162A}" type="datetime1">
              <a:rPr lang="es-ES" smtClean="0"/>
              <a:t>12/01/2019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8288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1A4C5-BE6E-4CA1-B7CF-FDE03C66D740}" type="datetime1">
              <a:rPr lang="es-ES" smtClean="0"/>
              <a:t>12/01/2019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9233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8205B-5211-4617-B936-077F7A45C629}" type="datetime1">
              <a:rPr lang="es-ES" smtClean="0"/>
              <a:t>12/01/2019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5475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2ABF6-4A24-42D0-A0D8-95D48568D00D}" type="datetime1">
              <a:rPr lang="es-ES" smtClean="0"/>
              <a:t>12/01/2019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6453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56EF0696-E95C-4C6C-B4F7-A0B39809F383}" type="datetime1">
              <a:rPr lang="es-ES" smtClean="0"/>
              <a:t>12/01/2019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832143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01181D-D759-4CF4-9542-EE19DD447B1F}" type="datetime1">
              <a:rPr lang="es-ES" smtClean="0"/>
              <a:t>12/01/2019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830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4FC33-F8D1-4220-849E-47704510CABD}" type="datetime1">
              <a:rPr lang="es-ES" smtClean="0"/>
              <a:t>12/01/2019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513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0B1F3-867C-4F14-9ECE-424A23A426E7}" type="datetime1">
              <a:rPr lang="es-ES" smtClean="0"/>
              <a:t>12/01/2019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5964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FC77-3596-48F1-83BD-FB747996FF0F}" type="datetime1">
              <a:rPr lang="es-ES" smtClean="0"/>
              <a:t>12/01/2019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38546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AFD6FD5-B225-410F-BB04-627CB54EE5A8}" type="datetime1">
              <a:rPr lang="es-ES" smtClean="0"/>
              <a:t>12/01/2019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435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62C60B-B728-4AE6-B6E3-C50BDD89DA8C}" type="datetime1">
              <a:rPr lang="es-ES" smtClean="0"/>
              <a:t>12/01/2019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611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jpe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5.png"/><Relationship Id="rId4" Type="http://schemas.openxmlformats.org/officeDocument/2006/relationships/image" Target="../media/image3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3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C781D2D-F690-3E49-8B9D-858086DD5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2683" y="1806424"/>
            <a:ext cx="6132990" cy="1825096"/>
          </a:xfrm>
        </p:spPr>
        <p:txBody>
          <a:bodyPr>
            <a:normAutofit/>
          </a:bodyPr>
          <a:lstStyle/>
          <a:p>
            <a:r>
              <a:rPr lang="es-ES" dirty="0"/>
              <a:t>Proyecto </a:t>
            </a:r>
            <a:r>
              <a:rPr lang="es-ES" dirty="0" err="1"/>
              <a:t>MeCuida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55C73646-C78E-504E-9BE0-410E35A3D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2683" y="3617797"/>
            <a:ext cx="6132990" cy="685800"/>
          </a:xfrm>
        </p:spPr>
        <p:txBody>
          <a:bodyPr>
            <a:normAutofit/>
          </a:bodyPr>
          <a:lstStyle/>
          <a:p>
            <a:r>
              <a:rPr lang="es-ES" dirty="0"/>
              <a:t>Gestión de Proyectos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xmlns="" id="{8F19F3D8-20CA-FB40-94B1-52940FAC9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45" y="1902941"/>
            <a:ext cx="5391668" cy="2310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380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EA72CA66-3062-4C85-AB3F-209F5F6EE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9099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</a:t>
            </a:fld>
            <a:r>
              <a:rPr lang="es-ES" sz="2000" dirty="0"/>
              <a:t>/24</a:t>
            </a:r>
          </a:p>
        </p:txBody>
      </p:sp>
      <p:graphicFrame>
        <p:nvGraphicFramePr>
          <p:cNvPr id="7" name="Diagrama 6">
            <a:extLst>
              <a:ext uri="{FF2B5EF4-FFF2-40B4-BE49-F238E27FC236}">
                <a16:creationId xmlns:a16="http://schemas.microsoft.com/office/drawing/2014/main" xmlns="" id="{6618F1EC-7EE2-AE44-882A-6CDB04AB901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20171629"/>
              </p:ext>
            </p:extLst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54784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924" y="2213068"/>
            <a:ext cx="7478011" cy="3204948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2</a:t>
            </a:fld>
            <a:r>
              <a:rPr lang="es-ES" sz="2000" dirty="0"/>
              <a:t>/22</a:t>
            </a:r>
          </a:p>
        </p:txBody>
      </p:sp>
      <p:pic>
        <p:nvPicPr>
          <p:cNvPr id="11" name="Imagen 10" descr="Imagen que contiene texto&#10;&#10;&#10;&#10;Descripción generada automáticamente">
            <a:extLst>
              <a:ext uri="{FF2B5EF4-FFF2-40B4-BE49-F238E27FC236}">
                <a16:creationId xmlns:a16="http://schemas.microsoft.com/office/drawing/2014/main" xmlns="" id="{2C17273C-672A-6645-9F89-C0CF78BB564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58200" y="1918284"/>
            <a:ext cx="3211286" cy="2621458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xmlns="" id="{CD227A02-44BF-5645-AE81-26FA69C2F9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8756" y="1535405"/>
            <a:ext cx="3004337" cy="3004337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xmlns="" id="{BB37DB92-30F9-A748-A6C4-287664E2D814}"/>
              </a:ext>
            </a:extLst>
          </p:cNvPr>
          <p:cNvSpPr txBox="1"/>
          <p:nvPr/>
        </p:nvSpPr>
        <p:spPr>
          <a:xfrm>
            <a:off x="1260752" y="4140680"/>
            <a:ext cx="1720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dirty="0">
                <a:solidFill>
                  <a:schemeClr val="tx2"/>
                </a:solidFill>
              </a:rPr>
              <a:t>https://</a:t>
            </a:r>
            <a:r>
              <a:rPr lang="es-ES" sz="1200" dirty="0" err="1">
                <a:solidFill>
                  <a:schemeClr val="tx2"/>
                </a:solidFill>
              </a:rPr>
              <a:t>pixabay.com</a:t>
            </a:r>
            <a:endParaRPr lang="es-ES" sz="1200" dirty="0">
              <a:solidFill>
                <a:schemeClr val="tx2"/>
              </a:solidFill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xmlns="" id="{F4E4FF17-8718-6E4E-B635-D4E408E26B71}"/>
              </a:ext>
            </a:extLst>
          </p:cNvPr>
          <p:cNvSpPr txBox="1"/>
          <p:nvPr/>
        </p:nvSpPr>
        <p:spPr>
          <a:xfrm>
            <a:off x="9142420" y="4461520"/>
            <a:ext cx="1720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dirty="0">
                <a:solidFill>
                  <a:schemeClr val="tx2"/>
                </a:solidFill>
              </a:rPr>
              <a:t>https://</a:t>
            </a:r>
            <a:r>
              <a:rPr lang="es-ES" sz="1200" dirty="0" err="1">
                <a:solidFill>
                  <a:schemeClr val="tx2"/>
                </a:solidFill>
              </a:rPr>
              <a:t>pixabay.com</a:t>
            </a:r>
            <a:endParaRPr lang="es-ES" sz="1200" dirty="0">
              <a:solidFill>
                <a:schemeClr val="tx2"/>
              </a:solidFill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xmlns="" id="{7E198E4E-8FF0-4F1E-8753-6F05BE69B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818" y="137244"/>
            <a:ext cx="8610600" cy="1293028"/>
          </a:xfrm>
        </p:spPr>
        <p:txBody>
          <a:bodyPr/>
          <a:lstStyle/>
          <a:p>
            <a:r>
              <a:rPr lang="es-ES_tradnl" dirty="0"/>
              <a:t>¿Quiénes somos?</a:t>
            </a:r>
          </a:p>
        </p:txBody>
      </p:sp>
    </p:spTree>
    <p:extLst>
      <p:ext uri="{BB962C8B-B14F-4D97-AF65-F5344CB8AC3E}">
        <p14:creationId xmlns:p14="http://schemas.microsoft.com/office/powerpoint/2010/main" val="3133954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84EE94F-A38C-4B45-948E-9FF46419E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818" y="137244"/>
            <a:ext cx="8610600" cy="1293028"/>
          </a:xfrm>
        </p:spPr>
        <p:txBody>
          <a:bodyPr/>
          <a:lstStyle/>
          <a:p>
            <a:r>
              <a:rPr lang="es-ES_tradnl" dirty="0"/>
              <a:t>¿Quiénes somos?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3</a:t>
            </a:fld>
            <a:r>
              <a:rPr lang="es-ES" sz="2000" dirty="0"/>
              <a:t>/22</a:t>
            </a:r>
          </a:p>
        </p:txBody>
      </p:sp>
      <p:pic>
        <p:nvPicPr>
          <p:cNvPr id="6" name="Imagen 5" descr="Imagen que contiene captura de pantalla, texto, mapa&#10;&#10;&#10;&#10;Descripción generada automáticamente">
            <a:extLst>
              <a:ext uri="{FF2B5EF4-FFF2-40B4-BE49-F238E27FC236}">
                <a16:creationId xmlns:a16="http://schemas.microsoft.com/office/drawing/2014/main" xmlns="" id="{46B37BF1-48E0-634F-B252-1241DFD53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582" y="1846818"/>
            <a:ext cx="9770836" cy="4045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1043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4</a:t>
            </a:fld>
            <a:r>
              <a:rPr lang="es-ES" sz="2000" dirty="0"/>
              <a:t>/22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xmlns="" id="{8E99FA11-5DBD-E64F-8E15-AE0C4528CB58}"/>
              </a:ext>
            </a:extLst>
          </p:cNvPr>
          <p:cNvSpPr txBox="1"/>
          <p:nvPr/>
        </p:nvSpPr>
        <p:spPr>
          <a:xfrm>
            <a:off x="552090" y="2057401"/>
            <a:ext cx="615926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/>
              <a:t>Proyectos propios: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dirty="0"/>
              <a:t>Proyecto E-</a:t>
            </a:r>
            <a:r>
              <a:rPr lang="es-ES" sz="2400" dirty="0" err="1"/>
              <a:t>Health</a:t>
            </a:r>
            <a:r>
              <a:rPr lang="es-ES" sz="2400" dirty="0"/>
              <a:t> Bogotá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dirty="0"/>
              <a:t>Proyecto E-</a:t>
            </a:r>
            <a:r>
              <a:rPr lang="es-ES" sz="2400" dirty="0" err="1"/>
              <a:t>Health</a:t>
            </a:r>
            <a:r>
              <a:rPr lang="es-ES" sz="2400" dirty="0"/>
              <a:t> Buenos Aires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dirty="0"/>
              <a:t>Proyecto E-</a:t>
            </a:r>
            <a:r>
              <a:rPr lang="es-ES" sz="2400" dirty="0" err="1"/>
              <a:t>Health</a:t>
            </a:r>
            <a:r>
              <a:rPr lang="es-ES" sz="2400" dirty="0"/>
              <a:t> Granada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xmlns="" id="{3F905F14-76D1-024A-85FE-3AAD0957118B}"/>
              </a:ext>
            </a:extLst>
          </p:cNvPr>
          <p:cNvSpPr txBox="1"/>
          <p:nvPr/>
        </p:nvSpPr>
        <p:spPr>
          <a:xfrm>
            <a:off x="552090" y="4066799"/>
            <a:ext cx="945455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/>
              <a:t>Proyectos en los que hemos participado: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dirty="0" err="1"/>
              <a:t>Electronic</a:t>
            </a:r>
            <a:r>
              <a:rPr lang="es-ES" sz="2400" dirty="0"/>
              <a:t> </a:t>
            </a:r>
            <a:r>
              <a:rPr lang="es-ES" sz="2400" dirty="0" err="1"/>
              <a:t>consultation</a:t>
            </a:r>
            <a:r>
              <a:rPr lang="es-ES" sz="2400" dirty="0"/>
              <a:t> </a:t>
            </a:r>
            <a:r>
              <a:rPr lang="es-ES" sz="2400" dirty="0" err="1"/>
              <a:t>register</a:t>
            </a:r>
            <a:r>
              <a:rPr lang="es-ES" sz="2400" dirty="0"/>
              <a:t> en Burkina Faso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dirty="0"/>
              <a:t>Medical Cloud en EEUU.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dirty="0" err="1"/>
              <a:t>Telemedicine</a:t>
            </a:r>
            <a:r>
              <a:rPr lang="es-ES" sz="2400" dirty="0"/>
              <a:t> Network en Suiza.</a:t>
            </a:r>
          </a:p>
          <a:p>
            <a:pPr lvl="1"/>
            <a:endParaRPr lang="es-ES" sz="24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xmlns="" id="{B88CDF19-B70E-1848-A8F3-51FE017B00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221" y="1869416"/>
            <a:ext cx="3175000" cy="2705100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xmlns="" id="{7A301C5F-35E4-F646-9F87-E0E8A6DD89D2}"/>
              </a:ext>
            </a:extLst>
          </p:cNvPr>
          <p:cNvSpPr txBox="1"/>
          <p:nvPr/>
        </p:nvSpPr>
        <p:spPr>
          <a:xfrm>
            <a:off x="8643729" y="4574516"/>
            <a:ext cx="2167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/>
              <a:t>https://</a:t>
            </a:r>
            <a:r>
              <a:rPr lang="es-ES" sz="1200" dirty="0" err="1"/>
              <a:t>www.openpr.com</a:t>
            </a:r>
            <a:endParaRPr lang="es-ES" sz="1200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xmlns="" id="{7C493191-012A-4BD1-87EF-4BCEFE2F6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818" y="137244"/>
            <a:ext cx="8610600" cy="1293028"/>
          </a:xfrm>
        </p:spPr>
        <p:txBody>
          <a:bodyPr/>
          <a:lstStyle/>
          <a:p>
            <a:r>
              <a:rPr lang="es-ES_tradnl" dirty="0"/>
              <a:t>PROYECTOS</a:t>
            </a:r>
          </a:p>
        </p:txBody>
      </p:sp>
    </p:spTree>
    <p:extLst>
      <p:ext uri="{BB962C8B-B14F-4D97-AF65-F5344CB8AC3E}">
        <p14:creationId xmlns:p14="http://schemas.microsoft.com/office/powerpoint/2010/main" val="1993503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5</a:t>
            </a:fld>
            <a:r>
              <a:rPr lang="es-ES" sz="2000" dirty="0"/>
              <a:t>/22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xmlns="" id="{CFE661F0-F988-8A47-9147-34C44DD879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95" y="4159281"/>
            <a:ext cx="3431886" cy="92075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xmlns="" id="{6ACF3EED-125E-DD41-8A71-0F4ED98044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020" y="1642165"/>
            <a:ext cx="3535163" cy="1502445"/>
          </a:xfrm>
          <a:prstGeom prst="rect">
            <a:avLst/>
          </a:prstGeom>
        </p:spPr>
      </p:pic>
      <p:pic>
        <p:nvPicPr>
          <p:cNvPr id="9" name="Imagen 8" descr="Imagen que contiene señal, exterior, cielo, texto&#10;&#10;&#10;&#10;Descripción generada automáticamente">
            <a:extLst>
              <a:ext uri="{FF2B5EF4-FFF2-40B4-BE49-F238E27FC236}">
                <a16:creationId xmlns:a16="http://schemas.microsoft.com/office/drawing/2014/main" xmlns="" id="{C5E74572-56C6-8D40-95B7-30C4C244D1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2907" y="4301802"/>
            <a:ext cx="2743200" cy="1941341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xmlns="" id="{E00A3B97-065B-0E41-BF3C-221BF21396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0413" y="4159282"/>
            <a:ext cx="3479862" cy="1403808"/>
          </a:xfrm>
          <a:prstGeom prst="rect">
            <a:avLst/>
          </a:prstGeom>
        </p:spPr>
      </p:pic>
      <p:pic>
        <p:nvPicPr>
          <p:cNvPr id="11" name="Imagen 10" descr="Imagen que contiene imágenes prediseñadas&#10;&#10;&#10;&#10;Descripción generada automáticamente">
            <a:extLst>
              <a:ext uri="{FF2B5EF4-FFF2-40B4-BE49-F238E27FC236}">
                <a16:creationId xmlns:a16="http://schemas.microsoft.com/office/drawing/2014/main" xmlns="" id="{2CD80353-91D2-B64F-BCD4-A0323A6F78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9999" y="1879251"/>
            <a:ext cx="1963406" cy="1963406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xmlns="" id="{25235F44-BFEA-3342-AAE4-68E956D43A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70239" y="2315484"/>
            <a:ext cx="3484924" cy="1397907"/>
          </a:xfrm>
          <a:prstGeom prst="rect">
            <a:avLst/>
          </a:prstGeom>
        </p:spPr>
      </p:pic>
      <p:sp>
        <p:nvSpPr>
          <p:cNvPr id="13" name="Título 1">
            <a:extLst>
              <a:ext uri="{FF2B5EF4-FFF2-40B4-BE49-F238E27FC236}">
                <a16:creationId xmlns:a16="http://schemas.microsoft.com/office/drawing/2014/main" xmlns="" id="{F0881CA0-944C-453C-A42B-F49A48702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818" y="137244"/>
            <a:ext cx="8610600" cy="1293028"/>
          </a:xfrm>
        </p:spPr>
        <p:txBody>
          <a:bodyPr/>
          <a:lstStyle/>
          <a:p>
            <a:r>
              <a:rPr lang="es-ES_tradnl" dirty="0"/>
              <a:t>organizaciones </a:t>
            </a:r>
          </a:p>
        </p:txBody>
      </p:sp>
    </p:spTree>
    <p:extLst>
      <p:ext uri="{BB962C8B-B14F-4D97-AF65-F5344CB8AC3E}">
        <p14:creationId xmlns:p14="http://schemas.microsoft.com/office/powerpoint/2010/main" val="4196827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EA72CA66-3062-4C85-AB3F-209F5F6EE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9099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6</a:t>
            </a:fld>
            <a:r>
              <a:rPr lang="es-ES" sz="2000" dirty="0"/>
              <a:t>/24</a:t>
            </a:r>
          </a:p>
        </p:txBody>
      </p:sp>
      <p:graphicFrame>
        <p:nvGraphicFramePr>
          <p:cNvPr id="8" name="Diagrama 7">
            <a:extLst>
              <a:ext uri="{FF2B5EF4-FFF2-40B4-BE49-F238E27FC236}">
                <a16:creationId xmlns:a16="http://schemas.microsoft.com/office/drawing/2014/main" xmlns="" id="{23C085A3-62C5-D541-9E6B-EEE3123573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2517176"/>
              </p:ext>
            </p:extLst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9" name="Flecha derecha 8">
            <a:extLst>
              <a:ext uri="{FF2B5EF4-FFF2-40B4-BE49-F238E27FC236}">
                <a16:creationId xmlns:a16="http://schemas.microsoft.com/office/drawing/2014/main" xmlns="" id="{409214D7-A261-884C-9FDF-B32C26A1993E}"/>
              </a:ext>
            </a:extLst>
          </p:cNvPr>
          <p:cNvSpPr/>
          <p:nvPr/>
        </p:nvSpPr>
        <p:spPr>
          <a:xfrm>
            <a:off x="1973020" y="3752490"/>
            <a:ext cx="379562" cy="1897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Anillo 9">
            <a:extLst>
              <a:ext uri="{FF2B5EF4-FFF2-40B4-BE49-F238E27FC236}">
                <a16:creationId xmlns:a16="http://schemas.microsoft.com/office/drawing/2014/main" xmlns="" id="{E2B7A3A7-96DE-DD41-861F-AE407579C800}"/>
              </a:ext>
            </a:extLst>
          </p:cNvPr>
          <p:cNvSpPr/>
          <p:nvPr/>
        </p:nvSpPr>
        <p:spPr>
          <a:xfrm>
            <a:off x="2128965" y="2219519"/>
            <a:ext cx="223617" cy="223617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Anillo 10">
            <a:extLst>
              <a:ext uri="{FF2B5EF4-FFF2-40B4-BE49-F238E27FC236}">
                <a16:creationId xmlns:a16="http://schemas.microsoft.com/office/drawing/2014/main" xmlns="" id="{8C8E2577-405A-B047-99C1-9FBF59709B3D}"/>
              </a:ext>
            </a:extLst>
          </p:cNvPr>
          <p:cNvSpPr/>
          <p:nvPr/>
        </p:nvSpPr>
        <p:spPr>
          <a:xfrm>
            <a:off x="3827699" y="2219519"/>
            <a:ext cx="152400" cy="152400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2" name="Anillo 11">
            <a:extLst>
              <a:ext uri="{FF2B5EF4-FFF2-40B4-BE49-F238E27FC236}">
                <a16:creationId xmlns:a16="http://schemas.microsoft.com/office/drawing/2014/main" xmlns="" id="{362B8359-9A80-FC45-9EA0-C98D23F88271}"/>
              </a:ext>
            </a:extLst>
          </p:cNvPr>
          <p:cNvSpPr/>
          <p:nvPr/>
        </p:nvSpPr>
        <p:spPr>
          <a:xfrm>
            <a:off x="3827699" y="2699572"/>
            <a:ext cx="152400" cy="152400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3" name="Anillo 12">
            <a:extLst>
              <a:ext uri="{FF2B5EF4-FFF2-40B4-BE49-F238E27FC236}">
                <a16:creationId xmlns:a16="http://schemas.microsoft.com/office/drawing/2014/main" xmlns="" id="{048FD790-169C-264C-B015-7CF76A632F2B}"/>
              </a:ext>
            </a:extLst>
          </p:cNvPr>
          <p:cNvSpPr/>
          <p:nvPr/>
        </p:nvSpPr>
        <p:spPr>
          <a:xfrm>
            <a:off x="3827699" y="3179625"/>
            <a:ext cx="152400" cy="152400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84876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7</a:t>
            </a:fld>
            <a:r>
              <a:rPr lang="es-ES" sz="2000" dirty="0"/>
              <a:t>/22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xmlns="" id="{CE4B125E-AFB5-4365-AB59-78D81A734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818" y="137244"/>
            <a:ext cx="8610600" cy="1293028"/>
          </a:xfrm>
        </p:spPr>
        <p:txBody>
          <a:bodyPr/>
          <a:lstStyle/>
          <a:p>
            <a:r>
              <a:rPr lang="es-ES_tradnl" dirty="0"/>
              <a:t>Características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xmlns="" id="{ADAEC259-2108-468D-8C3F-28134EAB5E86}"/>
              </a:ext>
            </a:extLst>
          </p:cNvPr>
          <p:cNvSpPr txBox="1"/>
          <p:nvPr/>
        </p:nvSpPr>
        <p:spPr>
          <a:xfrm>
            <a:off x="552090" y="1424360"/>
            <a:ext cx="9269092" cy="5343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Cooperación con empresas destacadas en sus sectores.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dirty="0"/>
              <a:t>Desarrollo software: Alhambra Eidos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dirty="0"/>
              <a:t>Data center: Telefónica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Formación del personal privada.</a:t>
            </a:r>
          </a:p>
          <a:p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Implementación progresiva: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dirty="0"/>
              <a:t>Prueba piloto + implementación final</a:t>
            </a:r>
          </a:p>
          <a:p>
            <a:pPr marL="800100" lvl="1" indent="-3429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400" dirty="0"/>
              <a:t>Muestra: 20 pacientes por hospital</a:t>
            </a:r>
          </a:p>
          <a:p>
            <a:pPr marL="800100" lvl="1" indent="-3429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400" dirty="0"/>
              <a:t>Total: 100 pacientes por hospital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40628382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8</a:t>
            </a:fld>
            <a:r>
              <a:rPr lang="es-ES" sz="2000" dirty="0"/>
              <a:t>/22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xmlns="" id="{CE4B125E-AFB5-4365-AB59-78D81A734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818" y="137244"/>
            <a:ext cx="8610600" cy="1293028"/>
          </a:xfrm>
        </p:spPr>
        <p:txBody>
          <a:bodyPr/>
          <a:lstStyle/>
          <a:p>
            <a:r>
              <a:rPr lang="es-ES_tradnl" dirty="0"/>
              <a:t>Características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xmlns="" id="{ADAEC259-2108-468D-8C3F-28134EAB5E86}"/>
              </a:ext>
            </a:extLst>
          </p:cNvPr>
          <p:cNvSpPr txBox="1"/>
          <p:nvPr/>
        </p:nvSpPr>
        <p:spPr>
          <a:xfrm>
            <a:off x="552089" y="1424360"/>
            <a:ext cx="984393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endParaRPr lang="es-ES" sz="2400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xmlns="" id="{F7BC70C9-2726-4FC5-B918-EA8378508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6069" y="1834576"/>
            <a:ext cx="8855214" cy="39722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0" name="4 Conector recto de flecha">
            <a:extLst>
              <a:ext uri="{FF2B5EF4-FFF2-40B4-BE49-F238E27FC236}">
                <a16:creationId xmlns:a16="http://schemas.microsoft.com/office/drawing/2014/main" xmlns="" id="{D5E94DC6-E1FA-49EF-B12E-16A868BF6D04}"/>
              </a:ext>
            </a:extLst>
          </p:cNvPr>
          <p:cNvCxnSpPr/>
          <p:nvPr/>
        </p:nvCxnSpPr>
        <p:spPr>
          <a:xfrm rot="10800000" flipV="1">
            <a:off x="10254176" y="2000253"/>
            <a:ext cx="0" cy="41909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14 Conector recto de flecha">
            <a:extLst>
              <a:ext uri="{FF2B5EF4-FFF2-40B4-BE49-F238E27FC236}">
                <a16:creationId xmlns:a16="http://schemas.microsoft.com/office/drawing/2014/main" xmlns="" id="{12E75257-809A-46D5-9E66-2860F2A5DBD2}"/>
              </a:ext>
            </a:extLst>
          </p:cNvPr>
          <p:cNvCxnSpPr/>
          <p:nvPr/>
        </p:nvCxnSpPr>
        <p:spPr>
          <a:xfrm rot="10800000" flipV="1">
            <a:off x="5548826" y="2000253"/>
            <a:ext cx="0" cy="41909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15 Conector recto de flecha">
            <a:extLst>
              <a:ext uri="{FF2B5EF4-FFF2-40B4-BE49-F238E27FC236}">
                <a16:creationId xmlns:a16="http://schemas.microsoft.com/office/drawing/2014/main" xmlns="" id="{BA62D5EC-8008-4BB4-B398-624B3E0F4264}"/>
              </a:ext>
            </a:extLst>
          </p:cNvPr>
          <p:cNvCxnSpPr/>
          <p:nvPr/>
        </p:nvCxnSpPr>
        <p:spPr>
          <a:xfrm rot="10800000" flipV="1">
            <a:off x="5106574" y="4298444"/>
            <a:ext cx="0" cy="41909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16 Conector recto de flecha">
            <a:extLst>
              <a:ext uri="{FF2B5EF4-FFF2-40B4-BE49-F238E27FC236}">
                <a16:creationId xmlns:a16="http://schemas.microsoft.com/office/drawing/2014/main" xmlns="" id="{4A89E665-8FB2-4B75-A9B2-8ADE77BF90C0}"/>
              </a:ext>
            </a:extLst>
          </p:cNvPr>
          <p:cNvCxnSpPr/>
          <p:nvPr/>
        </p:nvCxnSpPr>
        <p:spPr>
          <a:xfrm rot="10800000" flipV="1">
            <a:off x="2296841" y="5322113"/>
            <a:ext cx="0" cy="41909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17 Conector recto de flecha">
            <a:extLst>
              <a:ext uri="{FF2B5EF4-FFF2-40B4-BE49-F238E27FC236}">
                <a16:creationId xmlns:a16="http://schemas.microsoft.com/office/drawing/2014/main" xmlns="" id="{E7920C57-7517-4FB0-8ADE-FD647E8E63BF}"/>
              </a:ext>
            </a:extLst>
          </p:cNvPr>
          <p:cNvCxnSpPr/>
          <p:nvPr/>
        </p:nvCxnSpPr>
        <p:spPr>
          <a:xfrm rot="10800000" flipV="1">
            <a:off x="5035356" y="5361406"/>
            <a:ext cx="0" cy="41909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8 CuadroTexto">
            <a:extLst>
              <a:ext uri="{FF2B5EF4-FFF2-40B4-BE49-F238E27FC236}">
                <a16:creationId xmlns:a16="http://schemas.microsoft.com/office/drawing/2014/main" xmlns="" id="{97D5678F-812E-4F71-90DE-5AAACC59145E}"/>
              </a:ext>
            </a:extLst>
          </p:cNvPr>
          <p:cNvSpPr txBox="1"/>
          <p:nvPr/>
        </p:nvSpPr>
        <p:spPr>
          <a:xfrm>
            <a:off x="9203881" y="1415477"/>
            <a:ext cx="2324100" cy="584775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s-ES" sz="1600" b="1" dirty="0">
                <a:solidFill>
                  <a:schemeClr val="accent1">
                    <a:lumMod val="75000"/>
                  </a:schemeClr>
                </a:solidFill>
              </a:rPr>
              <a:t>Hospital Universitario </a:t>
            </a:r>
          </a:p>
          <a:p>
            <a:r>
              <a:rPr lang="es-ES" sz="1600" b="1" dirty="0">
                <a:solidFill>
                  <a:schemeClr val="accent1">
                    <a:lumMod val="75000"/>
                  </a:schemeClr>
                </a:solidFill>
              </a:rPr>
              <a:t>Príncipe de Asturias </a:t>
            </a:r>
          </a:p>
        </p:txBody>
      </p:sp>
      <p:sp>
        <p:nvSpPr>
          <p:cNvPr id="16" name="19 CuadroTexto">
            <a:extLst>
              <a:ext uri="{FF2B5EF4-FFF2-40B4-BE49-F238E27FC236}">
                <a16:creationId xmlns:a16="http://schemas.microsoft.com/office/drawing/2014/main" xmlns="" id="{29CA4401-C356-4FAD-819B-FF25BE9171E5}"/>
              </a:ext>
            </a:extLst>
          </p:cNvPr>
          <p:cNvSpPr txBox="1"/>
          <p:nvPr/>
        </p:nvSpPr>
        <p:spPr>
          <a:xfrm>
            <a:off x="3994931" y="5797976"/>
            <a:ext cx="2324100" cy="584775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s-ES" sz="1600" b="1" dirty="0">
                <a:solidFill>
                  <a:schemeClr val="accent1">
                    <a:lumMod val="75000"/>
                  </a:schemeClr>
                </a:solidFill>
              </a:rPr>
              <a:t>Hospital Universitario </a:t>
            </a:r>
          </a:p>
          <a:p>
            <a:r>
              <a:rPr lang="es-ES" sz="1600" b="1" dirty="0">
                <a:solidFill>
                  <a:schemeClr val="accent1">
                    <a:lumMod val="75000"/>
                  </a:schemeClr>
                </a:solidFill>
              </a:rPr>
              <a:t>De Getafe </a:t>
            </a:r>
          </a:p>
        </p:txBody>
      </p:sp>
      <p:sp>
        <p:nvSpPr>
          <p:cNvPr id="17" name="20 CuadroTexto">
            <a:extLst>
              <a:ext uri="{FF2B5EF4-FFF2-40B4-BE49-F238E27FC236}">
                <a16:creationId xmlns:a16="http://schemas.microsoft.com/office/drawing/2014/main" xmlns="" id="{C4D04E6F-146E-4AE7-9C8B-E11B07F10123}"/>
              </a:ext>
            </a:extLst>
          </p:cNvPr>
          <p:cNvSpPr txBox="1"/>
          <p:nvPr/>
        </p:nvSpPr>
        <p:spPr>
          <a:xfrm>
            <a:off x="1275469" y="4681727"/>
            <a:ext cx="2324100" cy="584775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s-ES" sz="1600" b="1" dirty="0">
                <a:solidFill>
                  <a:schemeClr val="accent1">
                    <a:lumMod val="75000"/>
                  </a:schemeClr>
                </a:solidFill>
              </a:rPr>
              <a:t>Hospital Universitario </a:t>
            </a:r>
          </a:p>
          <a:p>
            <a:r>
              <a:rPr lang="es-ES" sz="1600" b="1" dirty="0">
                <a:solidFill>
                  <a:schemeClr val="accent1">
                    <a:lumMod val="75000"/>
                  </a:schemeClr>
                </a:solidFill>
              </a:rPr>
              <a:t>Rey Juan Carlos I </a:t>
            </a:r>
          </a:p>
        </p:txBody>
      </p:sp>
      <p:sp>
        <p:nvSpPr>
          <p:cNvPr id="18" name="23 CuadroTexto">
            <a:extLst>
              <a:ext uri="{FF2B5EF4-FFF2-40B4-BE49-F238E27FC236}">
                <a16:creationId xmlns:a16="http://schemas.microsoft.com/office/drawing/2014/main" xmlns="" id="{65D983F8-A3CA-43F1-8622-ECDEFBFBFCB4}"/>
              </a:ext>
            </a:extLst>
          </p:cNvPr>
          <p:cNvSpPr txBox="1"/>
          <p:nvPr/>
        </p:nvSpPr>
        <p:spPr>
          <a:xfrm>
            <a:off x="4414031" y="1384613"/>
            <a:ext cx="2324100" cy="584775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s-ES" sz="1600" b="1" dirty="0">
                <a:solidFill>
                  <a:schemeClr val="accent1">
                    <a:lumMod val="75000"/>
                  </a:schemeClr>
                </a:solidFill>
              </a:rPr>
              <a:t>Hospital Universitario </a:t>
            </a:r>
          </a:p>
          <a:p>
            <a:r>
              <a:rPr lang="es-ES" sz="1600" b="1" dirty="0">
                <a:solidFill>
                  <a:schemeClr val="accent1">
                    <a:lumMod val="75000"/>
                  </a:schemeClr>
                </a:solidFill>
              </a:rPr>
              <a:t>Ramón y Cajal</a:t>
            </a:r>
          </a:p>
        </p:txBody>
      </p:sp>
      <p:sp>
        <p:nvSpPr>
          <p:cNvPr id="19" name="22 CuadroTexto">
            <a:extLst>
              <a:ext uri="{FF2B5EF4-FFF2-40B4-BE49-F238E27FC236}">
                <a16:creationId xmlns:a16="http://schemas.microsoft.com/office/drawing/2014/main" xmlns="" id="{8D896A4D-1575-4E49-8018-E9B7456383C3}"/>
              </a:ext>
            </a:extLst>
          </p:cNvPr>
          <p:cNvSpPr txBox="1"/>
          <p:nvPr/>
        </p:nvSpPr>
        <p:spPr>
          <a:xfrm>
            <a:off x="3994931" y="3717066"/>
            <a:ext cx="2743200" cy="584775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s-ES" sz="1600" b="1" dirty="0">
                <a:solidFill>
                  <a:schemeClr val="accent1">
                    <a:lumMod val="75000"/>
                  </a:schemeClr>
                </a:solidFill>
              </a:rPr>
              <a:t>Hospital Universitario </a:t>
            </a:r>
          </a:p>
          <a:p>
            <a:r>
              <a:rPr lang="es-ES" sz="1600" b="1" dirty="0">
                <a:solidFill>
                  <a:schemeClr val="accent1">
                    <a:lumMod val="75000"/>
                  </a:schemeClr>
                </a:solidFill>
              </a:rPr>
              <a:t>12 de Octubre</a:t>
            </a:r>
          </a:p>
        </p:txBody>
      </p:sp>
    </p:spTree>
    <p:extLst>
      <p:ext uri="{BB962C8B-B14F-4D97-AF65-F5344CB8AC3E}">
        <p14:creationId xmlns:p14="http://schemas.microsoft.com/office/powerpoint/2010/main" val="1201739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9</a:t>
            </a:fld>
            <a:r>
              <a:rPr lang="es-ES" sz="2000" dirty="0"/>
              <a:t>/22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xmlns="" id="{CE4B125E-AFB5-4365-AB59-78D81A734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818" y="137244"/>
            <a:ext cx="8610600" cy="1293028"/>
          </a:xfrm>
        </p:spPr>
        <p:txBody>
          <a:bodyPr/>
          <a:lstStyle/>
          <a:p>
            <a:r>
              <a:rPr lang="es-ES_tradnl" dirty="0"/>
              <a:t>Características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xmlns="" id="{ADAEC259-2108-468D-8C3F-28134EAB5E86}"/>
              </a:ext>
            </a:extLst>
          </p:cNvPr>
          <p:cNvSpPr txBox="1"/>
          <p:nvPr/>
        </p:nvSpPr>
        <p:spPr>
          <a:xfrm>
            <a:off x="552089" y="1424360"/>
            <a:ext cx="10758336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Patologías crónicas a tratar: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dirty="0"/>
              <a:t>EPOC (Enfermedad Pulmonar Obstructiva Crónica)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dirty="0"/>
              <a:t>Diabetes Mellitus Tipo 2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dirty="0"/>
              <a:t>Insuficiencia cardiaca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dirty="0"/>
              <a:t>Hipertensión Arterial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Dispositivos de </a:t>
            </a:r>
            <a:r>
              <a:rPr lang="es-ES" sz="2400" dirty="0" err="1"/>
              <a:t>biomedida</a:t>
            </a:r>
            <a:r>
              <a:rPr lang="es-ES" sz="2400" dirty="0"/>
              <a:t> </a:t>
            </a:r>
          </a:p>
          <a:p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501042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10</a:t>
            </a:fld>
            <a:r>
              <a:rPr lang="es-ES" sz="2000" dirty="0"/>
              <a:t>/22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xmlns="" id="{CE4B125E-AFB5-4365-AB59-78D81A734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818" y="137244"/>
            <a:ext cx="8610600" cy="1293028"/>
          </a:xfrm>
        </p:spPr>
        <p:txBody>
          <a:bodyPr/>
          <a:lstStyle/>
          <a:p>
            <a:r>
              <a:rPr lang="es-ES_tradnl" dirty="0"/>
              <a:t>Características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xmlns="" id="{ADAEC259-2108-468D-8C3F-28134EAB5E86}"/>
              </a:ext>
            </a:extLst>
          </p:cNvPr>
          <p:cNvSpPr txBox="1"/>
          <p:nvPr/>
        </p:nvSpPr>
        <p:spPr>
          <a:xfrm>
            <a:off x="552089" y="1424360"/>
            <a:ext cx="1075833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endParaRPr lang="es-ES"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xmlns="" id="{275EA8F7-80AB-40D5-A26C-358AA24AD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512" y="3749180"/>
            <a:ext cx="2055612" cy="1938483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xmlns="" id="{A088D5C9-9AB1-4377-A22E-673E898FBC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4522" y="1453895"/>
            <a:ext cx="2360442" cy="193232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xmlns="" id="{FD9DED93-102C-4A21-84FE-28563206D2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6835" y="1463543"/>
            <a:ext cx="1638610" cy="1932323"/>
          </a:xfrm>
          <a:prstGeom prst="rect">
            <a:avLst/>
          </a:prstGeom>
        </p:spPr>
      </p:pic>
      <p:pic>
        <p:nvPicPr>
          <p:cNvPr id="12" name="Picture 2" descr="Resultado de imagen de Omron 708-BT">
            <a:extLst>
              <a:ext uri="{FF2B5EF4-FFF2-40B4-BE49-F238E27FC236}">
                <a16:creationId xmlns:a16="http://schemas.microsoft.com/office/drawing/2014/main" xmlns="" id="{F37E709E-C462-4D01-A442-F2CAF25DF7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505" y="3493203"/>
            <a:ext cx="2450436" cy="2450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xmlns="" id="{2F5AA041-60F7-4769-87DF-DA0CF1F36D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7972" y="2595680"/>
            <a:ext cx="3514675" cy="2227266"/>
          </a:xfrm>
          <a:prstGeom prst="rect">
            <a:avLst/>
          </a:prstGeom>
        </p:spPr>
      </p:pic>
      <p:pic>
        <p:nvPicPr>
          <p:cNvPr id="14" name="Picture 4" descr="Icono De Bluetooth, Logotipo De Bluetooth, Bluetooth">
            <a:extLst>
              <a:ext uri="{FF2B5EF4-FFF2-40B4-BE49-F238E27FC236}">
                <a16:creationId xmlns:a16="http://schemas.microsoft.com/office/drawing/2014/main" xmlns="" id="{6678D8DE-35C8-4DC4-9CF6-B00208587F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5575" y="1190997"/>
            <a:ext cx="920848" cy="1404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3">
            <a:extLst>
              <a:ext uri="{FF2B5EF4-FFF2-40B4-BE49-F238E27FC236}">
                <a16:creationId xmlns:a16="http://schemas.microsoft.com/office/drawing/2014/main" xmlns="" id="{190ED0CC-E462-466B-B5D5-89131F2565CB}"/>
              </a:ext>
            </a:extLst>
          </p:cNvPr>
          <p:cNvSpPr txBox="1"/>
          <p:nvPr/>
        </p:nvSpPr>
        <p:spPr>
          <a:xfrm>
            <a:off x="977882" y="3372393"/>
            <a:ext cx="2673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s-ES" b="1" dirty="0" err="1"/>
              <a:t>FreeStyle</a:t>
            </a:r>
            <a:r>
              <a:rPr lang="es-ES" b="1" dirty="0"/>
              <a:t> </a:t>
            </a:r>
            <a:r>
              <a:rPr lang="es-ES" b="1" dirty="0" err="1"/>
              <a:t>Optium</a:t>
            </a:r>
            <a:r>
              <a:rPr lang="es-ES" b="1" dirty="0"/>
              <a:t> Neo</a:t>
            </a:r>
          </a:p>
        </p:txBody>
      </p:sp>
      <p:sp>
        <p:nvSpPr>
          <p:cNvPr id="16" name="TextBox 13">
            <a:extLst>
              <a:ext uri="{FF2B5EF4-FFF2-40B4-BE49-F238E27FC236}">
                <a16:creationId xmlns:a16="http://schemas.microsoft.com/office/drawing/2014/main" xmlns="" id="{5E1D2C82-83D5-45CD-B536-3C867BB7E8E0}"/>
              </a:ext>
            </a:extLst>
          </p:cNvPr>
          <p:cNvSpPr txBox="1"/>
          <p:nvPr/>
        </p:nvSpPr>
        <p:spPr>
          <a:xfrm>
            <a:off x="4755063" y="4689468"/>
            <a:ext cx="3602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Galaxy </a:t>
            </a:r>
            <a:r>
              <a:rPr lang="es-ES" b="1" dirty="0" err="1"/>
              <a:t>Tab</a:t>
            </a:r>
            <a:r>
              <a:rPr lang="es-ES" b="1" dirty="0"/>
              <a:t> A (2016) 10.1 4G</a:t>
            </a:r>
          </a:p>
        </p:txBody>
      </p:sp>
      <p:sp>
        <p:nvSpPr>
          <p:cNvPr id="17" name="TextBox 13">
            <a:extLst>
              <a:ext uri="{FF2B5EF4-FFF2-40B4-BE49-F238E27FC236}">
                <a16:creationId xmlns:a16="http://schemas.microsoft.com/office/drawing/2014/main" xmlns="" id="{74FFEB07-7CFC-4665-840E-5709CB586EBD}"/>
              </a:ext>
            </a:extLst>
          </p:cNvPr>
          <p:cNvSpPr txBox="1"/>
          <p:nvPr/>
        </p:nvSpPr>
        <p:spPr>
          <a:xfrm>
            <a:off x="1400456" y="5522200"/>
            <a:ext cx="3602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OMRON BF 511</a:t>
            </a:r>
          </a:p>
        </p:txBody>
      </p:sp>
      <p:sp>
        <p:nvSpPr>
          <p:cNvPr id="18" name="TextBox 13">
            <a:extLst>
              <a:ext uri="{FF2B5EF4-FFF2-40B4-BE49-F238E27FC236}">
                <a16:creationId xmlns:a16="http://schemas.microsoft.com/office/drawing/2014/main" xmlns="" id="{E28349DA-7035-4F30-BBC3-60C885FD8B1E}"/>
              </a:ext>
            </a:extLst>
          </p:cNvPr>
          <p:cNvSpPr txBox="1"/>
          <p:nvPr/>
        </p:nvSpPr>
        <p:spPr>
          <a:xfrm>
            <a:off x="8883578" y="3187727"/>
            <a:ext cx="3602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cap="all" dirty="0"/>
              <a:t>ONYX 9560</a:t>
            </a:r>
            <a:endParaRPr lang="es-ES" b="1" dirty="0"/>
          </a:p>
        </p:txBody>
      </p:sp>
      <p:sp>
        <p:nvSpPr>
          <p:cNvPr id="19" name="TextBox 13">
            <a:extLst>
              <a:ext uri="{FF2B5EF4-FFF2-40B4-BE49-F238E27FC236}">
                <a16:creationId xmlns:a16="http://schemas.microsoft.com/office/drawing/2014/main" xmlns="" id="{7D6B8AD4-B738-4A99-BE9C-58A20169D515}"/>
              </a:ext>
            </a:extLst>
          </p:cNvPr>
          <p:cNvSpPr txBox="1"/>
          <p:nvPr/>
        </p:nvSpPr>
        <p:spPr>
          <a:xfrm>
            <a:off x="8812358" y="5734167"/>
            <a:ext cx="3602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OMRON HEM-780</a:t>
            </a:r>
          </a:p>
        </p:txBody>
      </p:sp>
      <p:pic>
        <p:nvPicPr>
          <p:cNvPr id="1026" name="Picture 2" descr="Resultado de imagen de 3g 4g">
            <a:extLst>
              <a:ext uri="{FF2B5EF4-FFF2-40B4-BE49-F238E27FC236}">
                <a16:creationId xmlns:a16="http://schemas.microsoft.com/office/drawing/2014/main" xmlns="" id="{E8296D46-0998-42FD-BB5C-8C0967E1B1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7973" y="4951754"/>
            <a:ext cx="1464188" cy="1906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Resultado de imagen de telefonica">
            <a:extLst>
              <a:ext uri="{FF2B5EF4-FFF2-40B4-BE49-F238E27FC236}">
                <a16:creationId xmlns:a16="http://schemas.microsoft.com/office/drawing/2014/main" xmlns="" id="{9052F87F-E1EA-4F92-AB58-9C86266B5E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8890" y="5512689"/>
            <a:ext cx="2671373" cy="730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16610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11</a:t>
            </a:fld>
            <a:r>
              <a:rPr lang="es-ES" sz="2000" dirty="0"/>
              <a:t>/22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xmlns="" id="{CE4B125E-AFB5-4365-AB59-78D81A734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818" y="137244"/>
            <a:ext cx="8610600" cy="1293028"/>
          </a:xfrm>
        </p:spPr>
        <p:txBody>
          <a:bodyPr/>
          <a:lstStyle/>
          <a:p>
            <a:r>
              <a:rPr lang="es-ES_tradnl" dirty="0"/>
              <a:t>Características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xmlns="" id="{ADAEC259-2108-468D-8C3F-28134EAB5E86}"/>
              </a:ext>
            </a:extLst>
          </p:cNvPr>
          <p:cNvSpPr txBox="1"/>
          <p:nvPr/>
        </p:nvSpPr>
        <p:spPr>
          <a:xfrm>
            <a:off x="338018" y="1565037"/>
            <a:ext cx="11853982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Objetivos: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dirty="0"/>
              <a:t>Reducción en un 25% las urgencias por descompensación.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dirty="0"/>
              <a:t>Reducción en un 25% la probabilidad de ingreso no programado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dirty="0"/>
              <a:t>Reducción en un 20% la probabilidad de ingreso por descompensación.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dirty="0"/>
              <a:t>Reducción en un 25-30% la tasa de mortalidad del grupo focal.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dirty="0"/>
              <a:t>Reducción de un 25% en las consultas de atención primaria.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b="1" dirty="0"/>
              <a:t>Reducción de los costes en un 25%.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24392383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12</a:t>
            </a:fld>
            <a:r>
              <a:rPr lang="es-ES" sz="2000" dirty="0"/>
              <a:t>/22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xmlns="" id="{5A46FAC7-B420-4369-99F1-0554E2203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818" y="137244"/>
            <a:ext cx="8610600" cy="1293028"/>
          </a:xfrm>
        </p:spPr>
        <p:txBody>
          <a:bodyPr/>
          <a:lstStyle/>
          <a:p>
            <a:r>
              <a:rPr lang="es-ES_tradnl" dirty="0"/>
              <a:t>Tiempo y fases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xmlns="" id="{151D297C-B132-4192-B4C3-139BB440E058}"/>
              </a:ext>
            </a:extLst>
          </p:cNvPr>
          <p:cNvSpPr txBox="1"/>
          <p:nvPr/>
        </p:nvSpPr>
        <p:spPr>
          <a:xfrm>
            <a:off x="338018" y="1565037"/>
            <a:ext cx="11853982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Fecha de inicio: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Fecha de finalización: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 smtClean="0"/>
              <a:t>Cronograma</a:t>
            </a:r>
            <a:endParaRPr lang="es-E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endParaRPr lang="es-E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6900" y="2698917"/>
            <a:ext cx="9639300" cy="3333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304409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13</a:t>
            </a:fld>
            <a:r>
              <a:rPr lang="es-ES" sz="2000" dirty="0"/>
              <a:t>/22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xmlns="" id="{6B4BEE6E-E5EF-4F44-B226-C7A668E20D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2655" y="961220"/>
            <a:ext cx="3690586" cy="3649465"/>
          </a:xfrm>
          <a:prstGeom prst="rect">
            <a:avLst/>
          </a:prstGeom>
        </p:spPr>
      </p:pic>
      <p:sp>
        <p:nvSpPr>
          <p:cNvPr id="11" name="Título 1">
            <a:extLst>
              <a:ext uri="{FF2B5EF4-FFF2-40B4-BE49-F238E27FC236}">
                <a16:creationId xmlns:a16="http://schemas.microsoft.com/office/drawing/2014/main" xmlns="" id="{67271E57-A755-4D15-8F0C-6BEE847D5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818" y="137244"/>
            <a:ext cx="8610600" cy="1293028"/>
          </a:xfrm>
        </p:spPr>
        <p:txBody>
          <a:bodyPr/>
          <a:lstStyle/>
          <a:p>
            <a:r>
              <a:rPr lang="es-ES_tradnl" dirty="0"/>
              <a:t>Tiempo y fases (WBS)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xmlns="" id="{6B86E196-0EF3-465A-9ADF-1CAC3EEC00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708" y="1866820"/>
            <a:ext cx="6450410" cy="3180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408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xmlns="" id="{D0A1FEC7-D45B-494E-8A71-2D9082CF8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7232" y="1116399"/>
            <a:ext cx="3571875" cy="534352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14</a:t>
            </a:fld>
            <a:r>
              <a:rPr lang="es-ES" sz="2000" dirty="0"/>
              <a:t>/22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xmlns="" id="{345D5F3B-A621-4163-8264-4F58656E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818" y="137244"/>
            <a:ext cx="8610600" cy="1293028"/>
          </a:xfrm>
        </p:spPr>
        <p:txBody>
          <a:bodyPr/>
          <a:lstStyle/>
          <a:p>
            <a:r>
              <a:rPr lang="es-ES_tradnl" dirty="0"/>
              <a:t>Tiempo y fases (WBS)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xmlns="" id="{DD538F45-5580-49DC-8B2D-98951FD898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708" y="1866820"/>
            <a:ext cx="6450410" cy="3180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83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xmlns="" id="{3FD14774-0F21-41E9-821D-D124BF6C26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708" y="1866820"/>
            <a:ext cx="6450410" cy="318061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15</a:t>
            </a:fld>
            <a:r>
              <a:rPr lang="es-ES" sz="2000" dirty="0"/>
              <a:t>/22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xmlns="" id="{345D5F3B-A621-4163-8264-4F58656E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818" y="137244"/>
            <a:ext cx="8610600" cy="1293028"/>
          </a:xfrm>
        </p:spPr>
        <p:txBody>
          <a:bodyPr/>
          <a:lstStyle/>
          <a:p>
            <a:r>
              <a:rPr lang="es-ES_tradnl" dirty="0"/>
              <a:t>Tiempo y fases (WBS)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xmlns="" id="{54AAFEA4-B242-4194-A802-451A943666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9864" y="1101088"/>
            <a:ext cx="5334000" cy="39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3156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16</a:t>
            </a:fld>
            <a:r>
              <a:rPr lang="es-ES" sz="2000" dirty="0"/>
              <a:t>/22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xmlns="" id="{988CBAEE-F6AA-4803-B1B3-9B749514A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818" y="137244"/>
            <a:ext cx="8610600" cy="1293028"/>
          </a:xfrm>
        </p:spPr>
        <p:txBody>
          <a:bodyPr/>
          <a:lstStyle/>
          <a:p>
            <a:r>
              <a:rPr lang="es-ES_tradnl" dirty="0"/>
              <a:t>calidad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xmlns="" id="{DCC2A0E0-ED86-4512-945A-5C7F9572552B}"/>
              </a:ext>
            </a:extLst>
          </p:cNvPr>
          <p:cNvSpPr txBox="1"/>
          <p:nvPr/>
        </p:nvSpPr>
        <p:spPr>
          <a:xfrm>
            <a:off x="901217" y="1675819"/>
            <a:ext cx="963548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Auditorías internas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Auditorías externas: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Auditoría de renovación ISO 9001:2015</a:t>
            </a:r>
          </a:p>
          <a:p>
            <a:endParaRPr lang="es-E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Dispositivos con Marcado CE e ISO </a:t>
            </a:r>
            <a:r>
              <a:rPr lang="es-ES" sz="2400" dirty="0"/>
              <a:t>13485:2016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/>
              <a:t>Metodología ITIL</a:t>
            </a:r>
          </a:p>
          <a:p>
            <a:endParaRPr lang="es-ES_tradnl" sz="2400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xmlns="" id="{F02A96F4-017D-4B67-9259-031E94F805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525" y="1582615"/>
            <a:ext cx="2704258" cy="1043147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xmlns="" id="{94FEE7F5-8B47-4831-BE59-62FC2AE6FD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7205" y="4548989"/>
            <a:ext cx="1905000" cy="1362075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xmlns="" id="{DAA89F37-148B-4BF8-A9B6-2D5A947490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0000" y="4158463"/>
            <a:ext cx="2143125" cy="2143125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xmlns="" id="{71258840-B595-4B80-BC33-59EC4AA05F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0920" y="4599022"/>
            <a:ext cx="2143125" cy="946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402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17</a:t>
            </a:fld>
            <a:r>
              <a:rPr lang="es-ES" sz="2000" dirty="0"/>
              <a:t>/22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xmlns="" id="{C4D76957-1026-478C-AC57-D27832D5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818" y="137244"/>
            <a:ext cx="8610600" cy="1293028"/>
          </a:xfrm>
        </p:spPr>
        <p:txBody>
          <a:bodyPr/>
          <a:lstStyle/>
          <a:p>
            <a:r>
              <a:rPr lang="es-ES_tradnl" dirty="0"/>
              <a:t>presupuesto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xmlns="" id="{DF121DF3-A7F0-4A65-ADBD-8ACE646479F6}"/>
              </a:ext>
            </a:extLst>
          </p:cNvPr>
          <p:cNvSpPr txBox="1"/>
          <p:nvPr/>
        </p:nvSpPr>
        <p:spPr>
          <a:xfrm>
            <a:off x="552090" y="1424360"/>
            <a:ext cx="751422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Presupuesto final: 2.222.069,36€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Inyección pautada de capital: 7 pagos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000" dirty="0" smtClean="0"/>
              <a:t>Inicial 20</a:t>
            </a:r>
            <a:r>
              <a:rPr lang="es-ES" sz="2000" dirty="0"/>
              <a:t>% | </a:t>
            </a:r>
            <a:r>
              <a:rPr lang="es-ES" sz="2000" dirty="0" smtClean="0"/>
              <a:t>Diciembre</a:t>
            </a:r>
            <a:r>
              <a:rPr lang="es-ES" sz="2000" dirty="0" smtClean="0"/>
              <a:t> 20</a:t>
            </a:r>
            <a:r>
              <a:rPr lang="es-ES" sz="2000" dirty="0"/>
              <a:t>% | </a:t>
            </a:r>
            <a:r>
              <a:rPr lang="es-ES" sz="2000" dirty="0" smtClean="0"/>
              <a:t>Marzo 10</a:t>
            </a:r>
            <a:r>
              <a:rPr lang="es-ES" sz="2000" dirty="0"/>
              <a:t>% | </a:t>
            </a:r>
            <a:r>
              <a:rPr lang="es-ES" sz="2000" dirty="0" smtClean="0"/>
              <a:t>Abril 10</a:t>
            </a:r>
            <a:r>
              <a:rPr lang="es-ES" sz="2000" dirty="0"/>
              <a:t>% </a:t>
            </a:r>
            <a:r>
              <a:rPr lang="es-ES" sz="2000" dirty="0" smtClean="0"/>
              <a:t>Junio </a:t>
            </a:r>
            <a:r>
              <a:rPr lang="es-ES" sz="2000" dirty="0" smtClean="0"/>
              <a:t>20</a:t>
            </a:r>
            <a:r>
              <a:rPr lang="es-ES" sz="2000" dirty="0"/>
              <a:t>% </a:t>
            </a:r>
            <a:r>
              <a:rPr lang="es-ES" sz="2000" dirty="0" smtClean="0"/>
              <a:t>| Agosto </a:t>
            </a:r>
            <a:r>
              <a:rPr lang="es-ES" sz="2000" dirty="0"/>
              <a:t>10% | </a:t>
            </a:r>
            <a:r>
              <a:rPr lang="es-ES" sz="2000" dirty="0" smtClean="0"/>
              <a:t>Septiembre 10</a:t>
            </a:r>
            <a:r>
              <a:rPr lang="es-ES" sz="2000" dirty="0"/>
              <a:t>%</a:t>
            </a:r>
          </a:p>
          <a:p>
            <a:endParaRPr lang="es-ES" sz="2400" dirty="0"/>
          </a:p>
        </p:txBody>
      </p:sp>
      <p:graphicFrame>
        <p:nvGraphicFramePr>
          <p:cNvPr id="9" name="1 Gráfico">
            <a:extLst>
              <a:ext uri="{FF2B5EF4-FFF2-40B4-BE49-F238E27FC236}">
                <a16:creationId xmlns:a16="http://schemas.microsoft.com/office/drawing/2014/main" xmlns="" id="{00000000-0008-0000-00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27665889"/>
              </p:ext>
            </p:extLst>
          </p:nvPr>
        </p:nvGraphicFramePr>
        <p:xfrm>
          <a:off x="1893830" y="2433712"/>
          <a:ext cx="9087588" cy="42589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0111052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EA72CA66-3062-4C85-AB3F-209F5F6EE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9099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18</a:t>
            </a:fld>
            <a:r>
              <a:rPr lang="es-ES" sz="2000" dirty="0"/>
              <a:t>/24</a:t>
            </a:r>
          </a:p>
        </p:txBody>
      </p:sp>
      <p:graphicFrame>
        <p:nvGraphicFramePr>
          <p:cNvPr id="14" name="Diagrama 13">
            <a:extLst>
              <a:ext uri="{FF2B5EF4-FFF2-40B4-BE49-F238E27FC236}">
                <a16:creationId xmlns:a16="http://schemas.microsoft.com/office/drawing/2014/main" xmlns="" id="{189F9F86-9971-334E-90DE-0CE47668FF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53817613"/>
              </p:ext>
            </p:extLst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5" name="Flecha derecha 14">
            <a:extLst>
              <a:ext uri="{FF2B5EF4-FFF2-40B4-BE49-F238E27FC236}">
                <a16:creationId xmlns:a16="http://schemas.microsoft.com/office/drawing/2014/main" xmlns="" id="{8169F9E9-B02E-9C4F-AAE0-6695B9530A97}"/>
              </a:ext>
            </a:extLst>
          </p:cNvPr>
          <p:cNvSpPr/>
          <p:nvPr/>
        </p:nvSpPr>
        <p:spPr>
          <a:xfrm>
            <a:off x="1973020" y="5244860"/>
            <a:ext cx="379562" cy="1897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Anillo 15">
            <a:extLst>
              <a:ext uri="{FF2B5EF4-FFF2-40B4-BE49-F238E27FC236}">
                <a16:creationId xmlns:a16="http://schemas.microsoft.com/office/drawing/2014/main" xmlns="" id="{E4847C0D-D5C0-034B-AC76-16A584EEFE3B}"/>
              </a:ext>
            </a:extLst>
          </p:cNvPr>
          <p:cNvSpPr/>
          <p:nvPr/>
        </p:nvSpPr>
        <p:spPr>
          <a:xfrm>
            <a:off x="2128965" y="2219519"/>
            <a:ext cx="223617" cy="223617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7" name="Anillo 16">
            <a:extLst>
              <a:ext uri="{FF2B5EF4-FFF2-40B4-BE49-F238E27FC236}">
                <a16:creationId xmlns:a16="http://schemas.microsoft.com/office/drawing/2014/main" xmlns="" id="{7CF0BC9B-4F48-8E43-829F-3C4F973176D1}"/>
              </a:ext>
            </a:extLst>
          </p:cNvPr>
          <p:cNvSpPr/>
          <p:nvPr/>
        </p:nvSpPr>
        <p:spPr>
          <a:xfrm>
            <a:off x="3827699" y="2219519"/>
            <a:ext cx="152400" cy="152400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8" name="Anillo 17">
            <a:extLst>
              <a:ext uri="{FF2B5EF4-FFF2-40B4-BE49-F238E27FC236}">
                <a16:creationId xmlns:a16="http://schemas.microsoft.com/office/drawing/2014/main" xmlns="" id="{C2ED0A51-FD41-CC45-98BC-792010113921}"/>
              </a:ext>
            </a:extLst>
          </p:cNvPr>
          <p:cNvSpPr/>
          <p:nvPr/>
        </p:nvSpPr>
        <p:spPr>
          <a:xfrm>
            <a:off x="3827699" y="2699572"/>
            <a:ext cx="152400" cy="152400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9" name="Anillo 18">
            <a:extLst>
              <a:ext uri="{FF2B5EF4-FFF2-40B4-BE49-F238E27FC236}">
                <a16:creationId xmlns:a16="http://schemas.microsoft.com/office/drawing/2014/main" xmlns="" id="{5089576A-0BD8-3141-9700-67D806F10784}"/>
              </a:ext>
            </a:extLst>
          </p:cNvPr>
          <p:cNvSpPr/>
          <p:nvPr/>
        </p:nvSpPr>
        <p:spPr>
          <a:xfrm>
            <a:off x="3827699" y="3179625"/>
            <a:ext cx="152400" cy="152400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20" name="Anillo 19">
            <a:extLst>
              <a:ext uri="{FF2B5EF4-FFF2-40B4-BE49-F238E27FC236}">
                <a16:creationId xmlns:a16="http://schemas.microsoft.com/office/drawing/2014/main" xmlns="" id="{41220052-AE07-DD4A-AFF9-7275564AB419}"/>
              </a:ext>
            </a:extLst>
          </p:cNvPr>
          <p:cNvSpPr/>
          <p:nvPr/>
        </p:nvSpPr>
        <p:spPr>
          <a:xfrm>
            <a:off x="2162801" y="3732189"/>
            <a:ext cx="223617" cy="223617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21" name="Anillo 20">
            <a:extLst>
              <a:ext uri="{FF2B5EF4-FFF2-40B4-BE49-F238E27FC236}">
                <a16:creationId xmlns:a16="http://schemas.microsoft.com/office/drawing/2014/main" xmlns="" id="{84365D38-197A-8249-B2C3-92ECD11417AD}"/>
              </a:ext>
            </a:extLst>
          </p:cNvPr>
          <p:cNvSpPr/>
          <p:nvPr/>
        </p:nvSpPr>
        <p:spPr>
          <a:xfrm>
            <a:off x="3827699" y="3709655"/>
            <a:ext cx="152400" cy="152400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22" name="Anillo 21">
            <a:extLst>
              <a:ext uri="{FF2B5EF4-FFF2-40B4-BE49-F238E27FC236}">
                <a16:creationId xmlns:a16="http://schemas.microsoft.com/office/drawing/2014/main" xmlns="" id="{84413EE8-8876-2A4D-9770-BB7D2C172F69}"/>
              </a:ext>
            </a:extLst>
          </p:cNvPr>
          <p:cNvSpPr/>
          <p:nvPr/>
        </p:nvSpPr>
        <p:spPr>
          <a:xfrm>
            <a:off x="3827699" y="4071553"/>
            <a:ext cx="152400" cy="152400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23" name="Anillo 22">
            <a:extLst>
              <a:ext uri="{FF2B5EF4-FFF2-40B4-BE49-F238E27FC236}">
                <a16:creationId xmlns:a16="http://schemas.microsoft.com/office/drawing/2014/main" xmlns="" id="{A7F81AEC-66E8-AD48-8597-58DE4A8A2A80}"/>
              </a:ext>
            </a:extLst>
          </p:cNvPr>
          <p:cNvSpPr/>
          <p:nvPr/>
        </p:nvSpPr>
        <p:spPr>
          <a:xfrm>
            <a:off x="3827699" y="4463824"/>
            <a:ext cx="152400" cy="152400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24" name="Anillo 23">
            <a:extLst>
              <a:ext uri="{FF2B5EF4-FFF2-40B4-BE49-F238E27FC236}">
                <a16:creationId xmlns:a16="http://schemas.microsoft.com/office/drawing/2014/main" xmlns="" id="{282AAF2E-EBC2-2242-BE02-85C99593B576}"/>
              </a:ext>
            </a:extLst>
          </p:cNvPr>
          <p:cNvSpPr/>
          <p:nvPr/>
        </p:nvSpPr>
        <p:spPr>
          <a:xfrm>
            <a:off x="3822394" y="4803922"/>
            <a:ext cx="152400" cy="152400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7451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www.novages.es/wp-content/uploads/2016/05/Grafica-ascendente1.jpg">
            <a:extLst>
              <a:ext uri="{FF2B5EF4-FFF2-40B4-BE49-F238E27FC236}">
                <a16:creationId xmlns:a16="http://schemas.microsoft.com/office/drawing/2014/main" xmlns="" id="{3A06A4B5-01EC-438D-90C0-C3C1CBB075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1859" y="1899284"/>
            <a:ext cx="5530141" cy="334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19</a:t>
            </a:fld>
            <a:r>
              <a:rPr lang="es-ES" sz="2000" dirty="0"/>
              <a:t>/22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xmlns="" id="{3C7ABED4-F7D2-4DA5-AC79-471C4AA6D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818" y="137244"/>
            <a:ext cx="8610600" cy="1293028"/>
          </a:xfrm>
        </p:spPr>
        <p:txBody>
          <a:bodyPr/>
          <a:lstStyle/>
          <a:p>
            <a:r>
              <a:rPr lang="es-ES_tradnl" dirty="0"/>
              <a:t>Líneas futuras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xmlns="" id="{B0181D46-D805-4BB5-B119-EC502F6131A3}"/>
              </a:ext>
            </a:extLst>
          </p:cNvPr>
          <p:cNvSpPr txBox="1"/>
          <p:nvPr/>
        </p:nvSpPr>
        <p:spPr>
          <a:xfrm>
            <a:off x="552090" y="2090172"/>
            <a:ext cx="724141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Sostenibilidad del proyecto y servicio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Sistema escalable: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dirty="0"/>
              <a:t>Ampliación de enfermedades a </a:t>
            </a:r>
            <a:r>
              <a:rPr lang="es-ES" sz="2400" dirty="0" smtClean="0"/>
              <a:t>tratar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s-ES" sz="2400" dirty="0" smtClean="0"/>
              <a:t>Nuevas tecnologías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dirty="0"/>
              <a:t>Ampliación del número de </a:t>
            </a:r>
            <a:r>
              <a:rPr lang="es-ES" sz="2400" dirty="0" smtClean="0"/>
              <a:t>hospitales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s-ES" sz="2400" dirty="0" smtClean="0"/>
              <a:t>Mayor aceptación social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dirty="0"/>
              <a:t>Añadir nuevas funcionalidades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400" dirty="0"/>
          </a:p>
          <a:p>
            <a:endParaRPr lang="es-ES" sz="24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xmlns="" id="{CA5E6FD3-D60C-4C2B-B8BD-710F0180ADA2}"/>
              </a:ext>
            </a:extLst>
          </p:cNvPr>
          <p:cNvSpPr txBox="1"/>
          <p:nvPr/>
        </p:nvSpPr>
        <p:spPr>
          <a:xfrm>
            <a:off x="8566757" y="5209644"/>
            <a:ext cx="20056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dirty="0">
                <a:solidFill>
                  <a:schemeClr val="tx2"/>
                </a:solidFill>
              </a:rPr>
              <a:t>https://www.novages.es</a:t>
            </a:r>
          </a:p>
        </p:txBody>
      </p:sp>
    </p:spTree>
    <p:extLst>
      <p:ext uri="{BB962C8B-B14F-4D97-AF65-F5344CB8AC3E}">
        <p14:creationId xmlns:p14="http://schemas.microsoft.com/office/powerpoint/2010/main" val="8443226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D2B775D-6E9C-4F60-892F-E88AEF7D9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137" y="1584419"/>
            <a:ext cx="3689160" cy="3689160"/>
          </a:xfrm>
          <a:prstGeom prst="rect">
            <a:avLst/>
          </a:prstGeom>
          <a:ln w="31750" cap="sq">
            <a:noFill/>
            <a:miter lim="800000"/>
          </a:ln>
        </p:spPr>
      </p:pic>
      <p:pic>
        <p:nvPicPr>
          <p:cNvPr id="4" name="Imagen 4">
            <a:extLst>
              <a:ext uri="{FF2B5EF4-FFF2-40B4-BE49-F238E27FC236}">
                <a16:creationId xmlns:a16="http://schemas.microsoft.com/office/drawing/2014/main" xmlns="" id="{282E0993-4F0D-4BD0-B5B2-2CDA92FE2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6032" y="2089534"/>
            <a:ext cx="6250832" cy="2678928"/>
          </a:xfrm>
          <a:prstGeom prst="rect">
            <a:avLst/>
          </a:prstGeom>
          <a:ln w="31750" cap="sq">
            <a:noFill/>
            <a:miter lim="800000"/>
          </a:ln>
        </p:spPr>
      </p:pic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xmlns="" id="{1476AA9E-7E7A-40C1-85F2-AFC09E3AE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03751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14"/>
    </mc:Choice>
    <mc:Fallback xmlns="">
      <p:transition spd="slow" advTm="414"/>
    </mc:Fallback>
  </mc:AlternateContent>
</p:sld>
</file>

<file path=ppt/theme/theme1.xml><?xml version="1.0" encoding="utf-8"?>
<a:theme xmlns:a="http://schemas.openxmlformats.org/drawingml/2006/main" name="Estela de condensación">
  <a:themeElements>
    <a:clrScheme name="Estela de condensació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C4220D"/>
      </a:accent1>
      <a:accent2>
        <a:srgbClr val="EB7712"/>
      </a:accent2>
      <a:accent3>
        <a:srgbClr val="ECBD31"/>
      </a:accent3>
      <a:accent4>
        <a:srgbClr val="92CE4A"/>
      </a:accent4>
      <a:accent5>
        <a:srgbClr val="50CFB4"/>
      </a:accent5>
      <a:accent6>
        <a:srgbClr val="0D8EC5"/>
      </a:accent6>
      <a:hlink>
        <a:srgbClr val="EA5A0C"/>
      </a:hlink>
      <a:folHlink>
        <a:srgbClr val="F09D3A"/>
      </a:folHlink>
    </a:clrScheme>
    <a:fontScheme name="Estela de condensació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tela de condensació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Vapor Trail" id="{4FDF2955-7D9C-493C-B9F9-C205151B46CD}" vid="{FE1EB5C7-81A8-4CBA-AE6E-B3BF73DC389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1751</TotalTime>
  <Words>463</Words>
  <Application>Microsoft Office PowerPoint</Application>
  <PresentationFormat>Personalizado</PresentationFormat>
  <Paragraphs>186</Paragraphs>
  <Slides>21</Slides>
  <Notes>3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2" baseType="lpstr">
      <vt:lpstr>Estela de condensación</vt:lpstr>
      <vt:lpstr>Proyecto MeCuida</vt:lpstr>
      <vt:lpstr>Índice</vt:lpstr>
      <vt:lpstr>¿Quiénes somos?</vt:lpstr>
      <vt:lpstr>¿Quiénes somos?</vt:lpstr>
      <vt:lpstr>PROYECTOS</vt:lpstr>
      <vt:lpstr>organizaciones </vt:lpstr>
      <vt:lpstr>Índice</vt:lpstr>
      <vt:lpstr>Características</vt:lpstr>
      <vt:lpstr>Características</vt:lpstr>
      <vt:lpstr>Características</vt:lpstr>
      <vt:lpstr>Características</vt:lpstr>
      <vt:lpstr>Características</vt:lpstr>
      <vt:lpstr>Tiempo y fases</vt:lpstr>
      <vt:lpstr>Tiempo y fases (WBS)</vt:lpstr>
      <vt:lpstr>Tiempo y fases (WBS)</vt:lpstr>
      <vt:lpstr>Tiempo y fases (WBS)</vt:lpstr>
      <vt:lpstr>calidad</vt:lpstr>
      <vt:lpstr>presupuesto</vt:lpstr>
      <vt:lpstr>Índice</vt:lpstr>
      <vt:lpstr>Líneas futuras</vt:lpstr>
      <vt:lpstr>Presentación de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MeCuida</dc:title>
  <dc:creator>Gallego Sánchez Adrián</dc:creator>
  <cp:lastModifiedBy>Arturo Paniagua</cp:lastModifiedBy>
  <cp:revision>158</cp:revision>
  <dcterms:created xsi:type="dcterms:W3CDTF">2018-11-10T15:50:50Z</dcterms:created>
  <dcterms:modified xsi:type="dcterms:W3CDTF">2019-01-12T17:48:55Z</dcterms:modified>
</cp:coreProperties>
</file>