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00" r:id="rId4"/>
    <p:sldId id="308" r:id="rId5"/>
    <p:sldId id="301" r:id="rId6"/>
    <p:sldId id="303" r:id="rId7"/>
    <p:sldId id="298" r:id="rId8"/>
    <p:sldId id="304" r:id="rId9"/>
    <p:sldId id="321" r:id="rId10"/>
    <p:sldId id="320" r:id="rId11"/>
    <p:sldId id="323" r:id="rId12"/>
    <p:sldId id="322" r:id="rId13"/>
    <p:sldId id="305" r:id="rId14"/>
    <p:sldId id="309" r:id="rId15"/>
    <p:sldId id="318" r:id="rId16"/>
    <p:sldId id="319" r:id="rId17"/>
    <p:sldId id="306" r:id="rId18"/>
    <p:sldId id="307" r:id="rId19"/>
    <p:sldId id="299" r:id="rId20"/>
    <p:sldId id="289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5" autoAdjust="0"/>
    <p:restoredTop sz="96132" autoAdjust="0"/>
  </p:normalViewPr>
  <p:slideViewPr>
    <p:cSldViewPr snapToGrid="0" snapToObjects="1">
      <p:cViewPr varScale="1">
        <p:scale>
          <a:sx n="109" d="100"/>
          <a:sy n="109" d="100"/>
        </p:scale>
        <p:origin x="81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ito_\Documents\Github\Gestion_Proyectos\Documentos_generados\5.%20Costes%20y%20Justificaci&#243;n%20t&#233;cnica\Estimacion%20cos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2400" dirty="0" err="1"/>
              <a:t>Ingresos</a:t>
            </a:r>
            <a:endParaRPr lang="en-US" dirty="0"/>
          </a:p>
        </c:rich>
      </c:tx>
      <c:layout>
        <c:manualLayout>
          <c:xMode val="edge"/>
          <c:yMode val="edge"/>
          <c:x val="0.6478879764355514"/>
          <c:y val="2.3855790805377131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Ingresos</c:v>
          </c:tx>
          <c:marker>
            <c:symbol val="none"/>
          </c:marker>
          <c:cat>
            <c:strRef>
              <c:f>Hoja1!$X$2:$AJ$2</c:f>
              <c:strCache>
                <c:ptCount val="13"/>
                <c:pt idx="0">
                  <c:v>SEPTIEMBRE</c:v>
                </c:pt>
                <c:pt idx="1">
                  <c:v>OCTUBRE</c:v>
                </c:pt>
                <c:pt idx="2">
                  <c:v>NOVIEMBRE</c:v>
                </c:pt>
                <c:pt idx="3">
                  <c:v>DICIEMBRE</c:v>
                </c:pt>
                <c:pt idx="4">
                  <c:v>ENERO</c:v>
                </c:pt>
                <c:pt idx="5">
                  <c:v>FEBRERO</c:v>
                </c:pt>
                <c:pt idx="6">
                  <c:v>MARZO</c:v>
                </c:pt>
                <c:pt idx="7">
                  <c:v>ABRIL</c:v>
                </c:pt>
                <c:pt idx="8">
                  <c:v>MAYO</c:v>
                </c:pt>
                <c:pt idx="9">
                  <c:v>JUNIO</c:v>
                </c:pt>
                <c:pt idx="10">
                  <c:v>JULIO</c:v>
                </c:pt>
                <c:pt idx="11">
                  <c:v>AGOSTO</c:v>
                </c:pt>
                <c:pt idx="12">
                  <c:v>SEPTIEMBRE</c:v>
                </c:pt>
              </c:strCache>
            </c:strRef>
          </c:cat>
          <c:val>
            <c:numRef>
              <c:f>Hoja1!$X$12:$AJ$12</c:f>
              <c:numCache>
                <c:formatCode>#,##0.00\ "€"</c:formatCode>
                <c:ptCount val="13"/>
                <c:pt idx="0">
                  <c:v>444413.87199999997</c:v>
                </c:pt>
                <c:pt idx="1">
                  <c:v>444413.87199999997</c:v>
                </c:pt>
                <c:pt idx="2">
                  <c:v>444413.87199999997</c:v>
                </c:pt>
                <c:pt idx="3">
                  <c:v>888827.74399999995</c:v>
                </c:pt>
                <c:pt idx="4">
                  <c:v>888827.74399999995</c:v>
                </c:pt>
                <c:pt idx="5">
                  <c:v>888827.74399999995</c:v>
                </c:pt>
                <c:pt idx="6">
                  <c:v>1111034.68</c:v>
                </c:pt>
                <c:pt idx="7">
                  <c:v>1333241.6159999999</c:v>
                </c:pt>
                <c:pt idx="8">
                  <c:v>1333241.6159999999</c:v>
                </c:pt>
                <c:pt idx="9">
                  <c:v>1777655.4879999999</c:v>
                </c:pt>
                <c:pt idx="10">
                  <c:v>1777655.4879999999</c:v>
                </c:pt>
                <c:pt idx="11">
                  <c:v>1999862.4239999999</c:v>
                </c:pt>
                <c:pt idx="12">
                  <c:v>2222069.36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62-4932-B8E3-0694E3D08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7472384"/>
        <c:axId val="168608320"/>
      </c:lineChart>
      <c:catAx>
        <c:axId val="2274723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n-US"/>
          </a:p>
        </c:txPr>
        <c:crossAx val="168608320"/>
        <c:crosses val="autoZero"/>
        <c:auto val="1"/>
        <c:lblAlgn val="ctr"/>
        <c:lblOffset val="100"/>
        <c:noMultiLvlLbl val="0"/>
      </c:catAx>
      <c:valAx>
        <c:axId val="168608320"/>
        <c:scaling>
          <c:orientation val="minMax"/>
        </c:scaling>
        <c:delete val="0"/>
        <c:axPos val="l"/>
        <c:majorGridlines/>
        <c:numFmt formatCode="#,##0.00\ &quot;€&quot;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2274723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5288988492395075"/>
          <c:y val="0.27926948073445707"/>
          <c:w val="0.21971973849444423"/>
          <c:h val="0.11867654412289953"/>
        </c:manualLayout>
      </c:layout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F01FC8-0AB4-44AB-8B6C-5A73F1D8CBC2}" type="doc">
      <dgm:prSet loTypeId="urn:microsoft.com/office/officeart/2005/8/layout/rings+Icon" loCatId="officeonline" qsTypeId="urn:microsoft.com/office/officeart/2009/2/quickstyle/3d8" qsCatId="3D" csTypeId="urn:microsoft.com/office/officeart/2005/8/colors/accent1_5" csCatId="accent1" phldr="1"/>
      <dgm:spPr/>
    </dgm:pt>
    <dgm:pt modelId="{2D76CB2B-CF81-43DF-842E-76CC245C4B42}">
      <dgm:prSet phldrT="[Text]"/>
      <dgm:spPr/>
      <dgm:t>
        <a:bodyPr/>
        <a:lstStyle/>
        <a:p>
          <a:r>
            <a:rPr lang="es-ES" dirty="0"/>
            <a:t>Bogotá</a:t>
          </a:r>
        </a:p>
      </dgm:t>
    </dgm:pt>
    <dgm:pt modelId="{D65F8789-E75A-4D2D-ACC4-BDB67765C969}" type="parTrans" cxnId="{C7779B40-FC68-4A50-BF03-22B4AA10C5E7}">
      <dgm:prSet/>
      <dgm:spPr/>
      <dgm:t>
        <a:bodyPr/>
        <a:lstStyle/>
        <a:p>
          <a:endParaRPr lang="es-ES"/>
        </a:p>
      </dgm:t>
    </dgm:pt>
    <dgm:pt modelId="{EC0932E2-865A-4A66-98F7-63978B228FF7}" type="sibTrans" cxnId="{C7779B40-FC68-4A50-BF03-22B4AA10C5E7}">
      <dgm:prSet/>
      <dgm:spPr/>
      <dgm:t>
        <a:bodyPr/>
        <a:lstStyle/>
        <a:p>
          <a:endParaRPr lang="es-ES"/>
        </a:p>
      </dgm:t>
    </dgm:pt>
    <dgm:pt modelId="{EC4CA185-2A91-43BE-BD1B-89FAAB4A4528}">
      <dgm:prSet phldrT="[Text]"/>
      <dgm:spPr/>
      <dgm:t>
        <a:bodyPr/>
        <a:lstStyle/>
        <a:p>
          <a:r>
            <a:rPr lang="es-ES" dirty="0"/>
            <a:t>Buenos Aires</a:t>
          </a:r>
        </a:p>
      </dgm:t>
    </dgm:pt>
    <dgm:pt modelId="{1068E828-17DC-4896-8F81-B2CAA6208C99}" type="parTrans" cxnId="{701996A7-4E03-4361-9B53-5B64124D373E}">
      <dgm:prSet/>
      <dgm:spPr/>
      <dgm:t>
        <a:bodyPr/>
        <a:lstStyle/>
        <a:p>
          <a:endParaRPr lang="es-ES"/>
        </a:p>
      </dgm:t>
    </dgm:pt>
    <dgm:pt modelId="{D632C018-0615-43D2-A15A-2C0F41D7EA94}" type="sibTrans" cxnId="{701996A7-4E03-4361-9B53-5B64124D373E}">
      <dgm:prSet/>
      <dgm:spPr/>
      <dgm:t>
        <a:bodyPr/>
        <a:lstStyle/>
        <a:p>
          <a:endParaRPr lang="es-ES"/>
        </a:p>
      </dgm:t>
    </dgm:pt>
    <dgm:pt modelId="{6E516DFC-BBD3-4337-AE2B-9C412389F4B6}">
      <dgm:prSet phldrT="[Text]"/>
      <dgm:spPr/>
      <dgm:t>
        <a:bodyPr/>
        <a:lstStyle/>
        <a:p>
          <a:r>
            <a:rPr lang="es-ES" dirty="0"/>
            <a:t>Granada</a:t>
          </a:r>
        </a:p>
      </dgm:t>
    </dgm:pt>
    <dgm:pt modelId="{26752794-C523-462B-AA75-0E2117D31950}" type="parTrans" cxnId="{EBEA0697-B0B9-4499-BB91-094132CB0CF8}">
      <dgm:prSet/>
      <dgm:spPr/>
      <dgm:t>
        <a:bodyPr/>
        <a:lstStyle/>
        <a:p>
          <a:endParaRPr lang="es-ES"/>
        </a:p>
      </dgm:t>
    </dgm:pt>
    <dgm:pt modelId="{2CBA2658-5C3F-43CD-A123-691DE9845A50}" type="sibTrans" cxnId="{EBEA0697-B0B9-4499-BB91-094132CB0CF8}">
      <dgm:prSet/>
      <dgm:spPr/>
      <dgm:t>
        <a:bodyPr/>
        <a:lstStyle/>
        <a:p>
          <a:endParaRPr lang="es-ES"/>
        </a:p>
      </dgm:t>
    </dgm:pt>
    <dgm:pt modelId="{31FD82A1-F4FE-44EF-B312-5909A85279AB}" type="pres">
      <dgm:prSet presAssocID="{48F01FC8-0AB4-44AB-8B6C-5A73F1D8CBC2}" presName="Name0" presStyleCnt="0">
        <dgm:presLayoutVars>
          <dgm:chMax val="7"/>
          <dgm:dir/>
          <dgm:resizeHandles val="exact"/>
        </dgm:presLayoutVars>
      </dgm:prSet>
      <dgm:spPr/>
    </dgm:pt>
    <dgm:pt modelId="{8D2BA6FC-43D8-4E1B-9B35-8A0F62895777}" type="pres">
      <dgm:prSet presAssocID="{48F01FC8-0AB4-44AB-8B6C-5A73F1D8CBC2}" presName="ellipse1" presStyleLbl="vennNode1" presStyleIdx="0" presStyleCnt="3">
        <dgm:presLayoutVars>
          <dgm:bulletEnabled val="1"/>
        </dgm:presLayoutVars>
      </dgm:prSet>
      <dgm:spPr/>
    </dgm:pt>
    <dgm:pt modelId="{FD4394BC-3D6B-4E2D-A7C8-75D985B1D702}" type="pres">
      <dgm:prSet presAssocID="{48F01FC8-0AB4-44AB-8B6C-5A73F1D8CBC2}" presName="ellipse2" presStyleLbl="vennNode1" presStyleIdx="1" presStyleCnt="3">
        <dgm:presLayoutVars>
          <dgm:bulletEnabled val="1"/>
        </dgm:presLayoutVars>
      </dgm:prSet>
      <dgm:spPr/>
    </dgm:pt>
    <dgm:pt modelId="{9682C507-032C-4EC9-A13F-C891C31BD75D}" type="pres">
      <dgm:prSet presAssocID="{48F01FC8-0AB4-44AB-8B6C-5A73F1D8CBC2}" presName="ellipse3" presStyleLbl="vennNode1" presStyleIdx="2" presStyleCnt="3" custLinFactNeighborX="-2747">
        <dgm:presLayoutVars>
          <dgm:bulletEnabled val="1"/>
        </dgm:presLayoutVars>
      </dgm:prSet>
      <dgm:spPr/>
    </dgm:pt>
  </dgm:ptLst>
  <dgm:cxnLst>
    <dgm:cxn modelId="{339FC421-3531-4E3F-84EF-4195046F61CF}" type="presOf" srcId="{48F01FC8-0AB4-44AB-8B6C-5A73F1D8CBC2}" destId="{31FD82A1-F4FE-44EF-B312-5909A85279AB}" srcOrd="0" destOrd="0" presId="urn:microsoft.com/office/officeart/2005/8/layout/rings+Icon"/>
    <dgm:cxn modelId="{C7779B40-FC68-4A50-BF03-22B4AA10C5E7}" srcId="{48F01FC8-0AB4-44AB-8B6C-5A73F1D8CBC2}" destId="{2D76CB2B-CF81-43DF-842E-76CC245C4B42}" srcOrd="0" destOrd="0" parTransId="{D65F8789-E75A-4D2D-ACC4-BDB67765C969}" sibTransId="{EC0932E2-865A-4A66-98F7-63978B228FF7}"/>
    <dgm:cxn modelId="{C6CB545E-9E63-4B2B-B03A-66672F575174}" type="presOf" srcId="{EC4CA185-2A91-43BE-BD1B-89FAAB4A4528}" destId="{FD4394BC-3D6B-4E2D-A7C8-75D985B1D702}" srcOrd="0" destOrd="0" presId="urn:microsoft.com/office/officeart/2005/8/layout/rings+Icon"/>
    <dgm:cxn modelId="{B4636969-D6EF-4755-AF4B-C392BB5F2AAF}" type="presOf" srcId="{6E516DFC-BBD3-4337-AE2B-9C412389F4B6}" destId="{9682C507-032C-4EC9-A13F-C891C31BD75D}" srcOrd="0" destOrd="0" presId="urn:microsoft.com/office/officeart/2005/8/layout/rings+Icon"/>
    <dgm:cxn modelId="{EBEA0697-B0B9-4499-BB91-094132CB0CF8}" srcId="{48F01FC8-0AB4-44AB-8B6C-5A73F1D8CBC2}" destId="{6E516DFC-BBD3-4337-AE2B-9C412389F4B6}" srcOrd="2" destOrd="0" parTransId="{26752794-C523-462B-AA75-0E2117D31950}" sibTransId="{2CBA2658-5C3F-43CD-A123-691DE9845A50}"/>
    <dgm:cxn modelId="{701996A7-4E03-4361-9B53-5B64124D373E}" srcId="{48F01FC8-0AB4-44AB-8B6C-5A73F1D8CBC2}" destId="{EC4CA185-2A91-43BE-BD1B-89FAAB4A4528}" srcOrd="1" destOrd="0" parTransId="{1068E828-17DC-4896-8F81-B2CAA6208C99}" sibTransId="{D632C018-0615-43D2-A15A-2C0F41D7EA94}"/>
    <dgm:cxn modelId="{10BFD1B7-E0E0-4404-A50E-4628B6F7B27E}" type="presOf" srcId="{2D76CB2B-CF81-43DF-842E-76CC245C4B42}" destId="{8D2BA6FC-43D8-4E1B-9B35-8A0F62895777}" srcOrd="0" destOrd="0" presId="urn:microsoft.com/office/officeart/2005/8/layout/rings+Icon"/>
    <dgm:cxn modelId="{097B9454-9B85-4C6E-AB8E-DDD29D7FDA8E}" type="presParOf" srcId="{31FD82A1-F4FE-44EF-B312-5909A85279AB}" destId="{8D2BA6FC-43D8-4E1B-9B35-8A0F62895777}" srcOrd="0" destOrd="0" presId="urn:microsoft.com/office/officeart/2005/8/layout/rings+Icon"/>
    <dgm:cxn modelId="{CA840AFC-02C1-44B3-BC82-12F89F982E5C}" type="presParOf" srcId="{31FD82A1-F4FE-44EF-B312-5909A85279AB}" destId="{FD4394BC-3D6B-4E2D-A7C8-75D985B1D702}" srcOrd="1" destOrd="0" presId="urn:microsoft.com/office/officeart/2005/8/layout/rings+Icon"/>
    <dgm:cxn modelId="{015E6149-511B-496D-85C6-5D08D32F990D}" type="presParOf" srcId="{31FD82A1-F4FE-44EF-B312-5909A85279AB}" destId="{9682C507-032C-4EC9-A13F-C891C31BD75D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3EEEEBB-EC00-4A90-BFFC-6457DEBE05A3}" type="doc">
      <dgm:prSet loTypeId="urn:microsoft.com/office/officeart/2005/8/layout/chart3" loCatId="cycle" qsTypeId="urn:microsoft.com/office/officeart/2005/8/quickstyle/3d7" qsCatId="3D" csTypeId="urn:microsoft.com/office/officeart/2005/8/colors/colorful4" csCatId="colorful" phldr="1"/>
      <dgm:spPr/>
    </dgm:pt>
    <dgm:pt modelId="{4AD2C595-A50E-4F44-9096-537249958812}">
      <dgm:prSet phldrT="[Text]"/>
      <dgm:spPr/>
      <dgm:t>
        <a:bodyPr/>
        <a:lstStyle/>
        <a:p>
          <a:r>
            <a:rPr lang="es-ES" dirty="0"/>
            <a:t>Electronic </a:t>
          </a:r>
          <a:r>
            <a:rPr lang="es-ES" dirty="0" err="1"/>
            <a:t>Consultation</a:t>
          </a:r>
          <a:r>
            <a:rPr lang="es-ES" dirty="0"/>
            <a:t> </a:t>
          </a:r>
          <a:r>
            <a:rPr lang="es-ES" dirty="0" err="1"/>
            <a:t>Register</a:t>
          </a:r>
          <a:endParaRPr lang="es-ES" dirty="0"/>
        </a:p>
      </dgm:t>
    </dgm:pt>
    <dgm:pt modelId="{9AB47C28-B9DA-401D-B4E0-8E7E20BB1EF8}" type="parTrans" cxnId="{27DD6416-1128-42BE-8016-319A7866CDD2}">
      <dgm:prSet/>
      <dgm:spPr/>
      <dgm:t>
        <a:bodyPr/>
        <a:lstStyle/>
        <a:p>
          <a:endParaRPr lang="es-ES"/>
        </a:p>
      </dgm:t>
    </dgm:pt>
    <dgm:pt modelId="{465EE57A-012B-48A1-B681-2EDA85CA9A84}" type="sibTrans" cxnId="{27DD6416-1128-42BE-8016-319A7866CDD2}">
      <dgm:prSet/>
      <dgm:spPr/>
      <dgm:t>
        <a:bodyPr/>
        <a:lstStyle/>
        <a:p>
          <a:endParaRPr lang="es-ES"/>
        </a:p>
      </dgm:t>
    </dgm:pt>
    <dgm:pt modelId="{62CEA1F6-4177-49BB-9564-9CE486905014}">
      <dgm:prSet phldrT="[Text]"/>
      <dgm:spPr/>
      <dgm:t>
        <a:bodyPr/>
        <a:lstStyle/>
        <a:p>
          <a:r>
            <a:rPr lang="es-ES" dirty="0"/>
            <a:t>Medical Cloud</a:t>
          </a:r>
        </a:p>
      </dgm:t>
    </dgm:pt>
    <dgm:pt modelId="{BD83E6AD-0EA3-4A87-83EE-CFBE2D197971}" type="parTrans" cxnId="{294BCC38-7A0B-4595-AC10-07DA62698266}">
      <dgm:prSet/>
      <dgm:spPr/>
      <dgm:t>
        <a:bodyPr/>
        <a:lstStyle/>
        <a:p>
          <a:endParaRPr lang="es-ES"/>
        </a:p>
      </dgm:t>
    </dgm:pt>
    <dgm:pt modelId="{817F037D-BBA3-4449-809B-AA42C5121D37}" type="sibTrans" cxnId="{294BCC38-7A0B-4595-AC10-07DA62698266}">
      <dgm:prSet/>
      <dgm:spPr/>
      <dgm:t>
        <a:bodyPr/>
        <a:lstStyle/>
        <a:p>
          <a:endParaRPr lang="es-ES"/>
        </a:p>
      </dgm:t>
    </dgm:pt>
    <dgm:pt modelId="{90E9121C-8D5E-49DF-87AD-935589FC655F}">
      <dgm:prSet phldrT="[Text]"/>
      <dgm:spPr/>
      <dgm:t>
        <a:bodyPr/>
        <a:lstStyle/>
        <a:p>
          <a:r>
            <a:rPr lang="es-ES" dirty="0" err="1"/>
            <a:t>Telemedicine</a:t>
          </a:r>
          <a:r>
            <a:rPr lang="es-ES" dirty="0"/>
            <a:t> Network</a:t>
          </a:r>
        </a:p>
      </dgm:t>
    </dgm:pt>
    <dgm:pt modelId="{40E1B875-B9FF-44B0-A2C1-B872C8ACEF41}" type="parTrans" cxnId="{D71AB950-1575-4220-9542-4EBB9DBBB405}">
      <dgm:prSet/>
      <dgm:spPr/>
      <dgm:t>
        <a:bodyPr/>
        <a:lstStyle/>
        <a:p>
          <a:endParaRPr lang="es-ES"/>
        </a:p>
      </dgm:t>
    </dgm:pt>
    <dgm:pt modelId="{0B2DDF2C-2187-4506-B82C-6CCE3434FE11}" type="sibTrans" cxnId="{D71AB950-1575-4220-9542-4EBB9DBBB405}">
      <dgm:prSet/>
      <dgm:spPr/>
      <dgm:t>
        <a:bodyPr/>
        <a:lstStyle/>
        <a:p>
          <a:endParaRPr lang="es-ES"/>
        </a:p>
      </dgm:t>
    </dgm:pt>
    <dgm:pt modelId="{7E42F87C-838A-4C89-970D-B1523139A123}">
      <dgm:prSet phldrT="[Text]"/>
      <dgm:spPr/>
      <dgm:t>
        <a:bodyPr/>
        <a:lstStyle/>
        <a:p>
          <a:r>
            <a:rPr lang="es-ES" dirty="0"/>
            <a:t>Burkina Faso</a:t>
          </a:r>
        </a:p>
      </dgm:t>
    </dgm:pt>
    <dgm:pt modelId="{8C1AE998-7C23-4B50-AC68-6EA442184BB6}" type="parTrans" cxnId="{3341F161-CE65-4CC2-9DF9-B62E1284F084}">
      <dgm:prSet/>
      <dgm:spPr/>
      <dgm:t>
        <a:bodyPr/>
        <a:lstStyle/>
        <a:p>
          <a:endParaRPr lang="es-ES"/>
        </a:p>
      </dgm:t>
    </dgm:pt>
    <dgm:pt modelId="{09D4D4E9-5457-45B0-9B56-23872E222BE2}" type="sibTrans" cxnId="{3341F161-CE65-4CC2-9DF9-B62E1284F084}">
      <dgm:prSet/>
      <dgm:spPr/>
      <dgm:t>
        <a:bodyPr/>
        <a:lstStyle/>
        <a:p>
          <a:endParaRPr lang="es-ES"/>
        </a:p>
      </dgm:t>
    </dgm:pt>
    <dgm:pt modelId="{26867196-84E0-4C74-9CD8-FB621F7A3CF7}">
      <dgm:prSet phldrT="[Text]"/>
      <dgm:spPr/>
      <dgm:t>
        <a:bodyPr/>
        <a:lstStyle/>
        <a:p>
          <a:r>
            <a:rPr lang="es-ES" dirty="0"/>
            <a:t>EEUU</a:t>
          </a:r>
        </a:p>
      </dgm:t>
    </dgm:pt>
    <dgm:pt modelId="{04F5BF17-F8A9-49D3-9255-F8D34808C62B}" type="parTrans" cxnId="{54D4BD19-3F2F-4C48-A8A3-E5D3ABC7623E}">
      <dgm:prSet/>
      <dgm:spPr/>
      <dgm:t>
        <a:bodyPr/>
        <a:lstStyle/>
        <a:p>
          <a:endParaRPr lang="es-ES"/>
        </a:p>
      </dgm:t>
    </dgm:pt>
    <dgm:pt modelId="{0A7DF652-2DA6-437B-81D2-39E737843C87}" type="sibTrans" cxnId="{54D4BD19-3F2F-4C48-A8A3-E5D3ABC7623E}">
      <dgm:prSet/>
      <dgm:spPr/>
      <dgm:t>
        <a:bodyPr/>
        <a:lstStyle/>
        <a:p>
          <a:endParaRPr lang="es-ES"/>
        </a:p>
      </dgm:t>
    </dgm:pt>
    <dgm:pt modelId="{9DC3C57F-CFF2-4EDB-B7BC-501CD22AE546}">
      <dgm:prSet phldrT="[Text]"/>
      <dgm:spPr/>
      <dgm:t>
        <a:bodyPr/>
        <a:lstStyle/>
        <a:p>
          <a:r>
            <a:rPr lang="es-ES" dirty="0"/>
            <a:t>Suiza</a:t>
          </a:r>
        </a:p>
      </dgm:t>
    </dgm:pt>
    <dgm:pt modelId="{530EBEEC-9994-4ABD-B434-80736FE84D0E}" type="parTrans" cxnId="{1149F7A7-8356-4C71-ABEE-7B0E373A8A6E}">
      <dgm:prSet/>
      <dgm:spPr/>
      <dgm:t>
        <a:bodyPr/>
        <a:lstStyle/>
        <a:p>
          <a:endParaRPr lang="es-ES"/>
        </a:p>
      </dgm:t>
    </dgm:pt>
    <dgm:pt modelId="{A18B1CF0-0AD7-4246-9F64-41AE1E346BA1}" type="sibTrans" cxnId="{1149F7A7-8356-4C71-ABEE-7B0E373A8A6E}">
      <dgm:prSet/>
      <dgm:spPr/>
      <dgm:t>
        <a:bodyPr/>
        <a:lstStyle/>
        <a:p>
          <a:endParaRPr lang="es-ES"/>
        </a:p>
      </dgm:t>
    </dgm:pt>
    <dgm:pt modelId="{7E96C1C9-B828-4C1C-91F3-9003ABD7606C}" type="pres">
      <dgm:prSet presAssocID="{D3EEEEBB-EC00-4A90-BFFC-6457DEBE05A3}" presName="compositeShape" presStyleCnt="0">
        <dgm:presLayoutVars>
          <dgm:chMax val="7"/>
          <dgm:dir/>
          <dgm:resizeHandles val="exact"/>
        </dgm:presLayoutVars>
      </dgm:prSet>
      <dgm:spPr/>
    </dgm:pt>
    <dgm:pt modelId="{109C35C1-D1D6-4906-94D9-62FF3D9210BD}" type="pres">
      <dgm:prSet presAssocID="{D3EEEEBB-EC00-4A90-BFFC-6457DEBE05A3}" presName="wedge1" presStyleLbl="node1" presStyleIdx="0" presStyleCnt="3"/>
      <dgm:spPr/>
    </dgm:pt>
    <dgm:pt modelId="{67792E96-F01E-4406-A4D1-AC2C360856B2}" type="pres">
      <dgm:prSet presAssocID="{D3EEEEBB-EC00-4A90-BFFC-6457DEBE05A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F9C088F2-B973-4425-AE9A-7F625A894DA2}" type="pres">
      <dgm:prSet presAssocID="{D3EEEEBB-EC00-4A90-BFFC-6457DEBE05A3}" presName="wedge2" presStyleLbl="node1" presStyleIdx="1" presStyleCnt="3"/>
      <dgm:spPr/>
    </dgm:pt>
    <dgm:pt modelId="{306A89AE-40A9-4317-85F1-E5A6830E0C11}" type="pres">
      <dgm:prSet presAssocID="{D3EEEEBB-EC00-4A90-BFFC-6457DEBE05A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298B1C8-793E-4CDF-9535-561F0109647A}" type="pres">
      <dgm:prSet presAssocID="{D3EEEEBB-EC00-4A90-BFFC-6457DEBE05A3}" presName="wedge3" presStyleLbl="node1" presStyleIdx="2" presStyleCnt="3"/>
      <dgm:spPr/>
    </dgm:pt>
    <dgm:pt modelId="{863198BC-EB7A-4174-80E6-A3FF1F894D96}" type="pres">
      <dgm:prSet presAssocID="{D3EEEEBB-EC00-4A90-BFFC-6457DEBE05A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27DD6416-1128-42BE-8016-319A7866CDD2}" srcId="{D3EEEEBB-EC00-4A90-BFFC-6457DEBE05A3}" destId="{4AD2C595-A50E-4F44-9096-537249958812}" srcOrd="0" destOrd="0" parTransId="{9AB47C28-B9DA-401D-B4E0-8E7E20BB1EF8}" sibTransId="{465EE57A-012B-48A1-B681-2EDA85CA9A84}"/>
    <dgm:cxn modelId="{54D4BD19-3F2F-4C48-A8A3-E5D3ABC7623E}" srcId="{62CEA1F6-4177-49BB-9564-9CE486905014}" destId="{26867196-84E0-4C74-9CD8-FB621F7A3CF7}" srcOrd="0" destOrd="0" parTransId="{04F5BF17-F8A9-49D3-9255-F8D34808C62B}" sibTransId="{0A7DF652-2DA6-437B-81D2-39E737843C87}"/>
    <dgm:cxn modelId="{2167692D-9A56-4155-A04E-C24C2BD1F4B5}" type="presOf" srcId="{9DC3C57F-CFF2-4EDB-B7BC-501CD22AE546}" destId="{863198BC-EB7A-4174-80E6-A3FF1F894D96}" srcOrd="1" destOrd="1" presId="urn:microsoft.com/office/officeart/2005/8/layout/chart3"/>
    <dgm:cxn modelId="{B3CDD930-0BEF-42C8-8651-40134E2E19F8}" type="presOf" srcId="{D3EEEEBB-EC00-4A90-BFFC-6457DEBE05A3}" destId="{7E96C1C9-B828-4C1C-91F3-9003ABD7606C}" srcOrd="0" destOrd="0" presId="urn:microsoft.com/office/officeart/2005/8/layout/chart3"/>
    <dgm:cxn modelId="{D15C4436-ED6B-40A6-9A81-324CAE370D5B}" type="presOf" srcId="{4AD2C595-A50E-4F44-9096-537249958812}" destId="{67792E96-F01E-4406-A4D1-AC2C360856B2}" srcOrd="1" destOrd="0" presId="urn:microsoft.com/office/officeart/2005/8/layout/chart3"/>
    <dgm:cxn modelId="{294BCC38-7A0B-4595-AC10-07DA62698266}" srcId="{D3EEEEBB-EC00-4A90-BFFC-6457DEBE05A3}" destId="{62CEA1F6-4177-49BB-9564-9CE486905014}" srcOrd="1" destOrd="0" parTransId="{BD83E6AD-0EA3-4A87-83EE-CFBE2D197971}" sibTransId="{817F037D-BBA3-4449-809B-AA42C5121D37}"/>
    <dgm:cxn modelId="{3341F161-CE65-4CC2-9DF9-B62E1284F084}" srcId="{4AD2C595-A50E-4F44-9096-537249958812}" destId="{7E42F87C-838A-4C89-970D-B1523139A123}" srcOrd="0" destOrd="0" parTransId="{8C1AE998-7C23-4B50-AC68-6EA442184BB6}" sibTransId="{09D4D4E9-5457-45B0-9B56-23872E222BE2}"/>
    <dgm:cxn modelId="{AE212C65-ABEF-4358-A9A5-661D9B723048}" type="presOf" srcId="{90E9121C-8D5E-49DF-87AD-935589FC655F}" destId="{863198BC-EB7A-4174-80E6-A3FF1F894D96}" srcOrd="1" destOrd="0" presId="urn:microsoft.com/office/officeart/2005/8/layout/chart3"/>
    <dgm:cxn modelId="{68C81168-4F34-42B3-8C7B-6CA87DFA7FF0}" type="presOf" srcId="{26867196-84E0-4C74-9CD8-FB621F7A3CF7}" destId="{F9C088F2-B973-4425-AE9A-7F625A894DA2}" srcOrd="0" destOrd="1" presId="urn:microsoft.com/office/officeart/2005/8/layout/chart3"/>
    <dgm:cxn modelId="{88644668-39CF-4027-9982-0E50F29AA6B9}" type="presOf" srcId="{7E42F87C-838A-4C89-970D-B1523139A123}" destId="{109C35C1-D1D6-4906-94D9-62FF3D9210BD}" srcOrd="0" destOrd="1" presId="urn:microsoft.com/office/officeart/2005/8/layout/chart3"/>
    <dgm:cxn modelId="{D71AB950-1575-4220-9542-4EBB9DBBB405}" srcId="{D3EEEEBB-EC00-4A90-BFFC-6457DEBE05A3}" destId="{90E9121C-8D5E-49DF-87AD-935589FC655F}" srcOrd="2" destOrd="0" parTransId="{40E1B875-B9FF-44B0-A2C1-B872C8ACEF41}" sibTransId="{0B2DDF2C-2187-4506-B82C-6CCE3434FE11}"/>
    <dgm:cxn modelId="{563ECB52-2A3D-4BD2-AFC2-5E0838B7F4EB}" type="presOf" srcId="{62CEA1F6-4177-49BB-9564-9CE486905014}" destId="{F9C088F2-B973-4425-AE9A-7F625A894DA2}" srcOrd="0" destOrd="0" presId="urn:microsoft.com/office/officeart/2005/8/layout/chart3"/>
    <dgm:cxn modelId="{B0A87F77-5698-4322-9680-CAE0B4B941FF}" type="presOf" srcId="{4AD2C595-A50E-4F44-9096-537249958812}" destId="{109C35C1-D1D6-4906-94D9-62FF3D9210BD}" srcOrd="0" destOrd="0" presId="urn:microsoft.com/office/officeart/2005/8/layout/chart3"/>
    <dgm:cxn modelId="{AB46337A-920E-4D9E-BB7D-F5E771BA8F2C}" type="presOf" srcId="{7E42F87C-838A-4C89-970D-B1523139A123}" destId="{67792E96-F01E-4406-A4D1-AC2C360856B2}" srcOrd="1" destOrd="1" presId="urn:microsoft.com/office/officeart/2005/8/layout/chart3"/>
    <dgm:cxn modelId="{6C2F0192-78BE-4BA4-88D8-E4791F27A504}" type="presOf" srcId="{26867196-84E0-4C74-9CD8-FB621F7A3CF7}" destId="{306A89AE-40A9-4317-85F1-E5A6830E0C11}" srcOrd="1" destOrd="1" presId="urn:microsoft.com/office/officeart/2005/8/layout/chart3"/>
    <dgm:cxn modelId="{1149F7A7-8356-4C71-ABEE-7B0E373A8A6E}" srcId="{90E9121C-8D5E-49DF-87AD-935589FC655F}" destId="{9DC3C57F-CFF2-4EDB-B7BC-501CD22AE546}" srcOrd="0" destOrd="0" parTransId="{530EBEEC-9994-4ABD-B434-80736FE84D0E}" sibTransId="{A18B1CF0-0AD7-4246-9F64-41AE1E346BA1}"/>
    <dgm:cxn modelId="{67CDCDB9-FAAF-4BD8-AB1A-5BA60EF93DAF}" type="presOf" srcId="{90E9121C-8D5E-49DF-87AD-935589FC655F}" destId="{2298B1C8-793E-4CDF-9535-561F0109647A}" srcOrd="0" destOrd="0" presId="urn:microsoft.com/office/officeart/2005/8/layout/chart3"/>
    <dgm:cxn modelId="{5707B9D9-E9AE-49D2-9A4E-CDEBC3EE41F6}" type="presOf" srcId="{62CEA1F6-4177-49BB-9564-9CE486905014}" destId="{306A89AE-40A9-4317-85F1-E5A6830E0C11}" srcOrd="1" destOrd="0" presId="urn:microsoft.com/office/officeart/2005/8/layout/chart3"/>
    <dgm:cxn modelId="{D057E6E3-2CBA-4D22-8EA7-472E5B893125}" type="presOf" srcId="{9DC3C57F-CFF2-4EDB-B7BC-501CD22AE546}" destId="{2298B1C8-793E-4CDF-9535-561F0109647A}" srcOrd="0" destOrd="1" presId="urn:microsoft.com/office/officeart/2005/8/layout/chart3"/>
    <dgm:cxn modelId="{1E92A130-B68C-4DB7-AC84-C9DDF852F508}" type="presParOf" srcId="{7E96C1C9-B828-4C1C-91F3-9003ABD7606C}" destId="{109C35C1-D1D6-4906-94D9-62FF3D9210BD}" srcOrd="0" destOrd="0" presId="urn:microsoft.com/office/officeart/2005/8/layout/chart3"/>
    <dgm:cxn modelId="{E8267EA2-0A65-4FB1-A558-C6A073205701}" type="presParOf" srcId="{7E96C1C9-B828-4C1C-91F3-9003ABD7606C}" destId="{67792E96-F01E-4406-A4D1-AC2C360856B2}" srcOrd="1" destOrd="0" presId="urn:microsoft.com/office/officeart/2005/8/layout/chart3"/>
    <dgm:cxn modelId="{78775540-6A0D-4540-999B-FD57CDDBC4AE}" type="presParOf" srcId="{7E96C1C9-B828-4C1C-91F3-9003ABD7606C}" destId="{F9C088F2-B973-4425-AE9A-7F625A894DA2}" srcOrd="2" destOrd="0" presId="urn:microsoft.com/office/officeart/2005/8/layout/chart3"/>
    <dgm:cxn modelId="{9043284E-9DD9-4EE3-89CB-66CC614318AA}" type="presParOf" srcId="{7E96C1C9-B828-4C1C-91F3-9003ABD7606C}" destId="{306A89AE-40A9-4317-85F1-E5A6830E0C11}" srcOrd="3" destOrd="0" presId="urn:microsoft.com/office/officeart/2005/8/layout/chart3"/>
    <dgm:cxn modelId="{F4F8011C-C8DB-405F-9A97-11C095EE5BA7}" type="presParOf" srcId="{7E96C1C9-B828-4C1C-91F3-9003ABD7606C}" destId="{2298B1C8-793E-4CDF-9535-561F0109647A}" srcOrd="4" destOrd="0" presId="urn:microsoft.com/office/officeart/2005/8/layout/chart3"/>
    <dgm:cxn modelId="{FDB5B84A-B8E2-4D35-8C62-B13844379254}" type="presParOf" srcId="{7E96C1C9-B828-4C1C-91F3-9003ABD7606C}" destId="{863198BC-EB7A-4174-80E6-A3FF1F894D96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2BA6FC-43D8-4E1B-9B35-8A0F62895777}">
      <dsp:nvSpPr>
        <dsp:cNvPr id="0" name=""/>
        <dsp:cNvSpPr/>
      </dsp:nvSpPr>
      <dsp:spPr>
        <a:xfrm>
          <a:off x="53725" y="0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Bogotá</a:t>
          </a:r>
        </a:p>
      </dsp:txBody>
      <dsp:txXfrm>
        <a:off x="428769" y="375038"/>
        <a:ext cx="1810871" cy="1810847"/>
      </dsp:txXfrm>
    </dsp:sp>
    <dsp:sp modelId="{FD4394BC-3D6B-4E2D-A7C8-75D985B1D702}">
      <dsp:nvSpPr>
        <dsp:cNvPr id="0" name=""/>
        <dsp:cNvSpPr/>
      </dsp:nvSpPr>
      <dsp:spPr>
        <a:xfrm>
          <a:off x="1371874" y="1707993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122"/>
            <a:satOff val="-573"/>
            <a:lumOff val="2062"/>
            <a:alphaOff val="15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Buenos Aires</a:t>
          </a:r>
        </a:p>
      </dsp:txBody>
      <dsp:txXfrm>
        <a:off x="1746918" y="2083031"/>
        <a:ext cx="1810871" cy="1810847"/>
      </dsp:txXfrm>
    </dsp:sp>
    <dsp:sp modelId="{9682C507-032C-4EC9-A13F-C891C31BD75D}">
      <dsp:nvSpPr>
        <dsp:cNvPr id="0" name=""/>
        <dsp:cNvSpPr/>
      </dsp:nvSpPr>
      <dsp:spPr>
        <a:xfrm>
          <a:off x="2618114" y="0"/>
          <a:ext cx="2560959" cy="2560923"/>
        </a:xfrm>
        <a:prstGeom prst="ellipse">
          <a:avLst/>
        </a:prstGeom>
        <a:solidFill>
          <a:schemeClr val="accent1">
            <a:shade val="80000"/>
            <a:alpha val="50000"/>
            <a:hueOff val="244"/>
            <a:satOff val="-1147"/>
            <a:lumOff val="4124"/>
            <a:alphaOff val="3000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tx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 dirty="0"/>
            <a:t>Granada</a:t>
          </a:r>
        </a:p>
      </dsp:txBody>
      <dsp:txXfrm>
        <a:off x="2993158" y="375038"/>
        <a:ext cx="1810871" cy="18108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C35C1-D1D6-4906-94D9-62FF3D9210BD}">
      <dsp:nvSpPr>
        <dsp:cNvPr id="0" name=""/>
        <dsp:cNvSpPr/>
      </dsp:nvSpPr>
      <dsp:spPr>
        <a:xfrm>
          <a:off x="2702956" y="343018"/>
          <a:ext cx="4268679" cy="4268679"/>
        </a:xfrm>
        <a:prstGeom prst="pie">
          <a:avLst>
            <a:gd name="adj1" fmla="val 16200000"/>
            <a:gd name="adj2" fmla="val 180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Electronic </a:t>
          </a:r>
          <a:r>
            <a:rPr lang="es-ES" sz="1700" kern="1200" dirty="0" err="1"/>
            <a:t>Consultation</a:t>
          </a:r>
          <a:r>
            <a:rPr lang="es-ES" sz="1700" kern="1200" dirty="0"/>
            <a:t> </a:t>
          </a:r>
          <a:r>
            <a:rPr lang="es-ES" sz="1700" kern="1200" dirty="0" err="1"/>
            <a:t>Register</a:t>
          </a:r>
          <a:endParaRPr lang="es-ES" sz="170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Burkina Faso</a:t>
          </a:r>
        </a:p>
      </dsp:txBody>
      <dsp:txXfrm>
        <a:off x="5023796" y="1130691"/>
        <a:ext cx="1448301" cy="1422893"/>
      </dsp:txXfrm>
    </dsp:sp>
    <dsp:sp modelId="{F9C088F2-B973-4425-AE9A-7F625A894DA2}">
      <dsp:nvSpPr>
        <dsp:cNvPr id="0" name=""/>
        <dsp:cNvSpPr/>
      </dsp:nvSpPr>
      <dsp:spPr>
        <a:xfrm>
          <a:off x="2482916" y="470062"/>
          <a:ext cx="4268679" cy="4268679"/>
        </a:xfrm>
        <a:prstGeom prst="pie">
          <a:avLst>
            <a:gd name="adj1" fmla="val 1800000"/>
            <a:gd name="adj2" fmla="val 9000000"/>
          </a:avLst>
        </a:prstGeom>
        <a:solidFill>
          <a:schemeClr val="accent4">
            <a:hueOff val="2399126"/>
            <a:satOff val="-220"/>
            <a:lumOff val="686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/>
            <a:t>Medical Cloud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EEUU</a:t>
          </a:r>
        </a:p>
      </dsp:txBody>
      <dsp:txXfrm>
        <a:off x="3651721" y="3163396"/>
        <a:ext cx="1931069" cy="1321257"/>
      </dsp:txXfrm>
    </dsp:sp>
    <dsp:sp modelId="{2298B1C8-793E-4CDF-9535-561F0109647A}">
      <dsp:nvSpPr>
        <dsp:cNvPr id="0" name=""/>
        <dsp:cNvSpPr/>
      </dsp:nvSpPr>
      <dsp:spPr>
        <a:xfrm>
          <a:off x="2482916" y="470062"/>
          <a:ext cx="4268679" cy="4268679"/>
        </a:xfrm>
        <a:prstGeom prst="pie">
          <a:avLst>
            <a:gd name="adj1" fmla="val 9000000"/>
            <a:gd name="adj2" fmla="val 16200000"/>
          </a:avLst>
        </a:prstGeom>
        <a:solidFill>
          <a:schemeClr val="accent4">
            <a:hueOff val="4798252"/>
            <a:satOff val="-440"/>
            <a:lumOff val="1373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590" tIns="21590" rIns="21590" bIns="2159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 dirty="0" err="1"/>
            <a:t>Telemedicine</a:t>
          </a:r>
          <a:r>
            <a:rPr lang="es-ES" sz="1700" kern="1200" dirty="0"/>
            <a:t> Network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300" kern="1200" dirty="0"/>
            <a:t>Suiza</a:t>
          </a:r>
        </a:p>
      </dsp:txBody>
      <dsp:txXfrm>
        <a:off x="2940274" y="1308553"/>
        <a:ext cx="1448301" cy="14228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12/01/2019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12/01/2019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9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15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1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12/01/2019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12/01/2019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13" Type="http://schemas.microsoft.com/office/2007/relationships/diagramDrawing" Target="../diagrams/drawing3.xml"/><Relationship Id="rId3" Type="http://schemas.openxmlformats.org/officeDocument/2006/relationships/image" Target="../media/image7.jpg"/><Relationship Id="rId7" Type="http://schemas.openxmlformats.org/officeDocument/2006/relationships/diagramColors" Target="../diagrams/colors2.xml"/><Relationship Id="rId12" Type="http://schemas.openxmlformats.org/officeDocument/2006/relationships/diagramColors" Target="../diagrams/colors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2.xml"/><Relationship Id="rId11" Type="http://schemas.openxmlformats.org/officeDocument/2006/relationships/diagramQuickStyle" Target="../diagrams/quickStyle3.xml"/><Relationship Id="rId5" Type="http://schemas.openxmlformats.org/officeDocument/2006/relationships/diagramLayout" Target="../diagrams/layout2.xml"/><Relationship Id="rId10" Type="http://schemas.openxmlformats.org/officeDocument/2006/relationships/diagramLayout" Target="../diagrams/layout3.xml"/><Relationship Id="rId4" Type="http://schemas.openxmlformats.org/officeDocument/2006/relationships/diagramData" Target="../diagrams/data2.xml"/><Relationship Id="rId9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jpe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/20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618F1EC-7EE2-AE44-882A-6CDB04AB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171629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849" y="2213068"/>
            <a:ext cx="5554473" cy="2380552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/20</a:t>
            </a:r>
          </a:p>
        </p:txBody>
      </p:sp>
      <p:pic>
        <p:nvPicPr>
          <p:cNvPr id="11" name="Imagen 10" descr="Imagen que contiene texto&#10;&#10;&#10;&#10;Descripción generada automáticamente">
            <a:extLst>
              <a:ext uri="{FF2B5EF4-FFF2-40B4-BE49-F238E27FC236}">
                <a16:creationId xmlns:a16="http://schemas.microsoft.com/office/drawing/2014/main" id="{2C17273C-672A-6645-9F89-C0CF78BB56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528957" y="2359174"/>
            <a:ext cx="2916177" cy="2380553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227A02-44BF-5645-AE81-26FA69C2F9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4648" y="1926831"/>
            <a:ext cx="3004337" cy="300433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B37DB92-30F9-A748-A6C4-287664E2D814}"/>
              </a:ext>
            </a:extLst>
          </p:cNvPr>
          <p:cNvSpPr txBox="1"/>
          <p:nvPr/>
        </p:nvSpPr>
        <p:spPr>
          <a:xfrm>
            <a:off x="1180720" y="4589879"/>
            <a:ext cx="12121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800" dirty="0">
                <a:solidFill>
                  <a:schemeClr val="tx2"/>
                </a:solidFill>
              </a:rPr>
              <a:t>https://</a:t>
            </a:r>
            <a:r>
              <a:rPr lang="es-ES" sz="800" dirty="0" err="1">
                <a:solidFill>
                  <a:schemeClr val="tx2"/>
                </a:solidFill>
              </a:rPr>
              <a:t>pixabay.com</a:t>
            </a:r>
            <a:endParaRPr lang="es-ES" sz="800" dirty="0">
              <a:solidFill>
                <a:schemeClr val="tx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E4FF17-8718-6E4E-B635-D4E408E26B71}"/>
              </a:ext>
            </a:extLst>
          </p:cNvPr>
          <p:cNvSpPr txBox="1"/>
          <p:nvPr/>
        </p:nvSpPr>
        <p:spPr>
          <a:xfrm>
            <a:off x="9326986" y="4655000"/>
            <a:ext cx="16152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tx2"/>
                </a:solidFill>
              </a:rPr>
              <a:t>https://</a:t>
            </a:r>
            <a:r>
              <a:rPr lang="es-ES" sz="800" dirty="0" err="1">
                <a:solidFill>
                  <a:schemeClr val="tx2"/>
                </a:solidFill>
              </a:rPr>
              <a:t>pixabay.com</a:t>
            </a:r>
            <a:endParaRPr lang="es-ES" sz="800" dirty="0">
              <a:solidFill>
                <a:schemeClr val="tx2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E198E4E-8FF0-4F1E-8753-6F05BE69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D165D-3AF1-469B-B7EA-3D3E4B07E3E8}"/>
              </a:ext>
            </a:extLst>
          </p:cNvPr>
          <p:cNvSpPr/>
          <p:nvPr/>
        </p:nvSpPr>
        <p:spPr>
          <a:xfrm>
            <a:off x="2220585" y="2967335"/>
            <a:ext cx="775084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¡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Calidad y </a:t>
            </a:r>
            <a:r>
              <a:rPr lang="en-US" sz="5400" b="0" cap="none" spc="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Excelencia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33954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5" grpId="0"/>
      <p:bldP spid="15" grpId="1"/>
      <p:bldP spid="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EE94F-A38C-4B45-948E-9FF46419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 - Organigrama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/20</a:t>
            </a:r>
          </a:p>
        </p:txBody>
      </p:sp>
      <p:pic>
        <p:nvPicPr>
          <p:cNvPr id="6" name="Imagen 5" descr="Imagen que contiene captura de pantalla, texto, mapa&#10;&#10;&#10;&#10;Descripción generada automáticamente">
            <a:extLst>
              <a:ext uri="{FF2B5EF4-FFF2-40B4-BE49-F238E27FC236}">
                <a16:creationId xmlns:a16="http://schemas.microsoft.com/office/drawing/2014/main" id="{46B37BF1-48E0-634F-B252-1241DFD5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692" y="1807745"/>
            <a:ext cx="9770836" cy="389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4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/20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99FA11-5DBD-E64F-8E15-AE0C4528CB58}"/>
              </a:ext>
            </a:extLst>
          </p:cNvPr>
          <p:cNvSpPr txBox="1"/>
          <p:nvPr/>
        </p:nvSpPr>
        <p:spPr>
          <a:xfrm>
            <a:off x="552090" y="2057401"/>
            <a:ext cx="61592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Proyectos propios</a:t>
            </a:r>
            <a:r>
              <a:rPr lang="es-ES" sz="2400" dirty="0"/>
              <a:t>: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905F14-76D1-024A-85FE-3AAD0957118B}"/>
              </a:ext>
            </a:extLst>
          </p:cNvPr>
          <p:cNvSpPr txBox="1"/>
          <p:nvPr/>
        </p:nvSpPr>
        <p:spPr>
          <a:xfrm>
            <a:off x="552090" y="2057401"/>
            <a:ext cx="9454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Proyectos en los que hemos participado: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88CDF19-B70E-1848-A8F3-51FE017B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21" y="1869416"/>
            <a:ext cx="3175000" cy="27051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A301C5F-35E4-F646-9F87-E0E8A6DD89D2}"/>
              </a:ext>
            </a:extLst>
          </p:cNvPr>
          <p:cNvSpPr txBox="1"/>
          <p:nvPr/>
        </p:nvSpPr>
        <p:spPr>
          <a:xfrm>
            <a:off x="8922650" y="4595693"/>
            <a:ext cx="21679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" dirty="0"/>
              <a:t>https://</a:t>
            </a:r>
            <a:r>
              <a:rPr lang="es-ES" sz="900" dirty="0" err="1"/>
              <a:t>www.openpr.com</a:t>
            </a:r>
            <a:endParaRPr lang="es-ES" sz="9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C493191-012A-4BD1-87EF-4BCEFE2F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PROYECTOS Relacionados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1500937-E25B-44B7-9005-A891811D75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4368"/>
              </p:ext>
            </p:extLst>
          </p:nvPr>
        </p:nvGraphicFramePr>
        <p:xfrm>
          <a:off x="2303671" y="2519066"/>
          <a:ext cx="5303150" cy="42689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8E77894-6F71-461F-9A66-D3179ED8EA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329875"/>
              </p:ext>
            </p:extLst>
          </p:nvPr>
        </p:nvGraphicFramePr>
        <p:xfrm>
          <a:off x="0" y="2033635"/>
          <a:ext cx="9454552" cy="50817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99350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8D2BA6FC-43D8-4E1B-9B35-8A0F62895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FD4394BC-3D6B-4E2D-A7C8-75D985B1D7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682C507-032C-4EC9-A13F-C891C31BD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09C35C1-D1D6-4906-94D9-62FF3D921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graphicEl>
                                              <a:dgm id="{109C35C1-D1D6-4906-94D9-62FF3D9210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9C088F2-B973-4425-AE9A-7F625A894D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graphicEl>
                                              <a:dgm id="{F9C088F2-B973-4425-AE9A-7F625A894D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298B1C8-793E-4CDF-9535-561F010964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2298B1C8-793E-4CDF-9535-561F010964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Graphic spid="2" grpId="0">
        <p:bldSub>
          <a:bldDgm bld="one"/>
        </p:bldSub>
      </p:bldGraphic>
      <p:bldGraphic spid="2" grpId="1" uiExpand="1">
        <p:bldSub>
          <a:bldDgm bld="one"/>
        </p:bldSub>
      </p:bldGraphic>
      <p:bldGraphic spid="4" grpId="0" uiExpand="1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/20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E661F0-F988-8A47-9147-34C44DD8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5" y="4159281"/>
            <a:ext cx="3431886" cy="920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ACF3EED-125E-DD41-8A71-0F4ED9804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20" y="1642165"/>
            <a:ext cx="3535163" cy="1502445"/>
          </a:xfrm>
          <a:prstGeom prst="rect">
            <a:avLst/>
          </a:prstGeom>
        </p:spPr>
      </p:pic>
      <p:pic>
        <p:nvPicPr>
          <p:cNvPr id="9" name="Imagen 8" descr="Imagen que contiene señal, exterior, cielo, texto&#10;&#10;&#10;&#10;Descripción generada automáticamente">
            <a:extLst>
              <a:ext uri="{FF2B5EF4-FFF2-40B4-BE49-F238E27FC236}">
                <a16:creationId xmlns:a16="http://schemas.microsoft.com/office/drawing/2014/main" id="{C5E74572-56C6-8D40-95B7-30C4C244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907" y="4301802"/>
            <a:ext cx="2743200" cy="19413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00A3B97-065B-0E41-BF3C-221BF2139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413" y="4159282"/>
            <a:ext cx="3479862" cy="1403808"/>
          </a:xfrm>
          <a:prstGeom prst="rect">
            <a:avLst/>
          </a:prstGeom>
        </p:spPr>
      </p:pic>
      <p:pic>
        <p:nvPicPr>
          <p:cNvPr id="11" name="Imagen 10" descr="Imagen que contiene imágenes prediseñadas&#10;&#10;&#10;&#10;Descripción generada automáticamente">
            <a:extLst>
              <a:ext uri="{FF2B5EF4-FFF2-40B4-BE49-F238E27FC236}">
                <a16:creationId xmlns:a16="http://schemas.microsoft.com/office/drawing/2014/main" id="{2CD80353-91D2-B64F-BCD4-A0323A6F7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999" y="1879251"/>
            <a:ext cx="1963406" cy="19634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5235F44-BFEA-3342-AAE4-68E956D43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239" y="2315484"/>
            <a:ext cx="3484924" cy="1397907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F0881CA0-944C-453C-A42B-F49A4870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Organizaciones y colaboradores </a:t>
            </a:r>
          </a:p>
        </p:txBody>
      </p:sp>
    </p:spTree>
    <p:extLst>
      <p:ext uri="{BB962C8B-B14F-4D97-AF65-F5344CB8AC3E}">
        <p14:creationId xmlns:p14="http://schemas.microsoft.com/office/powerpoint/2010/main" val="419682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/20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23C085A3-62C5-D541-9E6B-EEE31235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517176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lecha derecha 8">
            <a:extLst>
              <a:ext uri="{FF2B5EF4-FFF2-40B4-BE49-F238E27FC236}">
                <a16:creationId xmlns:a16="http://schemas.microsoft.com/office/drawing/2014/main" id="{409214D7-A261-884C-9FDF-B32C26A1993E}"/>
              </a:ext>
            </a:extLst>
          </p:cNvPr>
          <p:cNvSpPr/>
          <p:nvPr/>
        </p:nvSpPr>
        <p:spPr>
          <a:xfrm>
            <a:off x="1973020" y="375249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nillo 9">
            <a:extLst>
              <a:ext uri="{FF2B5EF4-FFF2-40B4-BE49-F238E27FC236}">
                <a16:creationId xmlns:a16="http://schemas.microsoft.com/office/drawing/2014/main" id="{E2B7A3A7-96DE-DD41-861F-AE407579C800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Anillo 10">
            <a:extLst>
              <a:ext uri="{FF2B5EF4-FFF2-40B4-BE49-F238E27FC236}">
                <a16:creationId xmlns:a16="http://schemas.microsoft.com/office/drawing/2014/main" id="{8C8E2577-405A-B047-99C1-9FBF59709B3D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Anillo 11">
            <a:extLst>
              <a:ext uri="{FF2B5EF4-FFF2-40B4-BE49-F238E27FC236}">
                <a16:creationId xmlns:a16="http://schemas.microsoft.com/office/drawing/2014/main" id="{362B8359-9A80-FC45-9EA0-C98D23F8827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Anillo 12">
            <a:extLst>
              <a:ext uri="{FF2B5EF4-FFF2-40B4-BE49-F238E27FC236}">
                <a16:creationId xmlns:a16="http://schemas.microsoft.com/office/drawing/2014/main" id="{048FD790-169C-264C-B015-7CF76A632F2B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90" y="1424360"/>
            <a:ext cx="9269092" cy="534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Cooperación con empresas destacadas en sus sectores.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Desarrollo software</a:t>
            </a:r>
            <a:r>
              <a:rPr lang="es-ES" sz="2400" dirty="0"/>
              <a:t>: </a:t>
            </a:r>
            <a:r>
              <a:rPr lang="es-ES" sz="2400" i="1" dirty="0"/>
              <a:t>Alhambra Eidos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Data center</a:t>
            </a:r>
            <a:r>
              <a:rPr lang="es-ES" sz="2400" dirty="0"/>
              <a:t>: </a:t>
            </a:r>
            <a:r>
              <a:rPr lang="es-ES" sz="2400" i="1" dirty="0"/>
              <a:t>Telefónica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Formación del personal privada.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Implementación progresiva</a:t>
            </a:r>
            <a:r>
              <a:rPr lang="es-ES" sz="2400" dirty="0"/>
              <a:t>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i="1" dirty="0"/>
              <a:t>Prueba piloto + implementación final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Muestra</a:t>
            </a:r>
            <a:r>
              <a:rPr lang="es-ES" sz="2400" dirty="0"/>
              <a:t>: 20 pacientes por hospital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b="1" dirty="0"/>
              <a:t>Total: </a:t>
            </a:r>
            <a:r>
              <a:rPr lang="es-ES" sz="2400" dirty="0"/>
              <a:t>100 pacientes por hospital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6283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9843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7BC70C9-2726-4FC5-B918-EA8378508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069" y="1834576"/>
            <a:ext cx="8855214" cy="397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4 Conector recto de flecha">
            <a:extLst>
              <a:ext uri="{FF2B5EF4-FFF2-40B4-BE49-F238E27FC236}">
                <a16:creationId xmlns:a16="http://schemas.microsoft.com/office/drawing/2014/main" id="{D5E94DC6-E1FA-49EF-B12E-16A868BF6D04}"/>
              </a:ext>
            </a:extLst>
          </p:cNvPr>
          <p:cNvCxnSpPr/>
          <p:nvPr/>
        </p:nvCxnSpPr>
        <p:spPr>
          <a:xfrm rot="10800000" flipV="1">
            <a:off x="1025417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4 Conector recto de flecha">
            <a:extLst>
              <a:ext uri="{FF2B5EF4-FFF2-40B4-BE49-F238E27FC236}">
                <a16:creationId xmlns:a16="http://schemas.microsoft.com/office/drawing/2014/main" id="{12E75257-809A-46D5-9E66-2860F2A5DBD2}"/>
              </a:ext>
            </a:extLst>
          </p:cNvPr>
          <p:cNvCxnSpPr/>
          <p:nvPr/>
        </p:nvCxnSpPr>
        <p:spPr>
          <a:xfrm rot="10800000" flipV="1">
            <a:off x="554882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5 Conector recto de flecha">
            <a:extLst>
              <a:ext uri="{FF2B5EF4-FFF2-40B4-BE49-F238E27FC236}">
                <a16:creationId xmlns:a16="http://schemas.microsoft.com/office/drawing/2014/main" id="{BA62D5EC-8008-4BB4-B398-624B3E0F4264}"/>
              </a:ext>
            </a:extLst>
          </p:cNvPr>
          <p:cNvCxnSpPr/>
          <p:nvPr/>
        </p:nvCxnSpPr>
        <p:spPr>
          <a:xfrm rot="10800000" flipV="1">
            <a:off x="5106574" y="4298444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6 Conector recto de flecha">
            <a:extLst>
              <a:ext uri="{FF2B5EF4-FFF2-40B4-BE49-F238E27FC236}">
                <a16:creationId xmlns:a16="http://schemas.microsoft.com/office/drawing/2014/main" id="{4A89E665-8FB2-4B75-A9B2-8ADE77BF90C0}"/>
              </a:ext>
            </a:extLst>
          </p:cNvPr>
          <p:cNvCxnSpPr/>
          <p:nvPr/>
        </p:nvCxnSpPr>
        <p:spPr>
          <a:xfrm rot="10800000" flipV="1">
            <a:off x="2296841" y="532211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7 Conector recto de flecha">
            <a:extLst>
              <a:ext uri="{FF2B5EF4-FFF2-40B4-BE49-F238E27FC236}">
                <a16:creationId xmlns:a16="http://schemas.microsoft.com/office/drawing/2014/main" id="{E7920C57-7517-4FB0-8ADE-FD647E8E63BF}"/>
              </a:ext>
            </a:extLst>
          </p:cNvPr>
          <p:cNvCxnSpPr/>
          <p:nvPr/>
        </p:nvCxnSpPr>
        <p:spPr>
          <a:xfrm rot="10800000" flipV="1">
            <a:off x="5035356" y="5361406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8 CuadroTexto">
            <a:extLst>
              <a:ext uri="{FF2B5EF4-FFF2-40B4-BE49-F238E27FC236}">
                <a16:creationId xmlns:a16="http://schemas.microsoft.com/office/drawing/2014/main" id="{97D5678F-812E-4F71-90DE-5AAACC59145E}"/>
              </a:ext>
            </a:extLst>
          </p:cNvPr>
          <p:cNvSpPr txBox="1"/>
          <p:nvPr/>
        </p:nvSpPr>
        <p:spPr>
          <a:xfrm>
            <a:off x="9203881" y="141547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</a:p>
        </p:txBody>
      </p:sp>
      <p:sp>
        <p:nvSpPr>
          <p:cNvPr id="16" name="19 CuadroTexto">
            <a:extLst>
              <a:ext uri="{FF2B5EF4-FFF2-40B4-BE49-F238E27FC236}">
                <a16:creationId xmlns:a16="http://schemas.microsoft.com/office/drawing/2014/main" id="{29CA4401-C356-4FAD-819B-FF25BE9171E5}"/>
              </a:ext>
            </a:extLst>
          </p:cNvPr>
          <p:cNvSpPr txBox="1"/>
          <p:nvPr/>
        </p:nvSpPr>
        <p:spPr>
          <a:xfrm>
            <a:off x="3994931" y="579797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De Getafe </a:t>
            </a:r>
          </a:p>
        </p:txBody>
      </p:sp>
      <p:sp>
        <p:nvSpPr>
          <p:cNvPr id="17" name="20 CuadroTexto">
            <a:extLst>
              <a:ext uri="{FF2B5EF4-FFF2-40B4-BE49-F238E27FC236}">
                <a16:creationId xmlns:a16="http://schemas.microsoft.com/office/drawing/2014/main" id="{C4D04E6F-146E-4AE7-9C8B-E11B07F10123}"/>
              </a:ext>
            </a:extLst>
          </p:cNvPr>
          <p:cNvSpPr txBox="1"/>
          <p:nvPr/>
        </p:nvSpPr>
        <p:spPr>
          <a:xfrm>
            <a:off x="1275469" y="468172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</a:p>
        </p:txBody>
      </p:sp>
      <p:sp>
        <p:nvSpPr>
          <p:cNvPr id="18" name="23 CuadroTexto">
            <a:extLst>
              <a:ext uri="{FF2B5EF4-FFF2-40B4-BE49-F238E27FC236}">
                <a16:creationId xmlns:a16="http://schemas.microsoft.com/office/drawing/2014/main" id="{65D983F8-A3CA-43F1-8622-ECDEFBFBFCB4}"/>
              </a:ext>
            </a:extLst>
          </p:cNvPr>
          <p:cNvSpPr txBox="1"/>
          <p:nvPr/>
        </p:nvSpPr>
        <p:spPr>
          <a:xfrm>
            <a:off x="4414031" y="1384613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</a:p>
        </p:txBody>
      </p:sp>
      <p:sp>
        <p:nvSpPr>
          <p:cNvPr id="19" name="22 CuadroTexto">
            <a:extLst>
              <a:ext uri="{FF2B5EF4-FFF2-40B4-BE49-F238E27FC236}">
                <a16:creationId xmlns:a16="http://schemas.microsoft.com/office/drawing/2014/main" id="{8D896A4D-1575-4E49-8018-E9B7456383C3}"/>
              </a:ext>
            </a:extLst>
          </p:cNvPr>
          <p:cNvSpPr txBox="1"/>
          <p:nvPr/>
        </p:nvSpPr>
        <p:spPr>
          <a:xfrm>
            <a:off x="3994931" y="3717066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7B9E17-2681-4BAF-921C-2954413B1506}"/>
              </a:ext>
            </a:extLst>
          </p:cNvPr>
          <p:cNvSpPr txBox="1"/>
          <p:nvPr/>
        </p:nvSpPr>
        <p:spPr>
          <a:xfrm>
            <a:off x="6738131" y="6108867"/>
            <a:ext cx="38581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https://www.google.com/maps/place/Carabanchel,+Madrid/@40.437089,-3.7804954,12z/data=!4m5!3m4!1s0xd42278805dd1c6d:0x7c0f9872e0e3d4b5!8m2!3d40.3778181!4d-3.7512317</a:t>
            </a:r>
          </a:p>
        </p:txBody>
      </p:sp>
    </p:spTree>
    <p:extLst>
      <p:ext uri="{BB962C8B-B14F-4D97-AF65-F5344CB8AC3E}">
        <p14:creationId xmlns:p14="http://schemas.microsoft.com/office/powerpoint/2010/main" val="120173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A35858E-C655-495F-A059-1FC8099957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EFE00F9-25AA-4C04-9C70-B14F6B44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4585FB4-7006-4452-B3E3-F93CDC12B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9058" y="764373"/>
            <a:ext cx="5091954" cy="129302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Características</a:t>
            </a:r>
            <a:r>
              <a:rPr lang="en-US" dirty="0"/>
              <a:t> - </a:t>
            </a:r>
            <a:r>
              <a:rPr lang="en-US" dirty="0" err="1"/>
              <a:t>Patologías</a:t>
            </a:r>
            <a:endParaRPr lang="en-U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38100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6010774-2920-F049-BD0B-9A28F2A984C5}" type="slidenum">
              <a:rPr lang="en-US" smtClean="0"/>
              <a:pPr>
                <a:spcAft>
                  <a:spcPts val="600"/>
                </a:spcAft>
              </a:pPr>
              <a:t>9</a:t>
            </a:fld>
            <a:r>
              <a:rPr lang="en-US" dirty="0"/>
              <a:t>/20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685800" y="2194560"/>
            <a:ext cx="6770802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Patologías</a:t>
            </a:r>
            <a:r>
              <a:rPr lang="en-US" b="1" dirty="0"/>
              <a:t> </a:t>
            </a:r>
            <a:r>
              <a:rPr lang="en-US" b="1" dirty="0" err="1"/>
              <a:t>crónicas</a:t>
            </a:r>
            <a:r>
              <a:rPr lang="en-US" b="1" dirty="0"/>
              <a:t> a </a:t>
            </a:r>
            <a:r>
              <a:rPr lang="en-US" b="1" dirty="0" err="1"/>
              <a:t>tratar</a:t>
            </a:r>
            <a:r>
              <a:rPr lang="en-US" b="1" dirty="0"/>
              <a:t>: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EPOC (</a:t>
            </a:r>
            <a:r>
              <a:rPr lang="en-US" dirty="0" err="1"/>
              <a:t>Enfermedad</a:t>
            </a:r>
            <a:r>
              <a:rPr lang="en-US" dirty="0"/>
              <a:t> </a:t>
            </a:r>
            <a:r>
              <a:rPr lang="en-US" dirty="0" err="1"/>
              <a:t>Pulmonar</a:t>
            </a:r>
            <a:r>
              <a:rPr lang="en-US" dirty="0"/>
              <a:t> </a:t>
            </a:r>
            <a:r>
              <a:rPr lang="en-US" dirty="0" err="1"/>
              <a:t>Obstructiva</a:t>
            </a:r>
            <a:r>
              <a:rPr lang="en-US" dirty="0"/>
              <a:t> </a:t>
            </a:r>
            <a:r>
              <a:rPr lang="en-US" dirty="0" err="1"/>
              <a:t>Crónica</a:t>
            </a:r>
            <a:r>
              <a:rPr lang="en-US" dirty="0"/>
              <a:t>)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Diabetes Mellitus Tipo 2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Insuficiencia</a:t>
            </a:r>
            <a:r>
              <a:rPr lang="en-US" dirty="0"/>
              <a:t> </a:t>
            </a:r>
            <a:r>
              <a:rPr lang="en-US" dirty="0" err="1"/>
              <a:t>cardiaca</a:t>
            </a: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Hipertensión</a:t>
            </a:r>
            <a:r>
              <a:rPr lang="en-US" dirty="0"/>
              <a:t> Arterial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Otras</a:t>
            </a:r>
            <a:r>
              <a:rPr lang="en-US" dirty="0"/>
              <a:t>…</a:t>
            </a:r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48225205-1CFE-4766-8676-F48ADE6D53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8475" y="1075591"/>
            <a:ext cx="3303482" cy="5148371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114" y="1934246"/>
            <a:ext cx="2636238" cy="1129816"/>
          </a:xfrm>
          <a:prstGeom prst="rect">
            <a:avLst/>
          </a:prstGeom>
        </p:spPr>
      </p:pic>
      <p:pic>
        <p:nvPicPr>
          <p:cNvPr id="3" name="Picture 2" descr="A close up of a book&#10;&#10;Description automatically generated">
            <a:extLst>
              <a:ext uri="{FF2B5EF4-FFF2-40B4-BE49-F238E27FC236}">
                <a16:creationId xmlns:a16="http://schemas.microsoft.com/office/drawing/2014/main" id="{2AC3CC0F-5172-49D0-A562-B655AA770A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082" y="3793939"/>
            <a:ext cx="2656270" cy="18735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11167BB-B0B7-4B38-9F7C-C1E48764226B}"/>
              </a:ext>
            </a:extLst>
          </p:cNvPr>
          <p:cNvSpPr txBox="1"/>
          <p:nvPr/>
        </p:nvSpPr>
        <p:spPr>
          <a:xfrm>
            <a:off x="8346141" y="6223962"/>
            <a:ext cx="2886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https://pixabay.com/en/medical-appointment-doctor-563427/</a:t>
            </a:r>
          </a:p>
        </p:txBody>
      </p:sp>
    </p:spTree>
    <p:extLst>
      <p:ext uri="{BB962C8B-B14F-4D97-AF65-F5344CB8AC3E}">
        <p14:creationId xmlns:p14="http://schemas.microsoft.com/office/powerpoint/2010/main" val="15010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9060" y="224528"/>
            <a:ext cx="7762357" cy="1205743"/>
          </a:xfrm>
        </p:spPr>
        <p:txBody>
          <a:bodyPr/>
          <a:lstStyle/>
          <a:p>
            <a:r>
              <a:rPr lang="es-ES_tradnl" dirty="0"/>
              <a:t>Características - Dispositivos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5EA8F7-80AB-40D5-A26C-358AA24A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512" y="3749180"/>
            <a:ext cx="2055612" cy="19384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88D5C9-9AB1-4377-A22E-673E898FB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22" y="1453895"/>
            <a:ext cx="2360442" cy="1932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D9DED93-102C-4A21-84FE-28563206D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835" y="1463543"/>
            <a:ext cx="1638610" cy="1932323"/>
          </a:xfrm>
          <a:prstGeom prst="rect">
            <a:avLst/>
          </a:prstGeom>
        </p:spPr>
      </p:pic>
      <p:pic>
        <p:nvPicPr>
          <p:cNvPr id="12" name="Picture 2" descr="Resultado de imagen de Omron 708-BT">
            <a:extLst>
              <a:ext uri="{FF2B5EF4-FFF2-40B4-BE49-F238E27FC236}">
                <a16:creationId xmlns:a16="http://schemas.microsoft.com/office/drawing/2014/main" id="{F37E709E-C462-4D01-A442-F2CAF25D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05" y="3493203"/>
            <a:ext cx="2450436" cy="24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F5AA041-60F7-4769-87DF-DA0CF1F36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972" y="2595680"/>
            <a:ext cx="3514675" cy="2227266"/>
          </a:xfrm>
          <a:prstGeom prst="rect">
            <a:avLst/>
          </a:prstGeom>
        </p:spPr>
      </p:pic>
      <p:pic>
        <p:nvPicPr>
          <p:cNvPr id="14" name="Picture 4" descr="Icono De Bluetooth, Logotipo De Bluetooth, Bluetooth">
            <a:extLst>
              <a:ext uri="{FF2B5EF4-FFF2-40B4-BE49-F238E27FC236}">
                <a16:creationId xmlns:a16="http://schemas.microsoft.com/office/drawing/2014/main" id="{6678D8DE-35C8-4DC4-9CF6-B0020858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5" y="1190997"/>
            <a:ext cx="920848" cy="14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190ED0CC-E462-466B-B5D5-89131F2565CB}"/>
              </a:ext>
            </a:extLst>
          </p:cNvPr>
          <p:cNvSpPr txBox="1"/>
          <p:nvPr/>
        </p:nvSpPr>
        <p:spPr>
          <a:xfrm>
            <a:off x="977882" y="3372393"/>
            <a:ext cx="267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 err="1"/>
              <a:t>FreeStyle</a:t>
            </a:r>
            <a:r>
              <a:rPr lang="es-ES" b="1" dirty="0"/>
              <a:t> </a:t>
            </a:r>
            <a:r>
              <a:rPr lang="es-ES" b="1" dirty="0" err="1"/>
              <a:t>Optium</a:t>
            </a:r>
            <a:r>
              <a:rPr lang="es-ES" b="1" dirty="0"/>
              <a:t> Neo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E1D2C82-83D5-45CD-B536-3C867BB7E8E0}"/>
              </a:ext>
            </a:extLst>
          </p:cNvPr>
          <p:cNvSpPr txBox="1"/>
          <p:nvPr/>
        </p:nvSpPr>
        <p:spPr>
          <a:xfrm>
            <a:off x="4755063" y="4689468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Galaxy </a:t>
            </a:r>
            <a:r>
              <a:rPr lang="es-ES" b="1" dirty="0" err="1"/>
              <a:t>Tab</a:t>
            </a:r>
            <a:r>
              <a:rPr lang="es-ES" b="1" dirty="0"/>
              <a:t> A (2016) 10.1 4G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74FFEB07-7CFC-4665-840E-5709CB586EBD}"/>
              </a:ext>
            </a:extLst>
          </p:cNvPr>
          <p:cNvSpPr txBox="1"/>
          <p:nvPr/>
        </p:nvSpPr>
        <p:spPr>
          <a:xfrm>
            <a:off x="1400456" y="5522200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BF 511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E28349DA-7035-4F30-BBC3-60C885FD8B1E}"/>
              </a:ext>
            </a:extLst>
          </p:cNvPr>
          <p:cNvSpPr txBox="1"/>
          <p:nvPr/>
        </p:nvSpPr>
        <p:spPr>
          <a:xfrm>
            <a:off x="8883578" y="318772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/>
              <a:t>ONYX 9560</a:t>
            </a:r>
            <a:endParaRPr lang="es-ES" b="1" dirty="0"/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7D6B8AD4-B738-4A99-BE9C-58A20169D515}"/>
              </a:ext>
            </a:extLst>
          </p:cNvPr>
          <p:cNvSpPr txBox="1"/>
          <p:nvPr/>
        </p:nvSpPr>
        <p:spPr>
          <a:xfrm>
            <a:off x="8812358" y="573416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HEM-780</a:t>
            </a:r>
          </a:p>
        </p:txBody>
      </p:sp>
      <p:pic>
        <p:nvPicPr>
          <p:cNvPr id="1026" name="Picture 2" descr="Resultado de imagen de 3g 4g">
            <a:extLst>
              <a:ext uri="{FF2B5EF4-FFF2-40B4-BE49-F238E27FC236}">
                <a16:creationId xmlns:a16="http://schemas.microsoft.com/office/drawing/2014/main" id="{E8296D46-0998-42FD-BB5C-8C0967E1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73" y="4951754"/>
            <a:ext cx="1464188" cy="190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de telefonica">
            <a:extLst>
              <a:ext uri="{FF2B5EF4-FFF2-40B4-BE49-F238E27FC236}">
                <a16:creationId xmlns:a16="http://schemas.microsoft.com/office/drawing/2014/main" id="{9052F87F-E1EA-4F92-AB58-9C86266B5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890" y="5512689"/>
            <a:ext cx="2671373" cy="73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6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882" y="137244"/>
            <a:ext cx="7146536" cy="1293028"/>
          </a:xfrm>
        </p:spPr>
        <p:txBody>
          <a:bodyPr/>
          <a:lstStyle/>
          <a:p>
            <a:r>
              <a:rPr lang="es-ES_tradnl" dirty="0"/>
              <a:t>Características - Objetivos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663333" y="2274838"/>
            <a:ext cx="118539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25% las urgencias </a:t>
            </a:r>
            <a:r>
              <a:rPr lang="es-ES" sz="2400" dirty="0"/>
              <a:t>por descompensación.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25% la probabilidad de ingreso no programado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20% la probabilidad de ingreso por descompensación</a:t>
            </a:r>
            <a:r>
              <a:rPr lang="es-ES" sz="24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en un 25-30% la tasa de mortalidad </a:t>
            </a:r>
            <a:r>
              <a:rPr lang="es-ES" sz="2400" dirty="0"/>
              <a:t>del grupo focal.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un 25% en las consultas </a:t>
            </a:r>
            <a:r>
              <a:rPr lang="es-ES" sz="2400" dirty="0"/>
              <a:t>de atención primaria.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los costes en un 25%.</a:t>
            </a:r>
          </a:p>
        </p:txBody>
      </p:sp>
    </p:spTree>
    <p:extLst>
      <p:ext uri="{BB962C8B-B14F-4D97-AF65-F5344CB8AC3E}">
        <p14:creationId xmlns:p14="http://schemas.microsoft.com/office/powerpoint/2010/main" val="2439238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A46FAC7-B420-4369-99F1-0554E22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1D297C-B132-4192-B4C3-139BB440E058}"/>
              </a:ext>
            </a:extLst>
          </p:cNvPr>
          <p:cNvSpPr txBox="1"/>
          <p:nvPr/>
        </p:nvSpPr>
        <p:spPr>
          <a:xfrm>
            <a:off x="338018" y="1565038"/>
            <a:ext cx="1086338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Fecha de inicio: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Fecha de finalización: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Cronograma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2698917"/>
            <a:ext cx="96393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40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/20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4BEE6E-E5EF-4F44-B226-C7A668E20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55" y="961220"/>
            <a:ext cx="3690586" cy="364946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67271E57-A755-4D15-8F0C-6BEE847D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B86E196-0EF3-465A-9ADF-1CAC3EEC0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8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0A1FEC7-D45B-494E-8A71-2D9082CF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32" y="1116399"/>
            <a:ext cx="3571875" cy="5343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538F45-5580-49DC-8B2D-98951FD89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AAFEA4-B242-4194-A802-451A94366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864" y="1101088"/>
            <a:ext cx="53340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1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88CBAEE-F6AA-4803-B1B3-9B749514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calidad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C2A0E0-ED86-4512-945A-5C7F9572552B}"/>
              </a:ext>
            </a:extLst>
          </p:cNvPr>
          <p:cNvSpPr txBox="1"/>
          <p:nvPr/>
        </p:nvSpPr>
        <p:spPr>
          <a:xfrm>
            <a:off x="901217" y="1675819"/>
            <a:ext cx="9635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externas: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 de renovación ISO 9001:2015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Dispositivos con Marcado CE e ISO </a:t>
            </a:r>
            <a:r>
              <a:rPr lang="es-ES" sz="2400" dirty="0"/>
              <a:t>13485:2016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Metodología ITIL</a:t>
            </a:r>
          </a:p>
          <a:p>
            <a:endParaRPr lang="es-ES_tradnl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02A96F4-017D-4B67-9259-031E94F8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25" y="1582615"/>
            <a:ext cx="2704258" cy="10431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4FEE7F5-8B47-4831-BE59-62FC2AE6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205" y="4548989"/>
            <a:ext cx="1905000" cy="13620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AA89F37-148B-4BF8-A9B6-2D5A9474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000" y="4158463"/>
            <a:ext cx="2143125" cy="21431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1258840-B595-4B80-BC33-59EC4AA0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920" y="4599022"/>
            <a:ext cx="2143125" cy="9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0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4D76957-1026-478C-AC57-D27832D5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presupuesto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121DF3-A7F0-4A65-ADBD-8ACE646479F6}"/>
              </a:ext>
            </a:extLst>
          </p:cNvPr>
          <p:cNvSpPr txBox="1"/>
          <p:nvPr/>
        </p:nvSpPr>
        <p:spPr>
          <a:xfrm>
            <a:off x="552090" y="1424360"/>
            <a:ext cx="7514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Presupuesto final: 2.222.069,36€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Inyección pautada de capital: 7 pagos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dirty="0"/>
              <a:t>Inicial 20% | Diciembre 20% | Marzo 10% | Abril 10% Junio 20% | Agosto 10% | Septiembre 10%</a:t>
            </a:r>
          </a:p>
          <a:p>
            <a:endParaRPr lang="es-ES" sz="2400" dirty="0"/>
          </a:p>
        </p:txBody>
      </p:sp>
      <p:graphicFrame>
        <p:nvGraphicFramePr>
          <p:cNvPr id="9" name="1 Gráfico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665889"/>
              </p:ext>
            </p:extLst>
          </p:nvPr>
        </p:nvGraphicFramePr>
        <p:xfrm>
          <a:off x="1893830" y="2433712"/>
          <a:ext cx="9087588" cy="4258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1105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18</a:t>
            </a:fld>
            <a:r>
              <a:rPr lang="es-ES" sz="2000" dirty="0"/>
              <a:t>/20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189F9F86-9971-334E-90DE-0CE47668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817613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Flecha derecha 14">
            <a:extLst>
              <a:ext uri="{FF2B5EF4-FFF2-40B4-BE49-F238E27FC236}">
                <a16:creationId xmlns:a16="http://schemas.microsoft.com/office/drawing/2014/main" id="{8169F9E9-B02E-9C4F-AAE0-6695B9530A97}"/>
              </a:ext>
            </a:extLst>
          </p:cNvPr>
          <p:cNvSpPr/>
          <p:nvPr/>
        </p:nvSpPr>
        <p:spPr>
          <a:xfrm>
            <a:off x="1973020" y="524486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nillo 15">
            <a:extLst>
              <a:ext uri="{FF2B5EF4-FFF2-40B4-BE49-F238E27FC236}">
                <a16:creationId xmlns:a16="http://schemas.microsoft.com/office/drawing/2014/main" id="{E4847C0D-D5C0-034B-AC76-16A584EEFE3B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Anillo 16">
            <a:extLst>
              <a:ext uri="{FF2B5EF4-FFF2-40B4-BE49-F238E27FC236}">
                <a16:creationId xmlns:a16="http://schemas.microsoft.com/office/drawing/2014/main" id="{7CF0BC9B-4F48-8E43-829F-3C4F973176D1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" name="Anillo 17">
            <a:extLst>
              <a:ext uri="{FF2B5EF4-FFF2-40B4-BE49-F238E27FC236}">
                <a16:creationId xmlns:a16="http://schemas.microsoft.com/office/drawing/2014/main" id="{C2ED0A51-FD41-CC45-98BC-79201011392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nillo 18">
            <a:extLst>
              <a:ext uri="{FF2B5EF4-FFF2-40B4-BE49-F238E27FC236}">
                <a16:creationId xmlns:a16="http://schemas.microsoft.com/office/drawing/2014/main" id="{5089576A-0BD8-3141-9700-67D806F10784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0" name="Anillo 19">
            <a:extLst>
              <a:ext uri="{FF2B5EF4-FFF2-40B4-BE49-F238E27FC236}">
                <a16:creationId xmlns:a16="http://schemas.microsoft.com/office/drawing/2014/main" id="{41220052-AE07-DD4A-AFF9-7275564AB419}"/>
              </a:ext>
            </a:extLst>
          </p:cNvPr>
          <p:cNvSpPr/>
          <p:nvPr/>
        </p:nvSpPr>
        <p:spPr>
          <a:xfrm>
            <a:off x="2162801" y="373218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1" name="Anillo 20">
            <a:extLst>
              <a:ext uri="{FF2B5EF4-FFF2-40B4-BE49-F238E27FC236}">
                <a16:creationId xmlns:a16="http://schemas.microsoft.com/office/drawing/2014/main" id="{84365D38-197A-8249-B2C3-92ECD11417AD}"/>
              </a:ext>
            </a:extLst>
          </p:cNvPr>
          <p:cNvSpPr/>
          <p:nvPr/>
        </p:nvSpPr>
        <p:spPr>
          <a:xfrm>
            <a:off x="3827699" y="370965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Anillo 21">
            <a:extLst>
              <a:ext uri="{FF2B5EF4-FFF2-40B4-BE49-F238E27FC236}">
                <a16:creationId xmlns:a16="http://schemas.microsoft.com/office/drawing/2014/main" id="{84413EE8-8876-2A4D-9770-BB7D2C172F69}"/>
              </a:ext>
            </a:extLst>
          </p:cNvPr>
          <p:cNvSpPr/>
          <p:nvPr/>
        </p:nvSpPr>
        <p:spPr>
          <a:xfrm>
            <a:off x="3827699" y="4071553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3" name="Anillo 22">
            <a:extLst>
              <a:ext uri="{FF2B5EF4-FFF2-40B4-BE49-F238E27FC236}">
                <a16:creationId xmlns:a16="http://schemas.microsoft.com/office/drawing/2014/main" id="{A7F81AEC-66E8-AD48-8597-58DE4A8A2A80}"/>
              </a:ext>
            </a:extLst>
          </p:cNvPr>
          <p:cNvSpPr/>
          <p:nvPr/>
        </p:nvSpPr>
        <p:spPr>
          <a:xfrm>
            <a:off x="3827699" y="4463824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4" name="Anillo 23">
            <a:extLst>
              <a:ext uri="{FF2B5EF4-FFF2-40B4-BE49-F238E27FC236}">
                <a16:creationId xmlns:a16="http://schemas.microsoft.com/office/drawing/2014/main" id="{282AAF2E-EBC2-2242-BE02-85C99593B576}"/>
              </a:ext>
            </a:extLst>
          </p:cNvPr>
          <p:cNvSpPr/>
          <p:nvPr/>
        </p:nvSpPr>
        <p:spPr>
          <a:xfrm>
            <a:off x="3822394" y="480392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5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ovages.es/wp-content/uploads/2016/05/Grafica-ascendente1.jpg">
            <a:extLst>
              <a:ext uri="{FF2B5EF4-FFF2-40B4-BE49-F238E27FC236}">
                <a16:creationId xmlns:a16="http://schemas.microsoft.com/office/drawing/2014/main" id="{3A06A4B5-01EC-438D-90C0-C3C1CBB07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59" y="1899284"/>
            <a:ext cx="5530141" cy="334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19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C7ABED4-F7D2-4DA5-AC79-471C4AA6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181D46-D805-4BB5-B119-EC502F6131A3}"/>
              </a:ext>
            </a:extLst>
          </p:cNvPr>
          <p:cNvSpPr txBox="1"/>
          <p:nvPr/>
        </p:nvSpPr>
        <p:spPr>
          <a:xfrm>
            <a:off x="552090" y="2090172"/>
            <a:ext cx="72414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Sostenibilidad del proyecto y servicio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Sistema escalable: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 enfermedades a tratar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Nuevas tecnologías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del número de hospitales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Mayor aceptación social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Añadir nuevas funcionalidades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5E6FD3-D60C-4C2B-B8BD-710F0180ADA2}"/>
              </a:ext>
            </a:extLst>
          </p:cNvPr>
          <p:cNvSpPr txBox="1"/>
          <p:nvPr/>
        </p:nvSpPr>
        <p:spPr>
          <a:xfrm>
            <a:off x="8566757" y="5209644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https://www.novages.es</a:t>
            </a:r>
          </a:p>
        </p:txBody>
      </p:sp>
    </p:spTree>
    <p:extLst>
      <p:ext uri="{BB962C8B-B14F-4D97-AF65-F5344CB8AC3E}">
        <p14:creationId xmlns:p14="http://schemas.microsoft.com/office/powerpoint/2010/main" val="844322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2B775D-6E9C-4F60-892F-E88AEF7D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7" y="1584419"/>
            <a:ext cx="3689160" cy="3689160"/>
          </a:xfrm>
          <a:prstGeom prst="rect">
            <a:avLst/>
          </a:prstGeom>
          <a:ln w="31750" cap="sq">
            <a:noFill/>
            <a:miter lim="800000"/>
          </a:ln>
        </p:spPr>
      </p:pic>
      <p:pic>
        <p:nvPicPr>
          <p:cNvPr id="4" name="Imagen 4">
            <a:extLst>
              <a:ext uri="{FF2B5EF4-FFF2-40B4-BE49-F238E27FC236}">
                <a16:creationId xmlns:a16="http://schemas.microsoft.com/office/drawing/2014/main" id="{282E0993-4F0D-4BD0-B5B2-2CDA92FE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32" y="2089534"/>
            <a:ext cx="6250832" cy="2678928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76AA9E-7E7A-40C1-85F2-AFC09E3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375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"/>
    </mc:Choice>
    <mc:Fallback xmlns="">
      <p:transition spd="slow" advTm="414"/>
    </mc:Fallback>
  </mc:AlternateContent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512</Words>
  <Application>Microsoft Office PowerPoint</Application>
  <PresentationFormat>Widescreen</PresentationFormat>
  <Paragraphs>184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Century Gothic</vt:lpstr>
      <vt:lpstr>Estela de condensación</vt:lpstr>
      <vt:lpstr>Proyecto MeCuida</vt:lpstr>
      <vt:lpstr>Índice</vt:lpstr>
      <vt:lpstr>¿Quiénes somos?</vt:lpstr>
      <vt:lpstr>¿Quiénes somos? - Organigrama</vt:lpstr>
      <vt:lpstr>PROYECTOS Relacionados</vt:lpstr>
      <vt:lpstr>Organizaciones y colaboradores </vt:lpstr>
      <vt:lpstr>Índice</vt:lpstr>
      <vt:lpstr>Características</vt:lpstr>
      <vt:lpstr>Características</vt:lpstr>
      <vt:lpstr>Características - Patologías</vt:lpstr>
      <vt:lpstr>Características - Dispositivos</vt:lpstr>
      <vt:lpstr>Características - Objetivos</vt:lpstr>
      <vt:lpstr>Tiempo y fases</vt:lpstr>
      <vt:lpstr>Tiempo y fases (WBS)</vt:lpstr>
      <vt:lpstr>Tiempo y fases (WBS)</vt:lpstr>
      <vt:lpstr>Tiempo y fases (WBS)</vt:lpstr>
      <vt:lpstr>calidad</vt:lpstr>
      <vt:lpstr>presupuesto</vt:lpstr>
      <vt:lpstr>Índice</vt:lpstr>
      <vt:lpstr>Líneas futuras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Gallego Sánchez Adrián</cp:lastModifiedBy>
  <cp:revision>9</cp:revision>
  <dcterms:created xsi:type="dcterms:W3CDTF">2019-01-12T19:58:33Z</dcterms:created>
  <dcterms:modified xsi:type="dcterms:W3CDTF">2019-01-12T21:17:45Z</dcterms:modified>
</cp:coreProperties>
</file>