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del título</a:t>
            </a:r>
          </a:p>
        </p:txBody>
      </p:sp>
      <p:sp>
        <p:nvSpPr>
          <p:cNvPr id="12" name="Nivel de texto 1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n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exto del título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del título</a:t>
            </a:r>
          </a:p>
        </p:txBody>
      </p:sp>
      <p:sp>
        <p:nvSpPr>
          <p:cNvPr id="22" name="Nivel de texto 1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(cent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el título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n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exto del título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Texto del título</a:t>
            </a:r>
          </a:p>
        </p:txBody>
      </p:sp>
      <p:sp>
        <p:nvSpPr>
          <p:cNvPr id="40" name="Nivel de texto 1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(arrib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9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57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8" name="Número de diapositiva"/>
          <p:cNvSpPr txBox="1"/>
          <p:nvPr>
            <p:ph type="sldNum" sz="quarter" idx="2"/>
          </p:nvPr>
        </p:nvSpPr>
        <p:spPr>
          <a:xfrm>
            <a:off x="12056584" y="9245600"/>
            <a:ext cx="340259" cy="324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n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67" name="Nivel de texto 1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8" name="Número de diapositiva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ivel de texto 1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n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n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n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 Juan López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 Juan López</a:t>
            </a:r>
          </a:p>
        </p:txBody>
      </p:sp>
      <p:sp>
        <p:nvSpPr>
          <p:cNvPr id="94" name="“Escribir una cita aquí”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“Escribir una cita aquí” </a:t>
            </a:r>
          </a:p>
        </p:txBody>
      </p:sp>
      <p:sp>
        <p:nvSpPr>
          <p:cNvPr id="9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n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ontexto, Gestión de la Integración Y Gestión del Alcance"/>
          <p:cNvSpPr txBox="1"/>
          <p:nvPr>
            <p:ph type="ctrTitle"/>
          </p:nvPr>
        </p:nvSpPr>
        <p:spPr>
          <a:xfrm>
            <a:off x="1064620" y="1567290"/>
            <a:ext cx="10875560" cy="3954952"/>
          </a:xfrm>
          <a:prstGeom prst="rect">
            <a:avLst/>
          </a:prstGeom>
        </p:spPr>
        <p:txBody>
          <a:bodyPr/>
          <a:lstStyle>
            <a:lvl1pPr defTabSz="457200">
              <a:lnSpc>
                <a:spcPts val="19000"/>
              </a:lnSpc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Contexto, Gestión de la Integración Y Gestión del Alcance </a:t>
            </a:r>
          </a:p>
        </p:txBody>
      </p:sp>
      <p:sp>
        <p:nvSpPr>
          <p:cNvPr id="120" name="María de Cortés Benito Ortiz…"/>
          <p:cNvSpPr txBox="1"/>
          <p:nvPr>
            <p:ph type="subTitle" sz="quarter" idx="1"/>
          </p:nvPr>
        </p:nvSpPr>
        <p:spPr>
          <a:xfrm>
            <a:off x="8575075" y="6313584"/>
            <a:ext cx="3618728" cy="2020736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María de Cortés Benito Ortiz</a:t>
            </a:r>
          </a:p>
          <a:p>
            <a:pPr>
              <a:defRPr sz="2000"/>
            </a:pPr>
            <a:r>
              <a:t>Adrián Gallego Sánchez</a:t>
            </a:r>
          </a:p>
          <a:p>
            <a:pPr>
              <a:defRPr sz="2000"/>
            </a:pPr>
            <a:r>
              <a:t>Sergio Lluva Plaza</a:t>
            </a:r>
          </a:p>
          <a:p>
            <a:pPr>
              <a:defRPr sz="2000"/>
            </a:pPr>
            <a:r>
              <a:t>Alejandro Paniagua Tineo</a:t>
            </a:r>
          </a:p>
          <a:p>
            <a:pPr>
              <a:defRPr sz="2000"/>
            </a:pPr>
            <a:r>
              <a:t>Boby Nicusor Constantin</a:t>
            </a:r>
            <a:br/>
          </a:p>
        </p:txBody>
      </p:sp>
      <p:pic>
        <p:nvPicPr>
          <p:cNvPr id="121" name="Imagen" descr="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6694" y="7119933"/>
            <a:ext cx="5557869" cy="2368929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Número de diapositiva"/>
          <p:cNvSpPr txBox="1"/>
          <p:nvPr>
            <p:ph type="sldNum" sz="quarter" idx="4294967295"/>
          </p:nvPr>
        </p:nvSpPr>
        <p:spPr>
          <a:xfrm>
            <a:off x="12086068" y="9248235"/>
            <a:ext cx="227281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3" name="MeCuida"/>
          <p:cNvSpPr txBox="1"/>
          <p:nvPr/>
        </p:nvSpPr>
        <p:spPr>
          <a:xfrm>
            <a:off x="4693036" y="5937293"/>
            <a:ext cx="3618728" cy="767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0" sz="520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Sans Forgetica"/>
                <a:ea typeface="Sans Forgetica"/>
                <a:cs typeface="Sans Forgetica"/>
                <a:sym typeface="Sans Forgetica"/>
              </a:defRPr>
            </a:lvl1pPr>
          </a:lstStyle>
          <a:p>
            <a:pPr/>
            <a:r>
              <a:t>MeCuida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Índ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Índice</a:t>
            </a:r>
          </a:p>
        </p:txBody>
      </p:sp>
      <p:sp>
        <p:nvSpPr>
          <p:cNvPr id="126" name="Contexto…"/>
          <p:cNvSpPr txBox="1"/>
          <p:nvPr>
            <p:ph type="body" idx="1"/>
          </p:nvPr>
        </p:nvSpPr>
        <p:spPr>
          <a:xfrm>
            <a:off x="952500" y="2165350"/>
            <a:ext cx="11099800" cy="6286500"/>
          </a:xfrm>
          <a:prstGeom prst="rect">
            <a:avLst/>
          </a:prstGeom>
        </p:spPr>
        <p:txBody>
          <a:bodyPr/>
          <a:lstStyle/>
          <a:p>
            <a:pPr marL="396716" indent="-396716" defTabSz="384047">
              <a:lnSpc>
                <a:spcPts val="6500"/>
              </a:lnSpc>
              <a:spcBef>
                <a:spcPts val="0"/>
              </a:spcBef>
              <a:defRPr sz="2856"/>
            </a:pPr>
            <a:r>
              <a:t>Contexto</a:t>
            </a:r>
          </a:p>
          <a:p>
            <a:pPr marL="396716" indent="-396716" defTabSz="384047">
              <a:lnSpc>
                <a:spcPts val="6500"/>
              </a:lnSpc>
              <a:spcBef>
                <a:spcPts val="0"/>
              </a:spcBef>
              <a:defRPr sz="2856"/>
            </a:pPr>
          </a:p>
          <a:p>
            <a:pPr marL="396716" indent="-396716" defTabSz="384047">
              <a:lnSpc>
                <a:spcPts val="6500"/>
              </a:lnSpc>
              <a:spcBef>
                <a:spcPts val="0"/>
              </a:spcBef>
              <a:defRPr sz="2856"/>
            </a:pPr>
            <a:r>
              <a:t>Gestión de Integración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Propósito del proyecto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Requisitos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Acuerdos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Activos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Riesgos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</a:p>
          <a:p>
            <a:pPr marL="396716" indent="-396716" defTabSz="384047">
              <a:lnSpc>
                <a:spcPts val="6500"/>
              </a:lnSpc>
              <a:spcBef>
                <a:spcPts val="0"/>
              </a:spcBef>
              <a:defRPr sz="2856"/>
            </a:pPr>
            <a:r>
              <a:t>Gestión del Alcance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Plan de Gestión del Alcance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Recopilación de Requisitos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Definición del Alcance</a:t>
            </a:r>
          </a:p>
          <a:p>
            <a:pPr lvl="1" marL="770096" indent="-396716" defTabSz="384047">
              <a:lnSpc>
                <a:spcPts val="6500"/>
              </a:lnSpc>
              <a:spcBef>
                <a:spcPts val="0"/>
              </a:spcBef>
              <a:buSzPct val="100000"/>
              <a:buChar char="‣"/>
              <a:defRPr sz="2856"/>
            </a:pPr>
            <a:r>
              <a:t>WBS</a:t>
            </a:r>
          </a:p>
        </p:txBody>
      </p:sp>
      <p:sp>
        <p:nvSpPr>
          <p:cNvPr id="127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8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ontex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Contexto</a:t>
            </a:r>
          </a:p>
        </p:txBody>
      </p:sp>
      <p:sp>
        <p:nvSpPr>
          <p:cNvPr id="131" name="Problemas…"/>
          <p:cNvSpPr txBox="1"/>
          <p:nvPr>
            <p:ph type="body" sz="half" idx="1"/>
          </p:nvPr>
        </p:nvSpPr>
        <p:spPr>
          <a:xfrm>
            <a:off x="952500" y="2165350"/>
            <a:ext cx="7702799" cy="3941465"/>
          </a:xfrm>
          <a:prstGeom prst="rect">
            <a:avLst/>
          </a:prstGeom>
        </p:spPr>
        <p:txBody>
          <a:bodyPr/>
          <a:lstStyle/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Problemas</a:t>
            </a:r>
          </a:p>
          <a:p>
            <a:pPr lvl="1" marL="916781" indent="-47228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  <a:r>
              <a:t>Saturación del Sistema Sanitario</a:t>
            </a:r>
          </a:p>
          <a:p>
            <a:pPr lvl="1" marL="916781" indent="-47228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  <a:r>
              <a:t>Escalabilidad</a:t>
            </a:r>
          </a:p>
          <a:p>
            <a:pPr lvl="1" marL="916781" indent="-47228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Digitalización de la Sanidad</a:t>
            </a:r>
          </a:p>
          <a:p>
            <a:pPr lvl="1" marL="916781" indent="-47228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  <a:r>
              <a:t>GRP</a:t>
            </a:r>
          </a:p>
        </p:txBody>
      </p:sp>
      <p:sp>
        <p:nvSpPr>
          <p:cNvPr id="132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3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ropósito del Proyec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Propósito del Proyecto</a:t>
            </a:r>
          </a:p>
        </p:txBody>
      </p:sp>
      <p:sp>
        <p:nvSpPr>
          <p:cNvPr id="136" name="Implementar un servicio que permita la gestión remota de pacientes (GRP).…"/>
          <p:cNvSpPr txBox="1"/>
          <p:nvPr>
            <p:ph type="body" idx="1"/>
          </p:nvPr>
        </p:nvSpPr>
        <p:spPr>
          <a:xfrm>
            <a:off x="852437" y="2533253"/>
            <a:ext cx="11299926" cy="6739434"/>
          </a:xfrm>
          <a:prstGeom prst="rect">
            <a:avLst/>
          </a:prstGeom>
        </p:spPr>
        <p:txBody>
          <a:bodyPr/>
          <a:lstStyle/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Implementar un servicio que permita la gestión remota de pacientes (GRP).</a:t>
            </a:r>
          </a:p>
          <a:p>
            <a:pPr lvl="1" marL="916781" indent="-47228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Liberar carga al sistema español de sanidad.</a:t>
            </a: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Paliar el problema de la escalabilidad del sistema sanitario.</a:t>
            </a: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Mejorar la calidad de atención al paciente.</a:t>
            </a: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Mejorar la experiencia de usuario de los pacientes</a:t>
            </a:r>
          </a:p>
        </p:txBody>
      </p:sp>
      <p:sp>
        <p:nvSpPr>
          <p:cNvPr id="137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8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quisi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Requisitos</a:t>
            </a:r>
          </a:p>
        </p:txBody>
      </p:sp>
      <p:sp>
        <p:nvSpPr>
          <p:cNvPr id="141" name="Médicos podrán utilizar MeCuida para hacer prescripciones a los pacientes…"/>
          <p:cNvSpPr txBox="1"/>
          <p:nvPr>
            <p:ph type="body" idx="1"/>
          </p:nvPr>
        </p:nvSpPr>
        <p:spPr>
          <a:xfrm>
            <a:off x="852437" y="2178049"/>
            <a:ext cx="11299926" cy="7032626"/>
          </a:xfrm>
          <a:prstGeom prst="rect">
            <a:avLst/>
          </a:prstGeom>
        </p:spPr>
        <p:txBody>
          <a:bodyPr/>
          <a:lstStyle/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Médicos podrán utilizar MeCuida para hacer prescripciones a los pacientes</a:t>
            </a:r>
          </a:p>
          <a:p>
            <a:pPr lvl="1" marL="632579" indent="-325874" defTabSz="315468">
              <a:lnSpc>
                <a:spcPts val="5300"/>
              </a:lnSpc>
              <a:spcBef>
                <a:spcPts val="0"/>
              </a:spcBef>
              <a:buSzPct val="100000"/>
              <a:buChar char="‣"/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Formar al personal médico y a los usuarios/pacientes</a:t>
            </a: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Almacenar en la </a:t>
            </a:r>
            <a:r>
              <a:rPr i="1"/>
              <a:t>nube</a:t>
            </a:r>
            <a:r>
              <a:t> los datos de los pacientes</a:t>
            </a: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Obtener dispositivos de monitorización y comunicación para que los usuarios puedan utilizar el servicio</a:t>
            </a: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Obtener el software que permita implementar el servicio</a:t>
            </a: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Integrar el servicio con las aplicaciones que usa la sanidad española</a:t>
            </a: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Implementar un </a:t>
            </a:r>
            <a:r>
              <a:rPr i="1"/>
              <a:t>Call Centre </a:t>
            </a:r>
            <a:r>
              <a:t>para consultar dudas o avisar de problemas técnicos</a:t>
            </a: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Implementar un servicio de instalación, reparación y retirada de equipos a domicilio</a:t>
            </a: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</a:p>
          <a:p>
            <a:pPr marL="325874" indent="-325874" defTabSz="315468">
              <a:lnSpc>
                <a:spcPts val="5300"/>
              </a:lnSpc>
              <a:spcBef>
                <a:spcPts val="0"/>
              </a:spcBef>
              <a:defRPr sz="2346"/>
            </a:pPr>
            <a:r>
              <a:t>Protección de datos</a:t>
            </a:r>
          </a:p>
        </p:txBody>
      </p:sp>
      <p:sp>
        <p:nvSpPr>
          <p:cNvPr id="142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43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Acuerd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Acuerdos</a:t>
            </a:r>
          </a:p>
        </p:txBody>
      </p:sp>
      <p:sp>
        <p:nvSpPr>
          <p:cNvPr id="146" name="Almacenamiento de datos en la nube…"/>
          <p:cNvSpPr txBox="1"/>
          <p:nvPr>
            <p:ph type="body" idx="1"/>
          </p:nvPr>
        </p:nvSpPr>
        <p:spPr>
          <a:xfrm>
            <a:off x="607863" y="2482850"/>
            <a:ext cx="11789074" cy="6808242"/>
          </a:xfrm>
          <a:prstGeom prst="rect">
            <a:avLst/>
          </a:prstGeom>
        </p:spPr>
        <p:txBody>
          <a:bodyPr/>
          <a:lstStyle/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  <a:r>
              <a:t>Almacenamiento de datos en la nube</a:t>
            </a: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  <a:r>
              <a:t>Comunicaciones 4G para los dispositivos</a:t>
            </a: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  <a:r>
              <a:t>Empresa encargada de la distribución, mantenimiento y reparación de los dispositivos</a:t>
            </a: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  <a:r>
              <a:t>Almacenamiento y gestión del stock</a:t>
            </a: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  <a:r>
              <a:t>Formación</a:t>
            </a: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  <a:r>
              <a:t>Diseño del software</a:t>
            </a: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</a:p>
          <a:p>
            <a:pPr marL="382023" indent="-382023" defTabSz="416052">
              <a:lnSpc>
                <a:spcPts val="7000"/>
              </a:lnSpc>
              <a:spcBef>
                <a:spcPts val="0"/>
              </a:spcBef>
              <a:defRPr sz="3094"/>
            </a:pPr>
            <a:r>
              <a:t>Integración del software</a:t>
            </a:r>
          </a:p>
        </p:txBody>
      </p:sp>
      <p:sp>
        <p:nvSpPr>
          <p:cNvPr id="147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48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Activ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Activos</a:t>
            </a:r>
          </a:p>
        </p:txBody>
      </p:sp>
      <p:sp>
        <p:nvSpPr>
          <p:cNvPr id="151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2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iesg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Riesgos</a:t>
            </a:r>
          </a:p>
        </p:txBody>
      </p:sp>
      <p:sp>
        <p:nvSpPr>
          <p:cNvPr id="155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6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n de Gestión del Alca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Plan de Gestión del Alcance</a:t>
            </a:r>
          </a:p>
        </p:txBody>
      </p:sp>
      <p:sp>
        <p:nvSpPr>
          <p:cNvPr id="159" name="Número de diapositiva"/>
          <p:cNvSpPr txBox="1"/>
          <p:nvPr>
            <p:ph type="sldNum" sz="quarter" idx="2"/>
          </p:nvPr>
        </p:nvSpPr>
        <p:spPr>
          <a:xfrm>
            <a:off x="12113073" y="92456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0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Describe cómo se define y valida el alcance del proyecto y del servicio…"/>
          <p:cNvSpPr txBox="1"/>
          <p:nvPr>
            <p:ph type="body" idx="1"/>
          </p:nvPr>
        </p:nvSpPr>
        <p:spPr>
          <a:xfrm>
            <a:off x="761999" y="2673349"/>
            <a:ext cx="11298289" cy="6628856"/>
          </a:xfrm>
          <a:prstGeom prst="rect">
            <a:avLst/>
          </a:prstGeom>
        </p:spPr>
        <p:txBody>
          <a:bodyPr anchor="t"/>
          <a:lstStyle/>
          <a:p>
            <a:pPr marL="444499" indent="-444499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Describe cómo se define y valida el alcance del proyecto y del servicio</a:t>
            </a:r>
          </a:p>
          <a:p>
            <a:pPr lvl="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  <a:r>
              <a:t>Definición detallada del alcance del proyecto y del servicio</a:t>
            </a:r>
          </a:p>
          <a:p>
            <a:pPr lvl="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  <a:r>
              <a:t>Creación del EDT/WBS</a:t>
            </a:r>
          </a:p>
          <a:p>
            <a:pPr lvl="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  <a:r>
              <a:t>Control de cambios en el alcance</a:t>
            </a:r>
          </a:p>
          <a:p>
            <a:pPr lvl="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  <a:r>
              <a:t>Criterios de aceptación de los entregables</a:t>
            </a:r>
          </a:p>
          <a:p>
            <a:pPr lvl="1" defTabSz="457200">
              <a:lnSpc>
                <a:spcPts val="7700"/>
              </a:lnSpc>
              <a:spcBef>
                <a:spcPts val="0"/>
              </a:spcBef>
              <a:buSzPct val="100000"/>
              <a:buChar char="‣"/>
              <a:defRPr sz="3400"/>
            </a:pPr>
          </a:p>
          <a:p>
            <a:pPr marL="472281" indent="-472281" defTabSz="457200">
              <a:lnSpc>
                <a:spcPts val="7700"/>
              </a:lnSpc>
              <a:spcBef>
                <a:spcPts val="0"/>
              </a:spcBef>
              <a:defRPr sz="3400"/>
            </a:pPr>
            <a:r>
              <a:t>Planificación de la gestión de los requerimientos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opilación de Requisi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6570">
              <a:defRPr sz="6800"/>
            </a:lvl1pPr>
          </a:lstStyle>
          <a:p>
            <a:pPr/>
            <a:r>
              <a:t>Recopilación de Requisitos</a:t>
            </a:r>
          </a:p>
        </p:txBody>
      </p:sp>
      <p:sp>
        <p:nvSpPr>
          <p:cNvPr id="16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5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Definición del Alca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Definición del Alcance</a:t>
            </a:r>
          </a:p>
        </p:txBody>
      </p:sp>
      <p:sp>
        <p:nvSpPr>
          <p:cNvPr id="16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9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WB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WBS</a:t>
            </a:r>
          </a:p>
        </p:txBody>
      </p:sp>
      <p:sp>
        <p:nvSpPr>
          <p:cNvPr id="17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3" name="Imagen" descr="Imagen"/>
          <p:cNvPicPr>
            <a:picLocks noChangeAspect="1"/>
          </p:cNvPicPr>
          <p:nvPr/>
        </p:nvPicPr>
        <p:blipFill>
          <a:blip r:embed="rId2">
            <a:alphaModFix amt="14423"/>
            <a:extLst/>
          </a:blip>
          <a:stretch>
            <a:fillRect/>
          </a:stretch>
        </p:blipFill>
        <p:spPr>
          <a:xfrm>
            <a:off x="533994" y="7107233"/>
            <a:ext cx="5557869" cy="23689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