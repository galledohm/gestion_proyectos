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notesMasterIdLst>
    <p:notesMasterId r:id="rId19"/>
  </p:notesMasterIdLst>
  <p:sldIdLst>
    <p:sldId id="256" r:id="rId2"/>
    <p:sldId id="295" r:id="rId3"/>
    <p:sldId id="296" r:id="rId4"/>
    <p:sldId id="297" r:id="rId5"/>
    <p:sldId id="311" r:id="rId6"/>
    <p:sldId id="313" r:id="rId7"/>
    <p:sldId id="301" r:id="rId8"/>
    <p:sldId id="315" r:id="rId9"/>
    <p:sldId id="316" r:id="rId10"/>
    <p:sldId id="314" r:id="rId11"/>
    <p:sldId id="317" r:id="rId12"/>
    <p:sldId id="321" r:id="rId13"/>
    <p:sldId id="322" r:id="rId14"/>
    <p:sldId id="323" r:id="rId15"/>
    <p:sldId id="318" r:id="rId16"/>
    <p:sldId id="324" r:id="rId17"/>
    <p:sldId id="32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71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9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D6059-4A3D-40C8-A276-C5FAB0044591}" type="datetimeFigureOut">
              <a:rPr lang="es-ES" smtClean="0"/>
              <a:t>12/01/2017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4970C-BD0D-4214-B863-70E1406ED9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189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DD033-17FF-4D72-B5E1-0B78DC7E067F}" type="datetime1">
              <a:rPr lang="en-US" smtClean="0"/>
              <a:t>1/12/2017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17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F4A2-AF83-45E3-837F-CE10FDB31EA9}" type="datetime1">
              <a:rPr lang="en-US" smtClean="0"/>
              <a:t>1/12/2017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1429" y="82973"/>
            <a:ext cx="1275605" cy="1053253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3A194-483E-461E-80FE-2BD549B4ADD9}" type="datetime1">
              <a:rPr lang="en-US" smtClean="0"/>
              <a:t>1/12/2017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5865-A7D6-4D1F-B7E2-5AB84E697CA3}" type="datetime1">
              <a:rPr lang="en-US" smtClean="0"/>
              <a:t>1/12/2017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3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34FA6-1710-4793-8298-BC773B7C19D8}" type="datetime1">
              <a:rPr lang="en-US" smtClean="0"/>
              <a:t>1/12/2017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77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E7A0F-E4A7-49C3-8DF8-F870F48B66D5}" type="datetime1">
              <a:rPr lang="en-US" smtClean="0"/>
              <a:t>1/12/2017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216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2DCC-8247-444F-A0D2-269D55B5B78D}" type="datetime1">
              <a:rPr lang="en-US" smtClean="0"/>
              <a:t>1/12/2017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81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8A2C4-F673-45C9-8A82-33B2BE14BB49}" type="datetime1">
              <a:rPr lang="en-US" smtClean="0"/>
              <a:t>1/12/2017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988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97388-34A9-4BC8-9F1A-6D3B6A91C74B}" type="datetime1">
              <a:rPr lang="en-US" smtClean="0"/>
              <a:t>1/12/2017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676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2EB3-096F-4F6C-A434-D4E89F80B3D3}" type="datetime1">
              <a:rPr lang="en-US" smtClean="0"/>
              <a:t>1/12/2017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354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94D5F-73BB-4DF4-94BE-15A2531527F2}" type="datetime1">
              <a:rPr lang="en-US" smtClean="0"/>
              <a:t>1/12/2017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8022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8D01-162F-4DA4-8163-23A7103FD15B}" type="datetime1">
              <a:rPr lang="en-US" smtClean="0"/>
              <a:t>1/12/2017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52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461F-2FEE-4FBB-8225-9F8CF47A24E7}" type="datetime1">
              <a:rPr lang="en-US" smtClean="0"/>
              <a:t>1/12/2017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2513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92EC-632C-486F-8219-7725ADDB52E3}" type="datetime1">
              <a:rPr lang="en-US" smtClean="0"/>
              <a:t>1/12/2017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796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F3AD-8D33-45B5-8280-BA35536183F5}" type="datetime1">
              <a:rPr lang="en-US" smtClean="0"/>
              <a:t>1/12/2017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869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7094A-8B27-4644-A22D-DF4DE3B34A89}" type="datetime1">
              <a:rPr lang="en-US" smtClean="0"/>
              <a:t>1/12/2017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687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8828D-489C-4B6D-8126-FEC974B37A96}" type="datetime1">
              <a:rPr lang="en-US" smtClean="0"/>
              <a:t>1/12/2017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6572" y="5237825"/>
            <a:ext cx="1470740" cy="11554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64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8000" dirty="0"/>
              <a:t>DONATEL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i="1" u="sng" dirty="0"/>
              <a:t>Proyecto de Despliegue de Infraestructura de Estaciones Base 3G/LTE en Alcalá de Henares.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599" y="527907"/>
            <a:ext cx="3303715" cy="2160121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17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4000" dirty="0"/>
              <a:t>Índice</a:t>
            </a:r>
            <a:endParaRPr lang="es-ES" sz="2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555708" y="1530364"/>
            <a:ext cx="6780335" cy="488541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" sz="2000" dirty="0"/>
              <a:t>¿Quiénes somos?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Descripción del proyecto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Alcance 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Planificación temporal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Organigrama de la empresa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Control de calidad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Control de riesgos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Justificación económica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Comunicaciones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2295120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4000" dirty="0"/>
              <a:t>¿Quiénes somos?</a:t>
            </a:r>
            <a:endParaRPr lang="es-ES" sz="2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555708" y="1538655"/>
            <a:ext cx="7118839" cy="48854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1900" dirty="0"/>
              <a:t>Empresa consultora dedicada a la </a:t>
            </a:r>
            <a:r>
              <a:rPr lang="es-ES" sz="1900" b="1" dirty="0"/>
              <a:t>gestión de proyectos</a:t>
            </a:r>
            <a:r>
              <a:rPr lang="es-ES" sz="1900" dirty="0"/>
              <a:t>.</a:t>
            </a:r>
          </a:p>
          <a:p>
            <a:pPr>
              <a:lnSpc>
                <a:spcPct val="150000"/>
              </a:lnSpc>
            </a:pPr>
            <a:r>
              <a:rPr lang="es-ES" sz="1900" dirty="0"/>
              <a:t>Perfil tecnológico.</a:t>
            </a:r>
          </a:p>
          <a:p>
            <a:pPr>
              <a:lnSpc>
                <a:spcPct val="150000"/>
              </a:lnSpc>
            </a:pPr>
            <a:r>
              <a:rPr lang="es-ES" sz="1900" dirty="0"/>
              <a:t>Gran experiencia en </a:t>
            </a:r>
            <a:r>
              <a:rPr lang="es-ES" sz="1900" b="1" dirty="0"/>
              <a:t>despliegue de redes móviles</a:t>
            </a:r>
            <a:r>
              <a:rPr lang="es-ES" sz="19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Implantación de tecnologías UMTS y LTE en Alcorcón, Móstoles, Guadalajara, Sabadell, entre otras.</a:t>
            </a:r>
          </a:p>
          <a:p>
            <a:pPr>
              <a:lnSpc>
                <a:spcPct val="150000"/>
              </a:lnSpc>
            </a:pPr>
            <a:r>
              <a:rPr lang="es-ES" sz="1900" dirty="0"/>
              <a:t>Firme apuesta por la </a:t>
            </a:r>
            <a:r>
              <a:rPr lang="es-ES" sz="1900" b="1" dirty="0"/>
              <a:t>innovación</a:t>
            </a:r>
            <a:r>
              <a:rPr lang="es-ES" sz="1900" dirty="0"/>
              <a:t>.</a:t>
            </a:r>
          </a:p>
          <a:p>
            <a:pPr>
              <a:lnSpc>
                <a:spcPct val="150000"/>
              </a:lnSpc>
            </a:pPr>
            <a:r>
              <a:rPr lang="es-ES" sz="1900" dirty="0"/>
              <a:t>Férreos estándares de </a:t>
            </a:r>
            <a:r>
              <a:rPr lang="es-ES" sz="1900" b="1" dirty="0"/>
              <a:t>calidad</a:t>
            </a:r>
            <a:r>
              <a:rPr lang="es-ES" sz="1900" dirty="0"/>
              <a:t>.</a:t>
            </a:r>
          </a:p>
          <a:p>
            <a:endParaRPr lang="es-ES" sz="2000" dirty="0"/>
          </a:p>
          <a:p>
            <a:endParaRPr lang="es-ES" sz="2000" b="1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1049138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Descripción del proyecto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8" y="1319349"/>
            <a:ext cx="7514493" cy="553865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" sz="2000" b="1" dirty="0"/>
              <a:t>Plan para el despliegue de infraestructura de estaciones base 3G/LTE en la ciudad de Alcalá de Henares.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Fecha de inicio: 3 de Octubre de 2016.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Duración: 4 meses.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Presupuesto: </a:t>
            </a:r>
          </a:p>
          <a:p>
            <a:pPr>
              <a:lnSpc>
                <a:spcPct val="150000"/>
              </a:lnSpc>
            </a:pPr>
            <a:r>
              <a:rPr lang="es-ES" sz="2000" b="1" dirty="0"/>
              <a:t>Objetivos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Análisis demográfico y del despliegue de Telefónica en la ciudad.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Proporcionar solución eficiente para la implantación de la nueva tecnología.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Mejorar cobertura en zonas más pobladas.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Atracción de nuevos usuarios para nuestro cliente.</a:t>
            </a:r>
          </a:p>
          <a:p>
            <a:pPr marL="0" indent="0">
              <a:buNone/>
            </a:pPr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3380421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Alcance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555708" y="1319348"/>
            <a:ext cx="7391401" cy="542435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s-ES" sz="2000" b="1" dirty="0"/>
              <a:t>Requisitos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Cobertura para al menos el 90 % de la población.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Reutilización de infraestructuras y mimetización de nuevas.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Plan para evitar caídas de la red previa durante el despliegue.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Adquisición de equipos aprobados por Telefónica.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Protección histórica y medioambiental.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Primar contratación de ingenieros jóvenes.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Queda </a:t>
            </a:r>
            <a:r>
              <a:rPr lang="es-ES" sz="2000" b="1" dirty="0"/>
              <a:t>fuera del alcance </a:t>
            </a:r>
            <a:r>
              <a:rPr lang="es-ES" sz="2000" dirty="0"/>
              <a:t>el despliegue de la red.</a:t>
            </a:r>
          </a:p>
          <a:p>
            <a:pPr>
              <a:lnSpc>
                <a:spcPct val="150000"/>
              </a:lnSpc>
            </a:pPr>
            <a:r>
              <a:rPr lang="es-ES" sz="2000" b="1" dirty="0"/>
              <a:t>Supuestos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Posesión de las licencias necesarias.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Colaboración del ayuntamiento.</a:t>
            </a:r>
          </a:p>
          <a:p>
            <a:pPr marL="0" indent="0">
              <a:buNone/>
            </a:pPr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2681254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018" y="1892085"/>
            <a:ext cx="4364168" cy="478955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Alcance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7391401" cy="4885418"/>
          </a:xfrm>
        </p:spPr>
        <p:txBody>
          <a:bodyPr>
            <a:normAutofit/>
          </a:bodyPr>
          <a:lstStyle/>
          <a:p>
            <a:r>
              <a:rPr lang="es-ES" sz="2000" b="1" dirty="0"/>
              <a:t>EDT/WBS </a:t>
            </a:r>
          </a:p>
          <a:p>
            <a:pPr marL="0" indent="0">
              <a:buNone/>
            </a:pPr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r>
              <a:rPr lang="en-US" dirty="0"/>
              <a:t>/17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40" y="1892085"/>
            <a:ext cx="7094361" cy="432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29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Planificación temporal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18392" y="1319349"/>
            <a:ext cx="7365024" cy="519575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" sz="2000" dirty="0"/>
              <a:t>Empleo de un cronograma.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Unidad de medida: </a:t>
            </a:r>
            <a:r>
              <a:rPr lang="es-ES" sz="2000" b="1" dirty="0"/>
              <a:t>día.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La duración de las actividades se ha estimado en base a: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Recursos disponibles.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Proyectos similares realizados con anterioridad.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Modelo de tres valores.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El control del cronograma permite: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Comparar actividades en ejecución con lo planificado.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Tomar medidas correctivas.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Documentar eventos no considerado.</a:t>
            </a:r>
          </a:p>
          <a:p>
            <a:pPr lvl="1"/>
            <a:endParaRPr lang="es-ES" sz="1800" dirty="0"/>
          </a:p>
          <a:p>
            <a:endParaRPr lang="es-ES" sz="2000" dirty="0"/>
          </a:p>
          <a:p>
            <a:endParaRPr lang="es-ES" sz="1600" dirty="0"/>
          </a:p>
          <a:p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2302391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Planificación temporal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6912335" cy="4736607"/>
          </a:xfrm>
        </p:spPr>
        <p:txBody>
          <a:bodyPr>
            <a:normAutofit/>
          </a:bodyPr>
          <a:lstStyle/>
          <a:p>
            <a:r>
              <a:rPr lang="es-ES" sz="1900" b="1" dirty="0"/>
              <a:t>Cronograma temporal</a:t>
            </a:r>
          </a:p>
          <a:p>
            <a:pPr lvl="3"/>
            <a:endParaRPr lang="es-ES" sz="1600" dirty="0"/>
          </a:p>
          <a:p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r>
              <a:rPr lang="en-US" dirty="0"/>
              <a:t>/17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10" y="2061671"/>
            <a:ext cx="6454911" cy="457463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379" y="2801175"/>
            <a:ext cx="9166379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87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Organigrama de la empresa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7051830" cy="4736607"/>
          </a:xfrm>
        </p:spPr>
        <p:txBody>
          <a:bodyPr>
            <a:normAutofit/>
          </a:bodyPr>
          <a:lstStyle/>
          <a:p>
            <a:r>
              <a:rPr lang="es-ES" sz="1900" dirty="0"/>
              <a:t>Estructura jerárquica.</a:t>
            </a:r>
          </a:p>
          <a:p>
            <a:endParaRPr lang="es-ES" sz="2000" dirty="0"/>
          </a:p>
          <a:p>
            <a:endParaRPr lang="es-ES" sz="1600" dirty="0"/>
          </a:p>
          <a:p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r>
              <a:rPr lang="en-US" dirty="0"/>
              <a:t>/17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77" y="2159719"/>
            <a:ext cx="8598877" cy="299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726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Control de calidad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555708" y="1529862"/>
            <a:ext cx="6912335" cy="47366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1900" dirty="0"/>
              <a:t>Listas de verificación de calidad.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Entregables de evolución del proyecto para cliente y sponsor.</a:t>
            </a:r>
            <a:endParaRPr lang="es-ES" sz="1700" b="1" dirty="0"/>
          </a:p>
          <a:p>
            <a:pPr>
              <a:lnSpc>
                <a:spcPct val="150000"/>
              </a:lnSpc>
            </a:pPr>
            <a:r>
              <a:rPr lang="es-ES" sz="1900" b="1" dirty="0"/>
              <a:t>Solicitud de cambio.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Generada por la Project Manager y el equipo de planificación.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Generada por el cliente.</a:t>
            </a:r>
          </a:p>
          <a:p>
            <a:pPr lvl="2">
              <a:lnSpc>
                <a:spcPct val="150000"/>
              </a:lnSpc>
            </a:pPr>
            <a:r>
              <a:rPr lang="es-ES" sz="1700" dirty="0"/>
              <a:t>Analizada por el patrocinador, la Project Manager y el equipo de planificación.</a:t>
            </a:r>
          </a:p>
          <a:p>
            <a:pPr lvl="3">
              <a:lnSpc>
                <a:spcPct val="150000"/>
              </a:lnSpc>
            </a:pPr>
            <a:endParaRPr lang="es-ES" sz="1600" dirty="0"/>
          </a:p>
          <a:p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2591666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5639" y="609600"/>
            <a:ext cx="6347713" cy="873983"/>
          </a:xfrm>
        </p:spPr>
        <p:txBody>
          <a:bodyPr>
            <a:normAutofit/>
          </a:bodyPr>
          <a:lstStyle/>
          <a:p>
            <a:r>
              <a:rPr lang="es-ES" sz="3400" dirty="0"/>
              <a:t>Control de riesgos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5639" y="1254983"/>
            <a:ext cx="7189179" cy="515460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s-ES" sz="400" dirty="0"/>
          </a:p>
          <a:p>
            <a:pPr>
              <a:lnSpc>
                <a:spcPct val="150000"/>
              </a:lnSpc>
            </a:pPr>
            <a:r>
              <a:rPr lang="es-ES" sz="1900" dirty="0"/>
              <a:t>Plan de gestión de riesgos de Donatel.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Basado en proyectos anteriores: Sabadell.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Experiencia y solicitud de juicios expertos.</a:t>
            </a:r>
            <a:endParaRPr lang="es-ES" sz="400" dirty="0"/>
          </a:p>
          <a:p>
            <a:pPr>
              <a:lnSpc>
                <a:spcPct val="150000"/>
              </a:lnSpc>
            </a:pPr>
            <a:r>
              <a:rPr lang="es-ES" sz="1900" dirty="0"/>
              <a:t>Objetivos: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Identificar situaciones que afecten al proyecto: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700" dirty="0"/>
              <a:t>	Mantener un margen de maniobra.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Establecer prioridades: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700" dirty="0"/>
              <a:t>	Afrontar con mayor eficiencia los imprevistos.</a:t>
            </a:r>
          </a:p>
          <a:p>
            <a:pPr lvl="1">
              <a:lnSpc>
                <a:spcPct val="150000"/>
              </a:lnSpc>
            </a:pPr>
            <a:r>
              <a:rPr lang="es-ES" sz="1700" b="1" dirty="0">
                <a:solidFill>
                  <a:schemeClr val="tx1"/>
                </a:solidFill>
              </a:rPr>
              <a:t>Asegurar el éxito del proyecto.</a:t>
            </a:r>
          </a:p>
          <a:p>
            <a:pPr lvl="1"/>
            <a:endParaRPr lang="es-ES" sz="1800" dirty="0"/>
          </a:p>
          <a:p>
            <a:pPr>
              <a:lnSpc>
                <a:spcPct val="120000"/>
              </a:lnSpc>
            </a:pPr>
            <a:endParaRPr lang="es-ES" sz="2200" dirty="0"/>
          </a:p>
          <a:p>
            <a:pPr marL="0" indent="0" algn="just">
              <a:lnSpc>
                <a:spcPct val="120000"/>
              </a:lnSpc>
              <a:buNone/>
            </a:pPr>
            <a:endParaRPr lang="es-ES" sz="2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3372628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2015" y="609600"/>
            <a:ext cx="6347713" cy="718038"/>
          </a:xfrm>
        </p:spPr>
        <p:txBody>
          <a:bodyPr>
            <a:noAutofit/>
          </a:bodyPr>
          <a:lstStyle/>
          <a:p>
            <a:r>
              <a:rPr lang="es-ES" sz="3400" dirty="0"/>
              <a:t>Control de riesgos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9" y="1483583"/>
            <a:ext cx="7189179" cy="515575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1900" dirty="0"/>
              <a:t>Reserva de recursos para afrontar amenazas y oportunidades:</a:t>
            </a:r>
            <a:endParaRPr lang="es-ES" sz="400" dirty="0"/>
          </a:p>
          <a:p>
            <a:pPr lvl="1">
              <a:lnSpc>
                <a:spcPct val="150000"/>
              </a:lnSpc>
            </a:pPr>
            <a:r>
              <a:rPr lang="es-ES" sz="1700" dirty="0"/>
              <a:t>Reserva de un total de </a:t>
            </a:r>
            <a:r>
              <a:rPr lang="es-ES" sz="1700" b="1" dirty="0">
                <a:solidFill>
                  <a:schemeClr val="tx1"/>
                </a:solidFill>
              </a:rPr>
              <a:t>21080 € </a:t>
            </a:r>
            <a:r>
              <a:rPr lang="es-ES" sz="1700" dirty="0"/>
              <a:t>para los riesgos detectados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El calendario de planificación incluye una reserva de un total de </a:t>
            </a:r>
            <a:r>
              <a:rPr lang="es-ES" sz="1700" b="1" dirty="0">
                <a:solidFill>
                  <a:schemeClr val="tx1"/>
                </a:solidFill>
              </a:rPr>
              <a:t>6 días </a:t>
            </a:r>
            <a:endParaRPr lang="es-ES" sz="1700" dirty="0"/>
          </a:p>
          <a:p>
            <a:pPr lvl="1">
              <a:lnSpc>
                <a:spcPct val="150000"/>
              </a:lnSpc>
            </a:pPr>
            <a:r>
              <a:rPr lang="es-ES" sz="1700" dirty="0"/>
              <a:t>Reserva adicional de </a:t>
            </a:r>
            <a:r>
              <a:rPr lang="es-ES" sz="1700" b="1" dirty="0">
                <a:solidFill>
                  <a:schemeClr val="tx1"/>
                </a:solidFill>
              </a:rPr>
              <a:t>10000</a:t>
            </a:r>
            <a:r>
              <a:rPr lang="es-ES" sz="1700" dirty="0"/>
              <a:t> </a:t>
            </a:r>
            <a:r>
              <a:rPr lang="es-ES" sz="1700" b="1" dirty="0">
                <a:solidFill>
                  <a:schemeClr val="tx1"/>
                </a:solidFill>
              </a:rPr>
              <a:t>€ </a:t>
            </a:r>
            <a:r>
              <a:rPr lang="es-ES" sz="1700" dirty="0"/>
              <a:t>para desvíos del presupuesto, posibles imprevistos y oportunidades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Cada actividad tendrá asignada una contingencia para afrontar problemas e imprevistos</a:t>
            </a:r>
          </a:p>
          <a:p>
            <a:pPr lvl="1"/>
            <a:endParaRPr lang="es-ES" sz="1800" dirty="0"/>
          </a:p>
          <a:p>
            <a:pPr>
              <a:lnSpc>
                <a:spcPct val="120000"/>
              </a:lnSpc>
            </a:pPr>
            <a:endParaRPr lang="es-ES" sz="2200" dirty="0"/>
          </a:p>
          <a:p>
            <a:pPr marL="0" indent="0" algn="just">
              <a:lnSpc>
                <a:spcPct val="120000"/>
              </a:lnSpc>
              <a:buNone/>
            </a:pPr>
            <a:endParaRPr lang="es-ES" sz="2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1460975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96372" y="1448413"/>
            <a:ext cx="6347714" cy="5084272"/>
          </a:xfrm>
        </p:spPr>
        <p:txBody>
          <a:bodyPr>
            <a:normAutofit/>
          </a:bodyPr>
          <a:lstStyle/>
          <a:p>
            <a:r>
              <a:rPr lang="es-ES" sz="1900" dirty="0"/>
              <a:t>Presupuesto solicitado: 185000 €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r>
              <a:rPr lang="en-US" dirty="0"/>
              <a:t>/17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96372" y="609599"/>
            <a:ext cx="7492780" cy="6797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3400" dirty="0"/>
              <a:t>Costes estimados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058" y="2142446"/>
            <a:ext cx="5969028" cy="369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142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13020" y="1236587"/>
            <a:ext cx="6347714" cy="52256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2000" dirty="0"/>
              <a:t>Pago en 3 tramos:</a:t>
            </a:r>
          </a:p>
          <a:p>
            <a:pPr lvl="1"/>
            <a:r>
              <a:rPr lang="es-ES" sz="1800" dirty="0"/>
              <a:t>30% al comienzo del proyecto.</a:t>
            </a:r>
            <a:endParaRPr lang="es-ES" sz="400" dirty="0"/>
          </a:p>
          <a:p>
            <a:pPr lvl="1"/>
            <a:r>
              <a:rPr lang="es-ES" sz="1800" dirty="0"/>
              <a:t>45% para afrontar el pago a la empresa subcontratada.</a:t>
            </a:r>
            <a:endParaRPr lang="es-ES" sz="400" dirty="0"/>
          </a:p>
          <a:p>
            <a:pPr lvl="1"/>
            <a:r>
              <a:rPr lang="es-ES" sz="1800" dirty="0"/>
              <a:t>25% en la etapa final del proyecto.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r>
              <a:rPr lang="en-US" dirty="0"/>
              <a:t>/17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613020" y="609599"/>
            <a:ext cx="7492780" cy="626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3400" dirty="0"/>
              <a:t>Propuesta de pago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665690">
            <a:off x="5750137" y="788418"/>
            <a:ext cx="1193815" cy="117901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425" y="3337023"/>
            <a:ext cx="4224269" cy="338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935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6845" y="1422036"/>
            <a:ext cx="7104584" cy="5084272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s-ES" sz="1900" dirty="0"/>
              <a:t>Empresa más especializada que Donatel.</a:t>
            </a:r>
          </a:p>
          <a:p>
            <a:pPr lvl="1">
              <a:lnSpc>
                <a:spcPct val="160000"/>
              </a:lnSpc>
            </a:pPr>
            <a:r>
              <a:rPr lang="es-ES" sz="1700" dirty="0"/>
              <a:t>Diseño final de mayor calidad.</a:t>
            </a:r>
          </a:p>
          <a:p>
            <a:pPr lvl="1">
              <a:lnSpc>
                <a:spcPct val="160000"/>
              </a:lnSpc>
            </a:pPr>
            <a:r>
              <a:rPr lang="es-ES" sz="1700" dirty="0"/>
              <a:t>Ahorro notable de </a:t>
            </a:r>
            <a:r>
              <a:rPr lang="es-ES" sz="1700" b="1" dirty="0">
                <a:solidFill>
                  <a:schemeClr val="tx1"/>
                </a:solidFill>
              </a:rPr>
              <a:t>tiempo</a:t>
            </a:r>
            <a:r>
              <a:rPr lang="es-ES" sz="1700" b="1" dirty="0"/>
              <a:t> y </a:t>
            </a:r>
            <a:r>
              <a:rPr lang="es-ES" sz="1700" b="1" dirty="0">
                <a:solidFill>
                  <a:schemeClr val="tx1"/>
                </a:solidFill>
              </a:rPr>
              <a:t>costes.</a:t>
            </a:r>
            <a:endParaRPr lang="es-ES" sz="1700" dirty="0"/>
          </a:p>
          <a:p>
            <a:pPr>
              <a:lnSpc>
                <a:spcPct val="160000"/>
              </a:lnSpc>
            </a:pPr>
            <a:r>
              <a:rPr lang="es-ES" sz="1900" dirty="0"/>
              <a:t>Supervisión del trabajo:</a:t>
            </a:r>
          </a:p>
          <a:p>
            <a:pPr lvl="1">
              <a:lnSpc>
                <a:spcPct val="160000"/>
              </a:lnSpc>
            </a:pPr>
            <a:r>
              <a:rPr lang="es-ES" sz="1700" dirty="0"/>
              <a:t>Firma del acuerdo mediante un contrato.</a:t>
            </a:r>
          </a:p>
          <a:p>
            <a:pPr lvl="1">
              <a:lnSpc>
                <a:spcPct val="160000"/>
              </a:lnSpc>
            </a:pPr>
            <a:r>
              <a:rPr lang="es-ES" sz="1700" dirty="0"/>
              <a:t>Estudio minucioso del acuerdo: contratación de un abogado.</a:t>
            </a:r>
          </a:p>
          <a:p>
            <a:pPr lvl="1">
              <a:lnSpc>
                <a:spcPct val="160000"/>
              </a:lnSpc>
            </a:pPr>
            <a:r>
              <a:rPr lang="es-ES" sz="1700" dirty="0"/>
              <a:t>Verificación del diseño final presentado.</a:t>
            </a:r>
          </a:p>
          <a:p>
            <a:pPr lvl="1">
              <a:lnSpc>
                <a:spcPct val="160000"/>
              </a:lnSpc>
            </a:pPr>
            <a:r>
              <a:rPr lang="es-ES" sz="1700" dirty="0"/>
              <a:t>Validación y corrección de las soluciones de camuflaje.</a:t>
            </a:r>
          </a:p>
          <a:p>
            <a:pPr marL="457200" lvl="1" indent="0">
              <a:buNone/>
            </a:pPr>
            <a:endParaRPr lang="es-ES" sz="1800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r>
              <a:rPr lang="en-US" dirty="0"/>
              <a:t>/17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56846" y="609599"/>
            <a:ext cx="7492780" cy="7149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3400" dirty="0"/>
              <a:t>Subcontratación para el diseño</a:t>
            </a:r>
          </a:p>
        </p:txBody>
      </p:sp>
    </p:spTree>
    <p:extLst>
      <p:ext uri="{BB962C8B-B14F-4D97-AF65-F5344CB8AC3E}">
        <p14:creationId xmlns:p14="http://schemas.microsoft.com/office/powerpoint/2010/main" val="774354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00454"/>
          </a:xfrm>
        </p:spPr>
        <p:txBody>
          <a:bodyPr>
            <a:normAutofit/>
          </a:bodyPr>
          <a:lstStyle/>
          <a:p>
            <a:r>
              <a:rPr lang="es-ES" sz="3400" dirty="0"/>
              <a:t>Comunicaciones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9" y="1310054"/>
            <a:ext cx="7189179" cy="5155756"/>
          </a:xfrm>
        </p:spPr>
        <p:txBody>
          <a:bodyPr>
            <a:normAutofit/>
          </a:bodyPr>
          <a:lstStyle/>
          <a:p>
            <a:r>
              <a:rPr lang="es-ES" sz="2000" dirty="0"/>
              <a:t>Compromiso de mantener al cliente informado:</a:t>
            </a:r>
          </a:p>
          <a:p>
            <a:pPr marL="457200" lvl="1" indent="0">
              <a:buNone/>
            </a:pPr>
            <a:endParaRPr lang="es-ES" sz="400" dirty="0"/>
          </a:p>
          <a:p>
            <a:pPr lvl="1"/>
            <a:r>
              <a:rPr lang="es-ES" sz="1800" dirty="0"/>
              <a:t>Informes entregados quincenalmente.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Objetivos cumplidos.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Evolución de objetivos.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Previsión para las siguientes semanas.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Ajuste a la previsión temporal planificada.</a:t>
            </a: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Departamentos y PM preparados para reuniones quincenales (alternadas con la entrega de informes).</a:t>
            </a: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Notificación de imprevistos.</a:t>
            </a:r>
          </a:p>
          <a:p>
            <a:pPr marL="457200" lvl="1" indent="0">
              <a:buNone/>
            </a:pPr>
            <a:endParaRPr lang="es-ES" sz="400" dirty="0"/>
          </a:p>
          <a:p>
            <a:r>
              <a:rPr lang="es-ES" sz="2000" dirty="0"/>
              <a:t>Registros físico y digital de los archivos relacionados con el proyecto.</a:t>
            </a:r>
          </a:p>
          <a:p>
            <a:pPr lvl="1"/>
            <a:endParaRPr lang="es-ES" sz="1800" dirty="0"/>
          </a:p>
          <a:p>
            <a:pPr marL="0" indent="0" algn="just">
              <a:lnSpc>
                <a:spcPct val="120000"/>
              </a:lnSpc>
              <a:buNone/>
            </a:pPr>
            <a:endParaRPr lang="es-ES" sz="2200" dirty="0"/>
          </a:p>
          <a:p>
            <a:pPr marL="0" indent="0" algn="just">
              <a:lnSpc>
                <a:spcPct val="120000"/>
              </a:lnSpc>
              <a:buNone/>
            </a:pPr>
            <a:endParaRPr lang="es-ES" sz="2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2917816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400" dirty="0"/>
              <a:t>Uso de redes sociales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9" y="1439622"/>
            <a:ext cx="6881447" cy="515575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1900" dirty="0"/>
              <a:t>Apertura de cuentas de Twitter y Facebook.</a:t>
            </a:r>
            <a:endParaRPr lang="es-ES" sz="400" dirty="0"/>
          </a:p>
          <a:p>
            <a:pPr lvl="1">
              <a:lnSpc>
                <a:spcPct val="150000"/>
              </a:lnSpc>
            </a:pPr>
            <a:r>
              <a:rPr lang="es-ES" sz="1700" dirty="0"/>
              <a:t>Proporcionar información sobre el estado del proyecto.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Promover y publicitar el proyecto.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Conseguir nuevos clientes para el futuro servicio de Telefónica.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Medio de comunicación con nuevos interesados en el proyecto.</a:t>
            </a:r>
          </a:p>
          <a:p>
            <a:pPr lvl="1"/>
            <a:endParaRPr lang="es-ES" sz="4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r>
              <a:rPr lang="en-US" dirty="0"/>
              <a:t>/17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155" y="4850737"/>
            <a:ext cx="3276600" cy="181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4828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3568</TotalTime>
  <Words>696</Words>
  <Application>Microsoft Office PowerPoint</Application>
  <PresentationFormat>Presentación en pantalla (4:3)</PresentationFormat>
  <Paragraphs>141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Trebuchet MS</vt:lpstr>
      <vt:lpstr>Wingdings 3</vt:lpstr>
      <vt:lpstr>Faceta</vt:lpstr>
      <vt:lpstr>DONATEL</vt:lpstr>
      <vt:lpstr>Índice</vt:lpstr>
      <vt:lpstr>¿Quiénes somos?</vt:lpstr>
      <vt:lpstr>Descripción del proyecto</vt:lpstr>
      <vt:lpstr>Alcance</vt:lpstr>
      <vt:lpstr>Alcance</vt:lpstr>
      <vt:lpstr>Planificación temporal</vt:lpstr>
      <vt:lpstr>Planificación temporal</vt:lpstr>
      <vt:lpstr>Organigrama de la empresa</vt:lpstr>
      <vt:lpstr>Control de calidad</vt:lpstr>
      <vt:lpstr>Control de riesgos</vt:lpstr>
      <vt:lpstr>Control de riesgos</vt:lpstr>
      <vt:lpstr>Presentación de PowerPoint</vt:lpstr>
      <vt:lpstr>Presentación de PowerPoint</vt:lpstr>
      <vt:lpstr>Presentación de PowerPoint</vt:lpstr>
      <vt:lpstr>Comunicaciones</vt:lpstr>
      <vt:lpstr>Uso de redes sociales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DONATEL</dc:title>
  <dc:creator>Carlos Herranz Perdiguero</dc:creator>
  <cp:lastModifiedBy>Alvaro Saez</cp:lastModifiedBy>
  <cp:revision>154</cp:revision>
  <dcterms:created xsi:type="dcterms:W3CDTF">2016-05-09T08:14:16Z</dcterms:created>
  <dcterms:modified xsi:type="dcterms:W3CDTF">2017-01-13T10:40:27Z</dcterms:modified>
</cp:coreProperties>
</file>