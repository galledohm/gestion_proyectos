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8" r:id="rId1"/>
  </p:sldMasterIdLst>
  <p:notesMasterIdLst>
    <p:notesMasterId r:id="rId12"/>
  </p:notesMasterIdLst>
  <p:sldIdLst>
    <p:sldId id="256" r:id="rId2"/>
    <p:sldId id="340" r:id="rId3"/>
    <p:sldId id="339" r:id="rId4"/>
    <p:sldId id="332" r:id="rId5"/>
    <p:sldId id="335" r:id="rId6"/>
    <p:sldId id="333" r:id="rId7"/>
    <p:sldId id="312" r:id="rId8"/>
    <p:sldId id="337" r:id="rId9"/>
    <p:sldId id="341" r:id="rId10"/>
    <p:sldId id="338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Estilo medio 4 - Énfasis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8A107856-5554-42FB-B03E-39F5DBC370BA}" styleName="Estilo medio 4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Estilo medio 4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9" autoAdjust="0"/>
    <p:restoredTop sz="94660"/>
  </p:normalViewPr>
  <p:slideViewPr>
    <p:cSldViewPr snapToGrid="0">
      <p:cViewPr varScale="1">
        <p:scale>
          <a:sx n="72" d="100"/>
          <a:sy n="72" d="100"/>
        </p:scale>
        <p:origin x="1308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CD6059-4A3D-40C8-A276-C5FAB0044591}" type="datetimeFigureOut">
              <a:rPr lang="es-ES" smtClean="0"/>
              <a:t>10/01/2017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54970C-BD0D-4214-B863-70E1406ED9C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21899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DD033-17FF-4D72-B5E1-0B78DC7E067F}" type="datetime1">
              <a:rPr lang="en-US" smtClean="0"/>
              <a:t>1/10/2017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6176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AF4A2-AF83-45E3-837F-CE10FDB31EA9}" type="datetime1">
              <a:rPr lang="en-US" smtClean="0"/>
              <a:t>1/10/2017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61429" y="82973"/>
            <a:ext cx="1275605" cy="1053253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497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3A194-483E-461E-80FE-2BD549B4ADD9}" type="datetime1">
              <a:rPr lang="en-US" smtClean="0"/>
              <a:t>1/10/2017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216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15865-A7D6-4D1F-B7E2-5AB84E697CA3}" type="datetime1">
              <a:rPr lang="en-US" smtClean="0"/>
              <a:t>1/10/2017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234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34FA6-1710-4793-8298-BC773B7C19D8}" type="datetime1">
              <a:rPr lang="en-US" smtClean="0"/>
              <a:t>1/10/2017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2775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E7A0F-E4A7-49C3-8DF8-F870F48B66D5}" type="datetime1">
              <a:rPr lang="en-US" smtClean="0"/>
              <a:t>1/10/2017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5216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D2DCC-8247-444F-A0D2-269D55B5B78D}" type="datetime1">
              <a:rPr lang="en-US" smtClean="0"/>
              <a:t>1/10/2017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81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8A2C4-F673-45C9-8A82-33B2BE14BB49}" type="datetime1">
              <a:rPr lang="en-US" smtClean="0"/>
              <a:t>1/10/2017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9988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97388-34A9-4BC8-9F1A-6D3B6A91C74B}" type="datetime1">
              <a:rPr lang="en-US" smtClean="0"/>
              <a:t>1/10/2017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1676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B2EB3-096F-4F6C-A434-D4E89F80B3D3}" type="datetime1">
              <a:rPr lang="en-US" smtClean="0"/>
              <a:t>1/10/2017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5354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94D5F-73BB-4DF4-94BE-15A2531527F2}" type="datetime1">
              <a:rPr lang="en-US" smtClean="0"/>
              <a:t>1/10/2017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880224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A8D01-162F-4DA4-8163-23A7103FD15B}" type="datetime1">
              <a:rPr lang="en-US" smtClean="0"/>
              <a:t>1/10/2017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529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2461F-2FEE-4FBB-8225-9F8CF47A24E7}" type="datetime1">
              <a:rPr lang="en-US" smtClean="0"/>
              <a:t>1/10/2017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025130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F92EC-632C-486F-8219-7725ADDB52E3}" type="datetime1">
              <a:rPr lang="en-US" smtClean="0"/>
              <a:t>1/10/2017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97966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0F3AD-8D33-45B5-8280-BA35536183F5}" type="datetime1">
              <a:rPr lang="en-US" smtClean="0"/>
              <a:t>1/10/2017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98696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7094A-8B27-4644-A22D-DF4DE3B34A89}" type="datetime1">
              <a:rPr lang="en-US" smtClean="0"/>
              <a:t>1/10/2017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687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18828D-489C-4B6D-8126-FEC974B37A96}" type="datetime1">
              <a:rPr lang="en-US" smtClean="0"/>
              <a:t>1/10/2017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6572" y="5237825"/>
            <a:ext cx="1470740" cy="11554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6649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sz="8000" dirty="0"/>
              <a:t>DONATEL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i="1" u="sng" dirty="0"/>
              <a:t>Proyecto de Despliegue de Infraestructura de Estaciones Base 3G/LTE en Alcalá de Henares.</a:t>
            </a:r>
            <a:endParaRPr lang="es-E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3599" y="527907"/>
            <a:ext cx="3303715" cy="2160121"/>
          </a:xfrm>
          <a:prstGeom prst="rect">
            <a:avLst/>
          </a:prstGeom>
        </p:spPr>
      </p:pic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179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Control de riesgos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63413" y="1483583"/>
            <a:ext cx="7189179" cy="5155756"/>
          </a:xfrm>
        </p:spPr>
        <p:txBody>
          <a:bodyPr>
            <a:normAutofit lnSpcReduction="10000"/>
          </a:bodyPr>
          <a:lstStyle/>
          <a:p>
            <a:pPr marL="457200" lvl="1" indent="0">
              <a:buNone/>
            </a:pPr>
            <a:endParaRPr lang="es-ES" sz="400" dirty="0"/>
          </a:p>
          <a:p>
            <a:pPr>
              <a:lnSpc>
                <a:spcPct val="120000"/>
              </a:lnSpc>
            </a:pPr>
            <a:r>
              <a:rPr lang="es-ES" sz="2150" dirty="0"/>
              <a:t>Plan de gestión de riesgos de </a:t>
            </a:r>
            <a:r>
              <a:rPr lang="es-ES" sz="2150" dirty="0" err="1"/>
              <a:t>Donatel</a:t>
            </a:r>
            <a:endParaRPr lang="es-ES" sz="2150" dirty="0"/>
          </a:p>
          <a:p>
            <a:pPr lvl="1"/>
            <a:r>
              <a:rPr lang="es-ES" sz="1800" dirty="0"/>
              <a:t>Basado en proyectos anteriores: Sabadell</a:t>
            </a:r>
            <a:endParaRPr lang="es-ES" sz="400" b="1" dirty="0">
              <a:solidFill>
                <a:schemeClr val="tx1"/>
              </a:solidFill>
            </a:endParaRPr>
          </a:p>
          <a:p>
            <a:pPr lvl="1"/>
            <a:endParaRPr lang="es-ES" sz="400" dirty="0"/>
          </a:p>
          <a:p>
            <a:pPr lvl="1"/>
            <a:r>
              <a:rPr lang="es-ES" sz="1800" dirty="0"/>
              <a:t>Experiencia y solicitud de juicios expertos</a:t>
            </a:r>
          </a:p>
          <a:p>
            <a:pPr lvl="1"/>
            <a:endParaRPr lang="es-ES" sz="400" dirty="0"/>
          </a:p>
          <a:p>
            <a:pPr>
              <a:lnSpc>
                <a:spcPct val="120000"/>
              </a:lnSpc>
            </a:pPr>
            <a:r>
              <a:rPr lang="es-ES" sz="2150" dirty="0"/>
              <a:t>Objetivos:</a:t>
            </a:r>
            <a:endParaRPr lang="es-ES" sz="400" dirty="0"/>
          </a:p>
          <a:p>
            <a:pPr lvl="1"/>
            <a:r>
              <a:rPr lang="es-ES" sz="1800" dirty="0"/>
              <a:t>Identificar situaciones que afecten al proyecto</a:t>
            </a:r>
            <a:endParaRPr lang="es-ES" sz="400" b="1" dirty="0">
              <a:solidFill>
                <a:schemeClr val="tx1"/>
              </a:solidFill>
            </a:endParaRPr>
          </a:p>
          <a:p>
            <a:pPr lvl="1"/>
            <a:endParaRPr lang="es-ES" sz="400" dirty="0"/>
          </a:p>
          <a:p>
            <a:pPr lvl="1"/>
            <a:r>
              <a:rPr lang="es-ES" sz="1800" dirty="0"/>
              <a:t>Mantener un margen de maniobra</a:t>
            </a:r>
          </a:p>
          <a:p>
            <a:pPr lvl="1"/>
            <a:endParaRPr lang="es-ES" sz="400" dirty="0"/>
          </a:p>
          <a:p>
            <a:pPr lvl="1"/>
            <a:r>
              <a:rPr lang="es-ES" sz="1800" dirty="0"/>
              <a:t>Establecer prioridades</a:t>
            </a:r>
          </a:p>
          <a:p>
            <a:pPr lvl="1"/>
            <a:endParaRPr lang="es-ES" sz="400" dirty="0"/>
          </a:p>
          <a:p>
            <a:pPr lvl="1"/>
            <a:r>
              <a:rPr lang="es-ES" sz="1800" dirty="0"/>
              <a:t>Afrontar con mayor eficiencia los imprevistos</a:t>
            </a:r>
          </a:p>
          <a:p>
            <a:pPr lvl="1"/>
            <a:endParaRPr lang="es-ES" sz="400" dirty="0"/>
          </a:p>
          <a:p>
            <a:pPr lvl="1"/>
            <a:r>
              <a:rPr lang="es-ES" sz="2400" b="1" dirty="0">
                <a:solidFill>
                  <a:schemeClr val="tx1"/>
                </a:solidFill>
              </a:rPr>
              <a:t>Asegurar el éxito del proyecto</a:t>
            </a:r>
          </a:p>
          <a:p>
            <a:pPr lvl="1"/>
            <a:endParaRPr lang="es-ES" sz="1800" dirty="0"/>
          </a:p>
          <a:p>
            <a:pPr>
              <a:lnSpc>
                <a:spcPct val="120000"/>
              </a:lnSpc>
            </a:pPr>
            <a:endParaRPr lang="es-ES" sz="2200" dirty="0"/>
          </a:p>
          <a:p>
            <a:pPr marL="0" indent="0" algn="just">
              <a:lnSpc>
                <a:spcPct val="120000"/>
              </a:lnSpc>
              <a:buNone/>
            </a:pPr>
            <a:endParaRPr lang="es-ES" sz="220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r>
              <a:rPr lang="en-US" dirty="0"/>
              <a:t>/22</a:t>
            </a:r>
          </a:p>
        </p:txBody>
      </p:sp>
    </p:spTree>
    <p:extLst>
      <p:ext uri="{BB962C8B-B14F-4D97-AF65-F5344CB8AC3E}">
        <p14:creationId xmlns:p14="http://schemas.microsoft.com/office/powerpoint/2010/main" val="3372628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Control de riesgos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63413" y="1483583"/>
            <a:ext cx="7189179" cy="5155756"/>
          </a:xfrm>
        </p:spPr>
        <p:txBody>
          <a:bodyPr>
            <a:normAutofit/>
          </a:bodyPr>
          <a:lstStyle/>
          <a:p>
            <a:r>
              <a:rPr lang="es-ES" sz="2200" dirty="0"/>
              <a:t>Reserva de recursos para afrontar amenazas y oportunidades:</a:t>
            </a:r>
          </a:p>
          <a:p>
            <a:endParaRPr lang="es-ES" sz="400" dirty="0"/>
          </a:p>
          <a:p>
            <a:pPr lvl="1"/>
            <a:r>
              <a:rPr lang="es-ES" sz="1800" dirty="0"/>
              <a:t>Reserva de un total de </a:t>
            </a:r>
            <a:r>
              <a:rPr lang="es-ES" sz="1800" b="1" dirty="0">
                <a:solidFill>
                  <a:schemeClr val="tx1"/>
                </a:solidFill>
              </a:rPr>
              <a:t>21080 € </a:t>
            </a:r>
            <a:r>
              <a:rPr lang="es-ES" sz="1800" dirty="0"/>
              <a:t>para los riesgos detectados</a:t>
            </a:r>
            <a:endParaRPr lang="es-ES" sz="400" b="1" dirty="0">
              <a:solidFill>
                <a:schemeClr val="tx1"/>
              </a:solidFill>
            </a:endParaRPr>
          </a:p>
          <a:p>
            <a:pPr lvl="1"/>
            <a:endParaRPr lang="es-ES" sz="400" dirty="0"/>
          </a:p>
          <a:p>
            <a:pPr lvl="1">
              <a:lnSpc>
                <a:spcPct val="150000"/>
              </a:lnSpc>
            </a:pPr>
            <a:r>
              <a:rPr lang="es-ES" sz="1800" dirty="0"/>
              <a:t>El calendario de planificación incluye una reserva de un total de </a:t>
            </a:r>
            <a:r>
              <a:rPr lang="es-ES" sz="1800" b="1" dirty="0">
                <a:solidFill>
                  <a:schemeClr val="tx1"/>
                </a:solidFill>
              </a:rPr>
              <a:t>6 días </a:t>
            </a:r>
            <a:endParaRPr lang="es-ES" sz="1800" dirty="0"/>
          </a:p>
          <a:p>
            <a:pPr lvl="1"/>
            <a:endParaRPr lang="es-ES" sz="400" dirty="0"/>
          </a:p>
          <a:p>
            <a:pPr lvl="1">
              <a:lnSpc>
                <a:spcPct val="150000"/>
              </a:lnSpc>
            </a:pPr>
            <a:r>
              <a:rPr lang="es-ES" sz="1800" dirty="0"/>
              <a:t>Reserva adicional de </a:t>
            </a:r>
            <a:r>
              <a:rPr lang="es-ES" sz="1800" b="1" dirty="0">
                <a:solidFill>
                  <a:schemeClr val="tx1"/>
                </a:solidFill>
              </a:rPr>
              <a:t>10000</a:t>
            </a:r>
            <a:r>
              <a:rPr lang="es-ES" sz="1800" dirty="0"/>
              <a:t> </a:t>
            </a:r>
            <a:r>
              <a:rPr lang="es-ES" sz="1800" b="1" dirty="0">
                <a:solidFill>
                  <a:schemeClr val="tx1"/>
                </a:solidFill>
              </a:rPr>
              <a:t>€ </a:t>
            </a:r>
            <a:r>
              <a:rPr lang="es-ES" sz="1800" dirty="0"/>
              <a:t>para desvíos del presupuesto, posibles imprevistos y oportunidades</a:t>
            </a:r>
          </a:p>
          <a:p>
            <a:pPr marL="457200" lvl="1" indent="0">
              <a:buNone/>
            </a:pPr>
            <a:endParaRPr lang="es-ES" sz="400" dirty="0"/>
          </a:p>
          <a:p>
            <a:pPr lvl="1">
              <a:lnSpc>
                <a:spcPct val="150000"/>
              </a:lnSpc>
            </a:pPr>
            <a:r>
              <a:rPr lang="es-ES" sz="1800" dirty="0"/>
              <a:t>Cada actividad tendrá asignada una contingencia para afrontar problemas e imprevistos</a:t>
            </a:r>
          </a:p>
          <a:p>
            <a:pPr lvl="1"/>
            <a:endParaRPr lang="es-ES" sz="1800" dirty="0"/>
          </a:p>
          <a:p>
            <a:pPr>
              <a:lnSpc>
                <a:spcPct val="120000"/>
              </a:lnSpc>
            </a:pPr>
            <a:endParaRPr lang="es-ES" sz="2200" dirty="0"/>
          </a:p>
          <a:p>
            <a:pPr marL="0" indent="0" algn="just">
              <a:lnSpc>
                <a:spcPct val="120000"/>
              </a:lnSpc>
              <a:buNone/>
            </a:pPr>
            <a:endParaRPr lang="es-ES" sz="220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r>
              <a:rPr lang="en-US" dirty="0"/>
              <a:t>/22</a:t>
            </a:r>
          </a:p>
        </p:txBody>
      </p:sp>
    </p:spTree>
    <p:extLst>
      <p:ext uri="{BB962C8B-B14F-4D97-AF65-F5344CB8AC3E}">
        <p14:creationId xmlns:p14="http://schemas.microsoft.com/office/powerpoint/2010/main" val="1460975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07376" y="1624259"/>
            <a:ext cx="6347714" cy="5084272"/>
          </a:xfrm>
        </p:spPr>
        <p:txBody>
          <a:bodyPr>
            <a:normAutofit/>
          </a:bodyPr>
          <a:lstStyle/>
          <a:p>
            <a:r>
              <a:rPr lang="es-ES" sz="2000" dirty="0"/>
              <a:t>Presupuesto solicitado: ?? €</a:t>
            </a:r>
          </a:p>
          <a:p>
            <a:pPr marL="0" indent="0">
              <a:buNone/>
            </a:pP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r>
              <a:rPr lang="en-US" dirty="0"/>
              <a:t>/22</a:t>
            </a:r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235888" y="762197"/>
            <a:ext cx="7492780" cy="12314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ES" dirty="0"/>
              <a:t>Costes estimados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550" y="2319130"/>
            <a:ext cx="5969028" cy="3696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142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07376" y="1624259"/>
            <a:ext cx="6347714" cy="5084272"/>
          </a:xfrm>
        </p:spPr>
        <p:txBody>
          <a:bodyPr>
            <a:normAutofit lnSpcReduction="10000"/>
          </a:bodyPr>
          <a:lstStyle/>
          <a:p>
            <a:r>
              <a:rPr lang="es-ES" sz="2000" dirty="0"/>
              <a:t>Empresa más especializada que </a:t>
            </a:r>
            <a:r>
              <a:rPr lang="es-ES" sz="2000" dirty="0" err="1"/>
              <a:t>Donatel</a:t>
            </a:r>
            <a:endParaRPr lang="es-ES" sz="2000" dirty="0"/>
          </a:p>
          <a:p>
            <a:pPr marL="0" indent="0">
              <a:buNone/>
            </a:pPr>
            <a:endParaRPr lang="es-ES" sz="400" dirty="0"/>
          </a:p>
          <a:p>
            <a:pPr lvl="1"/>
            <a:r>
              <a:rPr lang="es-ES" sz="1800" dirty="0"/>
              <a:t>Diseño final de mayor calidad</a:t>
            </a:r>
            <a:endParaRPr lang="es-ES" sz="400" dirty="0"/>
          </a:p>
          <a:p>
            <a:pPr lvl="1"/>
            <a:endParaRPr lang="es-ES" sz="400" dirty="0"/>
          </a:p>
          <a:p>
            <a:pPr lvl="1"/>
            <a:r>
              <a:rPr lang="es-ES" sz="1800" dirty="0"/>
              <a:t>Ahorro notable de </a:t>
            </a:r>
            <a:r>
              <a:rPr lang="es-ES" sz="1800" b="1" dirty="0">
                <a:solidFill>
                  <a:schemeClr val="tx1"/>
                </a:solidFill>
              </a:rPr>
              <a:t>tiempo</a:t>
            </a:r>
            <a:r>
              <a:rPr lang="es-ES" sz="1800" b="1" dirty="0"/>
              <a:t> y </a:t>
            </a:r>
            <a:r>
              <a:rPr lang="es-ES" sz="1800" b="1" dirty="0">
                <a:solidFill>
                  <a:schemeClr val="tx1"/>
                </a:solidFill>
              </a:rPr>
              <a:t>costes</a:t>
            </a:r>
          </a:p>
          <a:p>
            <a:pPr lvl="1"/>
            <a:endParaRPr lang="es-ES" sz="400" dirty="0"/>
          </a:p>
          <a:p>
            <a:r>
              <a:rPr lang="es-ES" sz="2000" dirty="0"/>
              <a:t>Supervisión del trabajo:</a:t>
            </a:r>
          </a:p>
          <a:p>
            <a:endParaRPr lang="es-ES" sz="400" dirty="0"/>
          </a:p>
          <a:p>
            <a:pPr lvl="1"/>
            <a:r>
              <a:rPr lang="es-ES" sz="1800" dirty="0"/>
              <a:t>Firma del acuerdo mediante un contrato</a:t>
            </a:r>
          </a:p>
          <a:p>
            <a:pPr lvl="1"/>
            <a:endParaRPr lang="es-ES" sz="400" dirty="0"/>
          </a:p>
          <a:p>
            <a:pPr lvl="1"/>
            <a:r>
              <a:rPr lang="es-ES" sz="1800" dirty="0"/>
              <a:t>Estudio minucioso del acuerdo: contratación de un abogado</a:t>
            </a:r>
          </a:p>
          <a:p>
            <a:pPr lvl="1"/>
            <a:endParaRPr lang="es-ES" sz="400" dirty="0"/>
          </a:p>
          <a:p>
            <a:pPr lvl="1"/>
            <a:r>
              <a:rPr lang="es-ES" sz="1800" dirty="0"/>
              <a:t>Verificación del diseño final presentado</a:t>
            </a:r>
          </a:p>
          <a:p>
            <a:pPr lvl="1"/>
            <a:endParaRPr lang="es-ES" sz="400" dirty="0"/>
          </a:p>
          <a:p>
            <a:pPr lvl="1"/>
            <a:r>
              <a:rPr lang="es-ES" sz="1800" dirty="0"/>
              <a:t>Validación y corrección de las soluciones de camuflaje</a:t>
            </a:r>
          </a:p>
          <a:p>
            <a:pPr marL="457200" lvl="1" indent="0">
              <a:buNone/>
            </a:pPr>
            <a:endParaRPr lang="es-ES" sz="1800" dirty="0"/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r>
              <a:rPr lang="en-US" dirty="0"/>
              <a:t>/22</a:t>
            </a:r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235888" y="762197"/>
            <a:ext cx="7492780" cy="12314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ES" dirty="0"/>
              <a:t>Subcontratación para el diseño</a:t>
            </a:r>
          </a:p>
        </p:txBody>
      </p:sp>
    </p:spTree>
    <p:extLst>
      <p:ext uri="{BB962C8B-B14F-4D97-AF65-F5344CB8AC3E}">
        <p14:creationId xmlns:p14="http://schemas.microsoft.com/office/powerpoint/2010/main" val="774354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07376" y="1624259"/>
            <a:ext cx="6347714" cy="5084272"/>
          </a:xfrm>
        </p:spPr>
        <p:txBody>
          <a:bodyPr>
            <a:normAutofit lnSpcReduction="10000"/>
          </a:bodyPr>
          <a:lstStyle/>
          <a:p>
            <a:r>
              <a:rPr lang="es-ES" sz="2000" dirty="0"/>
              <a:t>Pago en 3 tramos:</a:t>
            </a:r>
          </a:p>
          <a:p>
            <a:pPr lvl="1"/>
            <a:r>
              <a:rPr lang="es-ES" sz="1800" dirty="0"/>
              <a:t>30% al comienzo del proyecto</a:t>
            </a:r>
            <a:endParaRPr lang="es-ES" sz="400" dirty="0"/>
          </a:p>
          <a:p>
            <a:pPr lvl="1"/>
            <a:endParaRPr lang="es-ES" sz="400" dirty="0"/>
          </a:p>
          <a:p>
            <a:pPr lvl="1"/>
            <a:r>
              <a:rPr lang="es-ES" sz="1800" dirty="0"/>
              <a:t>45% para afrontar el pago a la empresa subcontratada</a:t>
            </a:r>
          </a:p>
          <a:p>
            <a:pPr lvl="1"/>
            <a:endParaRPr lang="es-ES" sz="400" dirty="0"/>
          </a:p>
          <a:p>
            <a:pPr lvl="1"/>
            <a:r>
              <a:rPr lang="es-ES" sz="1800" dirty="0"/>
              <a:t>25% en la etapa final del proyecto</a:t>
            </a:r>
          </a:p>
          <a:p>
            <a:pPr lvl="1"/>
            <a:endParaRPr lang="es-ES" sz="1800" dirty="0"/>
          </a:p>
          <a:p>
            <a:r>
              <a:rPr lang="es-ES" sz="2000" dirty="0"/>
              <a:t>En caso de financiación insuficiente:</a:t>
            </a:r>
          </a:p>
          <a:p>
            <a:endParaRPr lang="es-ES" sz="400" dirty="0"/>
          </a:p>
          <a:p>
            <a:pPr lvl="1"/>
            <a:r>
              <a:rPr lang="es-ES" sz="1800" dirty="0"/>
              <a:t>Se buscará financiación externa de acuerdo con las políticas de </a:t>
            </a:r>
            <a:r>
              <a:rPr lang="es-ES" sz="1800" dirty="0" err="1"/>
              <a:t>Donatel</a:t>
            </a:r>
            <a:r>
              <a:rPr lang="es-ES" sz="1800" dirty="0"/>
              <a:t>.</a:t>
            </a:r>
          </a:p>
          <a:p>
            <a:pPr lvl="1"/>
            <a:endParaRPr lang="es-ES" sz="400" dirty="0"/>
          </a:p>
          <a:p>
            <a:pPr lvl="1"/>
            <a:r>
              <a:rPr lang="es-ES" sz="1800" dirty="0"/>
              <a:t>Desvío excede márgenes de riesgo.</a:t>
            </a:r>
          </a:p>
          <a:p>
            <a:pPr lvl="1"/>
            <a:endParaRPr lang="es-ES" sz="400" dirty="0"/>
          </a:p>
          <a:p>
            <a:pPr lvl="1"/>
            <a:r>
              <a:rPr lang="es-ES" sz="1800" dirty="0"/>
              <a:t>Repercusión limitada al margen de beneficios de la empresa</a:t>
            </a:r>
          </a:p>
          <a:p>
            <a:pPr marL="457200" lvl="1" indent="0">
              <a:buNone/>
            </a:pPr>
            <a:endParaRPr lang="es-ES" sz="1800" dirty="0"/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r>
              <a:rPr lang="en-US" dirty="0"/>
              <a:t>/22</a:t>
            </a:r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235888" y="762197"/>
            <a:ext cx="7492780" cy="12314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ES" dirty="0"/>
              <a:t>Propuesta de pago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665690">
            <a:off x="5750137" y="788418"/>
            <a:ext cx="1193815" cy="1179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9354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5888" y="762197"/>
            <a:ext cx="7492780" cy="1231459"/>
          </a:xfrm>
        </p:spPr>
        <p:txBody>
          <a:bodyPr>
            <a:normAutofit/>
          </a:bodyPr>
          <a:lstStyle/>
          <a:p>
            <a:r>
              <a:rPr lang="es-ES" dirty="0"/>
              <a:t>Pagos previstos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18391" y="1993656"/>
            <a:ext cx="6567920" cy="4415936"/>
          </a:xfrm>
        </p:spPr>
        <p:txBody>
          <a:bodyPr>
            <a:normAutofit/>
          </a:bodyPr>
          <a:lstStyle/>
          <a:p>
            <a:pPr lvl="1"/>
            <a:endParaRPr lang="es-ES" dirty="0"/>
          </a:p>
          <a:p>
            <a:pPr marL="0" indent="0">
              <a:buNone/>
            </a:pPr>
            <a:endParaRPr lang="es-ES" sz="2000" dirty="0"/>
          </a:p>
          <a:p>
            <a:endParaRPr lang="es-ES" dirty="0"/>
          </a:p>
          <a:p>
            <a:pPr marL="0" indent="0">
              <a:buNone/>
            </a:pP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r>
              <a:rPr lang="en-US" dirty="0"/>
              <a:t>/22</a:t>
            </a:r>
          </a:p>
        </p:txBody>
      </p:sp>
      <p:sp>
        <p:nvSpPr>
          <p:cNvPr id="6" name="Marcador de contenido 2"/>
          <p:cNvSpPr txBox="1">
            <a:spLocks/>
          </p:cNvSpPr>
          <p:nvPr/>
        </p:nvSpPr>
        <p:spPr>
          <a:xfrm>
            <a:off x="4969565" y="4023361"/>
            <a:ext cx="3824579" cy="1534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 dirty="0"/>
          </a:p>
          <a:p>
            <a:endParaRPr lang="es-ES" dirty="0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78" y="1577629"/>
            <a:ext cx="6290134" cy="4610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1411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Comunicaciones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63413" y="1483583"/>
            <a:ext cx="7189179" cy="5155756"/>
          </a:xfrm>
        </p:spPr>
        <p:txBody>
          <a:bodyPr>
            <a:normAutofit/>
          </a:bodyPr>
          <a:lstStyle/>
          <a:p>
            <a:r>
              <a:rPr lang="es-ES" sz="2200" dirty="0"/>
              <a:t>Compromiso de mantener al cliente informado:</a:t>
            </a:r>
          </a:p>
          <a:p>
            <a:pPr marL="457200" lvl="1" indent="0">
              <a:buNone/>
            </a:pPr>
            <a:endParaRPr lang="es-ES" sz="400" dirty="0"/>
          </a:p>
          <a:p>
            <a:pPr lvl="1"/>
            <a:r>
              <a:rPr lang="es-ES" sz="1800" dirty="0"/>
              <a:t>Informes entregados quincenalmente</a:t>
            </a:r>
          </a:p>
          <a:p>
            <a:pPr marL="1200150" lvl="2" indent="-342900">
              <a:buFont typeface="+mj-lt"/>
              <a:buAutoNum type="arabicParenR"/>
            </a:pPr>
            <a:r>
              <a:rPr lang="es-ES" sz="1600" dirty="0"/>
              <a:t>Objetivos cumplidos</a:t>
            </a:r>
          </a:p>
          <a:p>
            <a:pPr marL="1200150" lvl="2" indent="-342900">
              <a:buFont typeface="+mj-lt"/>
              <a:buAutoNum type="arabicParenR"/>
            </a:pPr>
            <a:r>
              <a:rPr lang="es-ES" sz="1600" dirty="0"/>
              <a:t>Evolución de objetivos</a:t>
            </a:r>
          </a:p>
          <a:p>
            <a:pPr marL="1200150" lvl="2" indent="-342900">
              <a:buFont typeface="+mj-lt"/>
              <a:buAutoNum type="arabicParenR"/>
            </a:pPr>
            <a:r>
              <a:rPr lang="es-ES" sz="1600" dirty="0"/>
              <a:t>Previsión para las siguientes semanas</a:t>
            </a:r>
          </a:p>
          <a:p>
            <a:pPr marL="1200150" lvl="2" indent="-342900">
              <a:buFont typeface="+mj-lt"/>
              <a:buAutoNum type="arabicParenR"/>
            </a:pPr>
            <a:r>
              <a:rPr lang="es-ES" sz="1600" dirty="0"/>
              <a:t>Ajuste a la previsión temporal planificada</a:t>
            </a:r>
          </a:p>
          <a:p>
            <a:pPr lvl="1"/>
            <a:endParaRPr lang="es-ES" sz="400" dirty="0"/>
          </a:p>
          <a:p>
            <a:pPr lvl="1"/>
            <a:r>
              <a:rPr lang="es-ES" sz="1800" dirty="0"/>
              <a:t>Departamentos y PM preparados para reuniones quincenales (alternadas con la entrega de informes)</a:t>
            </a:r>
          </a:p>
          <a:p>
            <a:pPr lvl="1"/>
            <a:endParaRPr lang="es-ES" sz="400" dirty="0"/>
          </a:p>
          <a:p>
            <a:pPr lvl="1"/>
            <a:r>
              <a:rPr lang="es-ES" sz="1800" dirty="0"/>
              <a:t>Notificación de imprevistos</a:t>
            </a:r>
          </a:p>
          <a:p>
            <a:pPr marL="457200" lvl="1" indent="0">
              <a:buNone/>
            </a:pPr>
            <a:endParaRPr lang="es-ES" sz="400" dirty="0"/>
          </a:p>
          <a:p>
            <a:r>
              <a:rPr lang="es-ES" sz="2000" dirty="0"/>
              <a:t>Registros físico y digital de los archivos relacionados con el proyecto</a:t>
            </a:r>
          </a:p>
          <a:p>
            <a:pPr lvl="1"/>
            <a:endParaRPr lang="es-ES" sz="1800" dirty="0"/>
          </a:p>
          <a:p>
            <a:pPr marL="0" indent="0" algn="just">
              <a:lnSpc>
                <a:spcPct val="120000"/>
              </a:lnSpc>
              <a:buNone/>
            </a:pPr>
            <a:endParaRPr lang="es-ES" sz="2200" dirty="0"/>
          </a:p>
          <a:p>
            <a:pPr marL="0" indent="0" algn="just">
              <a:lnSpc>
                <a:spcPct val="120000"/>
              </a:lnSpc>
              <a:buNone/>
            </a:pPr>
            <a:endParaRPr lang="es-ES" sz="220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r>
              <a:rPr lang="en-US" dirty="0"/>
              <a:t>/22</a:t>
            </a:r>
          </a:p>
        </p:txBody>
      </p:sp>
    </p:spTree>
    <p:extLst>
      <p:ext uri="{BB962C8B-B14F-4D97-AF65-F5344CB8AC3E}">
        <p14:creationId xmlns:p14="http://schemas.microsoft.com/office/powerpoint/2010/main" val="29178169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599" y="384313"/>
            <a:ext cx="7169427" cy="751913"/>
          </a:xfrm>
        </p:spPr>
        <p:txBody>
          <a:bodyPr>
            <a:normAutofit fontScale="90000"/>
          </a:bodyPr>
          <a:lstStyle/>
          <a:p>
            <a:r>
              <a:rPr lang="es-ES" dirty="0"/>
              <a:t>Comunicaciones (esta no la veo clara)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63413" y="874643"/>
            <a:ext cx="7189179" cy="5983357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s-ES" sz="400" dirty="0"/>
          </a:p>
          <a:p>
            <a:pPr>
              <a:lnSpc>
                <a:spcPct val="120000"/>
              </a:lnSpc>
            </a:pPr>
            <a:r>
              <a:rPr lang="es-ES" sz="2200" dirty="0"/>
              <a:t>Control estrecho del resto de implicados en el proyecto</a:t>
            </a:r>
            <a:endParaRPr lang="es-ES" sz="400" dirty="0"/>
          </a:p>
          <a:p>
            <a:pPr lvl="1"/>
            <a:r>
              <a:rPr lang="es-ES" sz="1800" dirty="0"/>
              <a:t>Empresa subcontratada mediante reuniones y entregables</a:t>
            </a:r>
          </a:p>
          <a:p>
            <a:pPr marL="1200150" lvl="2" indent="-342900">
              <a:buFont typeface="+mj-lt"/>
              <a:buAutoNum type="arabicParenR"/>
            </a:pPr>
            <a:r>
              <a:rPr lang="es-ES" sz="1600" dirty="0"/>
              <a:t>Situación del despliegue actual</a:t>
            </a:r>
          </a:p>
          <a:p>
            <a:pPr marL="1200150" lvl="2" indent="-342900">
              <a:buFont typeface="+mj-lt"/>
              <a:buAutoNum type="arabicParenR"/>
            </a:pPr>
            <a:r>
              <a:rPr lang="es-ES" sz="1600" dirty="0"/>
              <a:t>Equipos seleccionados y plan de adquisición</a:t>
            </a:r>
          </a:p>
          <a:p>
            <a:pPr marL="1200150" lvl="2" indent="-342900">
              <a:buFont typeface="+mj-lt"/>
              <a:buAutoNum type="arabicParenR"/>
            </a:pPr>
            <a:r>
              <a:rPr lang="es-ES" sz="1600" dirty="0"/>
              <a:t>Red de agregación diseñada</a:t>
            </a:r>
          </a:p>
          <a:p>
            <a:pPr marL="1200150" lvl="2" indent="-342900">
              <a:buFont typeface="+mj-lt"/>
              <a:buAutoNum type="arabicParenR"/>
            </a:pPr>
            <a:r>
              <a:rPr lang="es-ES" sz="1600" dirty="0"/>
              <a:t>Propuesta de mimetización</a:t>
            </a:r>
          </a:p>
          <a:p>
            <a:pPr marL="1200150" lvl="2" indent="-342900">
              <a:buFont typeface="+mj-lt"/>
              <a:buAutoNum type="arabicParenR"/>
            </a:pPr>
            <a:r>
              <a:rPr lang="es-ES" sz="1600" dirty="0"/>
              <a:t>Coste total estimado</a:t>
            </a:r>
          </a:p>
          <a:p>
            <a:pPr marL="1200150" lvl="2" indent="-342900">
              <a:buFont typeface="+mj-lt"/>
              <a:buAutoNum type="arabicParenR"/>
            </a:pPr>
            <a:endParaRPr lang="es-ES" sz="400" dirty="0"/>
          </a:p>
          <a:p>
            <a:pPr lvl="1"/>
            <a:r>
              <a:rPr lang="es-ES" sz="1800" dirty="0"/>
              <a:t>Comunicaciones internas según política de </a:t>
            </a:r>
            <a:r>
              <a:rPr lang="es-ES" sz="1800" dirty="0" err="1"/>
              <a:t>Donatel</a:t>
            </a:r>
            <a:endParaRPr lang="es-ES" sz="1800" dirty="0"/>
          </a:p>
          <a:p>
            <a:pPr marL="1200150" lvl="2" indent="-342900">
              <a:buFont typeface="+mj-lt"/>
              <a:buAutoNum type="arabicParenR"/>
            </a:pPr>
            <a:r>
              <a:rPr lang="es-ES" sz="1600" dirty="0"/>
              <a:t>Reuniones semanales</a:t>
            </a:r>
          </a:p>
          <a:p>
            <a:pPr marL="1200150" lvl="2" indent="-342900">
              <a:buFont typeface="+mj-lt"/>
              <a:buAutoNum type="arabicParenR"/>
            </a:pPr>
            <a:r>
              <a:rPr lang="es-ES" sz="1600" dirty="0"/>
              <a:t>Control centralizado por el PM</a:t>
            </a:r>
          </a:p>
          <a:p>
            <a:pPr marL="1200150" lvl="2" indent="-342900">
              <a:buFont typeface="+mj-lt"/>
              <a:buAutoNum type="arabicParenR"/>
            </a:pPr>
            <a:endParaRPr lang="es-ES" sz="400" dirty="0"/>
          </a:p>
          <a:p>
            <a:pPr lvl="1"/>
            <a:r>
              <a:rPr lang="es-ES" sz="1800" dirty="0"/>
              <a:t>Ayuntamiento de la ciudad mediante reuniones</a:t>
            </a:r>
          </a:p>
          <a:p>
            <a:pPr marL="1200150" lvl="2" indent="-342900">
              <a:buFont typeface="+mj-lt"/>
              <a:buAutoNum type="arabicParenR"/>
            </a:pPr>
            <a:r>
              <a:rPr lang="es-ES" sz="1600" dirty="0"/>
              <a:t>Información sobre restricciones</a:t>
            </a:r>
          </a:p>
          <a:p>
            <a:pPr marL="1200150" lvl="2" indent="-342900">
              <a:buFont typeface="+mj-lt"/>
              <a:buAutoNum type="arabicParenR"/>
            </a:pPr>
            <a:endParaRPr lang="es-ES" sz="1600" dirty="0"/>
          </a:p>
          <a:p>
            <a:pPr algn="just">
              <a:lnSpc>
                <a:spcPct val="120000"/>
              </a:lnSpc>
            </a:pPr>
            <a:endParaRPr lang="es-ES" sz="2200" dirty="0"/>
          </a:p>
          <a:p>
            <a:pPr marL="0" indent="0" algn="just">
              <a:lnSpc>
                <a:spcPct val="120000"/>
              </a:lnSpc>
              <a:buNone/>
            </a:pPr>
            <a:endParaRPr lang="es-ES" sz="220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r>
              <a:rPr lang="en-US" dirty="0"/>
              <a:t>/22</a:t>
            </a:r>
          </a:p>
        </p:txBody>
      </p:sp>
    </p:spTree>
    <p:extLst>
      <p:ext uri="{BB962C8B-B14F-4D97-AF65-F5344CB8AC3E}">
        <p14:creationId xmlns:p14="http://schemas.microsoft.com/office/powerpoint/2010/main" val="5799350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Uso de redes sociales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63413" y="1483583"/>
            <a:ext cx="7189179" cy="5155756"/>
          </a:xfrm>
        </p:spPr>
        <p:txBody>
          <a:bodyPr>
            <a:normAutofit/>
          </a:bodyPr>
          <a:lstStyle/>
          <a:p>
            <a:r>
              <a:rPr lang="es-ES" sz="2200" dirty="0"/>
              <a:t>Apertura de cuentas de Twitter y Facebook</a:t>
            </a:r>
          </a:p>
          <a:p>
            <a:endParaRPr lang="es-ES" sz="400" dirty="0"/>
          </a:p>
          <a:p>
            <a:pPr lvl="1"/>
            <a:r>
              <a:rPr lang="es-ES" sz="1800" dirty="0"/>
              <a:t>Proporcionar información sobre el estado del proyecto</a:t>
            </a:r>
            <a:endParaRPr lang="es-ES" sz="400" dirty="0"/>
          </a:p>
          <a:p>
            <a:pPr lvl="1"/>
            <a:endParaRPr lang="es-ES" sz="400" dirty="0"/>
          </a:p>
          <a:p>
            <a:pPr lvl="1"/>
            <a:r>
              <a:rPr lang="es-ES" sz="1800" dirty="0"/>
              <a:t>Promover y publicitar el proyecto</a:t>
            </a:r>
          </a:p>
          <a:p>
            <a:pPr lvl="1"/>
            <a:endParaRPr lang="es-ES" sz="400" dirty="0"/>
          </a:p>
          <a:p>
            <a:pPr lvl="1"/>
            <a:r>
              <a:rPr lang="es-ES" sz="1800" dirty="0"/>
              <a:t>Conseguir nuevos clientes para el futuro servicio de Telefónica</a:t>
            </a:r>
          </a:p>
          <a:p>
            <a:pPr lvl="1"/>
            <a:endParaRPr lang="es-ES" sz="400" dirty="0"/>
          </a:p>
          <a:p>
            <a:pPr lvl="1"/>
            <a:r>
              <a:rPr lang="es-ES" sz="1800" dirty="0"/>
              <a:t>Medio de comunicación con nuevos interesados en el proyecto</a:t>
            </a:r>
          </a:p>
          <a:p>
            <a:pPr lvl="1"/>
            <a:endParaRPr lang="es-ES" sz="400" dirty="0"/>
          </a:p>
          <a:p>
            <a:pPr marL="0" indent="0" algn="just">
              <a:lnSpc>
                <a:spcPct val="120000"/>
              </a:lnSpc>
              <a:buNone/>
            </a:pPr>
            <a:endParaRPr lang="es-ES" sz="220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r>
              <a:rPr lang="en-US" dirty="0"/>
              <a:t>/22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74" y="5044168"/>
            <a:ext cx="3276600" cy="1813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24828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5621</TotalTime>
  <Words>424</Words>
  <Application>Microsoft Office PowerPoint</Application>
  <PresentationFormat>Presentación en pantalla (4:3)</PresentationFormat>
  <Paragraphs>119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Arial</vt:lpstr>
      <vt:lpstr>Calibri</vt:lpstr>
      <vt:lpstr>Trebuchet MS</vt:lpstr>
      <vt:lpstr>Wingdings 3</vt:lpstr>
      <vt:lpstr>Faceta</vt:lpstr>
      <vt:lpstr>DONATEL</vt:lpstr>
      <vt:lpstr>Control de riesgos</vt:lpstr>
      <vt:lpstr>Control de riesgos</vt:lpstr>
      <vt:lpstr>Presentación de PowerPoint</vt:lpstr>
      <vt:lpstr>Presentación de PowerPoint</vt:lpstr>
      <vt:lpstr>Presentación de PowerPoint</vt:lpstr>
      <vt:lpstr>Pagos previstos</vt:lpstr>
      <vt:lpstr>Comunicaciones</vt:lpstr>
      <vt:lpstr>Comunicaciones (esta no la veo clara)</vt:lpstr>
      <vt:lpstr>Uso de redes sociales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DONATEL</dc:title>
  <dc:creator>Carlos Herranz Perdiguero</dc:creator>
  <cp:lastModifiedBy>Alvaro Saez</cp:lastModifiedBy>
  <cp:revision>202</cp:revision>
  <dcterms:created xsi:type="dcterms:W3CDTF">2016-05-09T08:14:16Z</dcterms:created>
  <dcterms:modified xsi:type="dcterms:W3CDTF">2017-01-11T11:08:12Z</dcterms:modified>
</cp:coreProperties>
</file>