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9"/>
  </p:notesMasterIdLst>
  <p:sldIdLst>
    <p:sldId id="256" r:id="rId2"/>
    <p:sldId id="278" r:id="rId3"/>
    <p:sldId id="279" r:id="rId4"/>
    <p:sldId id="283" r:id="rId5"/>
    <p:sldId id="285" r:id="rId6"/>
    <p:sldId id="284" r:id="rId7"/>
    <p:sldId id="287" r:id="rId8"/>
    <p:sldId id="288" r:id="rId9"/>
    <p:sldId id="290" r:id="rId10"/>
    <p:sldId id="291" r:id="rId11"/>
    <p:sldId id="294" r:id="rId12"/>
    <p:sldId id="295" r:id="rId13"/>
    <p:sldId id="296" r:id="rId14"/>
    <p:sldId id="297" r:id="rId15"/>
    <p:sldId id="300" r:id="rId16"/>
    <p:sldId id="298" r:id="rId17"/>
    <p:sldId id="29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D6059-4A3D-40C8-A276-C5FAB0044591}" type="datetimeFigureOut">
              <a:rPr lang="es-ES" smtClean="0"/>
              <a:t>10/11/2016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4970C-BD0D-4214-B863-70E1406ED9C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189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0B1-4467-4C4E-AD91-325FF8C9F48C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A4CA-AD2D-4FC2-85F5-22ABCEA31CA6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9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14F9-7F44-4126-B5C5-824C230831FB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B98C2-A5E2-4FEA-8832-5BE6EBB17B9B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7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5" y="2737247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011B4-01C1-49EE-B2E3-F2AD5EB928FD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205-45AB-4A7B-BCFE-0756787EE950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0FC3-FF8A-4237-BB4B-66F875247499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6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613-CF87-4742-867B-8A941F2C61D6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3841-859C-4D35-B126-3A6D49A15E6E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C3D3-39A3-490A-B349-6FE552BD5BAE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C9B5-3690-4FA4-B1C2-41F57EDC0360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F479-8213-4597-8A6E-3C97C4F2CE51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4750-1E26-4F82-A117-B40BBB8026A6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D17B-09BF-420F-B5B9-2987BAE97E5F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7564-2031-40EC-808E-C909B3787EF4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1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1" cy="525145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F37BF-C8B4-48F6-BC68-F487976409D8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4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29DAA-D47B-4796-84B1-D2553CE23390}" type="datetime1">
              <a:rPr lang="en-US" smtClean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4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4" y="6041364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634348"/>
          </a:xfrm>
        </p:spPr>
        <p:txBody>
          <a:bodyPr/>
          <a:lstStyle/>
          <a:p>
            <a:r>
              <a:rPr lang="es-ES" i="1" u="sng" dirty="0"/>
              <a:t>Gestión temporal Proyecto de Despliegue de Infraestructura de Estaciones Base 3G/LTE en Alcalá de Henares.</a:t>
            </a:r>
          </a:p>
          <a:p>
            <a:endParaRPr lang="es-ES" i="1" u="sng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181" y="519113"/>
            <a:ext cx="3303715" cy="2160121"/>
          </a:xfrm>
          <a:prstGeom prst="rect">
            <a:avLst/>
          </a:prstGeom>
        </p:spPr>
      </p:pic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507067" y="2404533"/>
            <a:ext cx="7766936" cy="1646301"/>
          </a:xfrm>
        </p:spPr>
        <p:txBody>
          <a:bodyPr/>
          <a:lstStyle/>
          <a:p>
            <a:r>
              <a:rPr lang="es-ES" dirty="0"/>
              <a:t>DONATEL</a:t>
            </a:r>
          </a:p>
        </p:txBody>
      </p:sp>
    </p:spTree>
    <p:extLst>
      <p:ext uri="{BB962C8B-B14F-4D97-AF65-F5344CB8AC3E}">
        <p14:creationId xmlns:p14="http://schemas.microsoft.com/office/powerpoint/2010/main" val="41961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709749"/>
          </a:xfrm>
        </p:spPr>
        <p:txBody>
          <a:bodyPr>
            <a:noAutofit/>
          </a:bodyPr>
          <a:lstStyle/>
          <a:p>
            <a:r>
              <a:rPr lang="es-ES" sz="4800" dirty="0"/>
              <a:t>Gestión del tiempo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319348"/>
            <a:ext cx="8596670" cy="52272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ES" sz="1600" dirty="0"/>
          </a:p>
          <a:p>
            <a:pPr algn="just"/>
            <a:r>
              <a:rPr lang="es-ES" sz="2400" dirty="0"/>
              <a:t>El objetivo es concluir el plan de implementación 3G/LTE en la ciudad de Alcalá en un plazo inferior a 4 meses</a:t>
            </a:r>
          </a:p>
          <a:p>
            <a:pPr algn="just"/>
            <a:r>
              <a:rPr lang="es-ES_tradnl" sz="2400" dirty="0"/>
              <a:t>Se busca obtener un flujo continuo de trabajo sin interrupciones o retrasos</a:t>
            </a:r>
          </a:p>
          <a:p>
            <a:pPr algn="just"/>
            <a:r>
              <a:rPr lang="es-ES_tradnl" sz="2400" dirty="0"/>
              <a:t>Proveer reportes veraces y oportunos</a:t>
            </a:r>
          </a:p>
          <a:p>
            <a:pPr algn="just"/>
            <a:r>
              <a:rPr lang="es-ES_tradnl" sz="2400" dirty="0"/>
              <a:t>Evitar confusiones o malos entendidos</a:t>
            </a:r>
          </a:p>
          <a:p>
            <a:pPr algn="just"/>
            <a:r>
              <a:rPr lang="es-ES_tradnl" sz="2400" dirty="0"/>
              <a:t>Asignar y nivelar de forma adecuada los recursos</a:t>
            </a:r>
          </a:p>
          <a:p>
            <a:pPr algn="just"/>
            <a:r>
              <a:rPr lang="es-ES_tradnl" sz="2400" dirty="0"/>
              <a:t>Establecer parámetros de medición de desempeño</a:t>
            </a:r>
          </a:p>
          <a:p>
            <a:pPr lvl="1" algn="just"/>
            <a:endParaRPr lang="es-ES_tradnl" sz="2200" dirty="0"/>
          </a:p>
          <a:p>
            <a:pPr lvl="1" algn="just"/>
            <a:endParaRPr lang="es-ES_tradnl" sz="2200" dirty="0"/>
          </a:p>
          <a:p>
            <a:pPr lvl="1" algn="just"/>
            <a:endParaRPr lang="es-ES_tradnl" sz="1800" dirty="0"/>
          </a:p>
          <a:p>
            <a:pPr lvl="1">
              <a:buNone/>
            </a:pPr>
            <a:endParaRPr lang="es-ES_tradnl" sz="1400" dirty="0"/>
          </a:p>
          <a:p>
            <a:pPr lvl="1">
              <a:buNone/>
            </a:pPr>
            <a:endParaRPr lang="es-ES_tradnl" sz="1400" dirty="0"/>
          </a:p>
          <a:p>
            <a:pPr lvl="1"/>
            <a:endParaRPr lang="es-ES_tradnl" sz="1400" dirty="0"/>
          </a:p>
          <a:p>
            <a:pPr>
              <a:buNone/>
            </a:pPr>
            <a:endParaRPr lang="es-ES" sz="16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dirty="0"/>
              <a:t>Definición de las actividades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642995"/>
            <a:ext cx="8596668" cy="4763494"/>
          </a:xfrm>
        </p:spPr>
        <p:txBody>
          <a:bodyPr>
            <a:normAutofit/>
          </a:bodyPr>
          <a:lstStyle/>
          <a:p>
            <a:pPr lvl="1" algn="just"/>
            <a:endParaRPr lang="es-ES" sz="2400" dirty="0"/>
          </a:p>
          <a:p>
            <a:pPr lvl="1" algn="just"/>
            <a:endParaRPr lang="es-ES" sz="2400" dirty="0"/>
          </a:p>
          <a:p>
            <a:pPr lvl="1" algn="just"/>
            <a:endParaRPr lang="es-ES" sz="2400" dirty="0"/>
          </a:p>
          <a:p>
            <a:pPr lvl="1" algn="just"/>
            <a:endParaRPr lang="es-ES" sz="2400" dirty="0"/>
          </a:p>
          <a:p>
            <a:pPr lvl="1" algn="just"/>
            <a:endParaRPr lang="es-ES" sz="2400" dirty="0"/>
          </a:p>
          <a:p>
            <a:pPr lvl="1" algn="just"/>
            <a:r>
              <a:rPr lang="es-ES" sz="2400" dirty="0"/>
              <a:t>Se identificarán los productos entregables al nivel más bajo de la estructura del desglose del trabajo</a:t>
            </a:r>
          </a:p>
          <a:p>
            <a:pPr lvl="1" algn="just"/>
            <a:r>
              <a:rPr lang="es-ES" sz="2400" dirty="0"/>
              <a:t>Una correcta definición de las actividades equivale a un correcto funcionamiento del proyecto </a:t>
            </a:r>
          </a:p>
          <a:p>
            <a:pPr lvl="1" algn="just"/>
            <a:r>
              <a:rPr lang="es-ES" sz="2400" dirty="0"/>
              <a:t>Las actividades que forman este proyecto son…</a:t>
            </a:r>
          </a:p>
          <a:p>
            <a:pPr lvl="1" algn="just"/>
            <a:endParaRPr lang="es-ES" sz="1800" dirty="0"/>
          </a:p>
          <a:p>
            <a:pPr algn="just"/>
            <a:endParaRPr lang="es-ES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642995"/>
            <a:ext cx="3935895" cy="208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8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58569"/>
          </a:xfrm>
        </p:spPr>
        <p:txBody>
          <a:bodyPr>
            <a:normAutofit fontScale="90000"/>
          </a:bodyPr>
          <a:lstStyle/>
          <a:p>
            <a:r>
              <a:rPr lang="es-ES" sz="5300" dirty="0"/>
              <a:t>Definición de las actividades</a:t>
            </a:r>
            <a:br>
              <a:rPr lang="es-ES" sz="4800" dirty="0"/>
            </a:br>
            <a:br>
              <a:rPr lang="es-ES" sz="4800" dirty="0"/>
            </a:br>
            <a:endParaRPr lang="es-ES" sz="4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20" name="Marcador de contenido 1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413699"/>
              </p:ext>
            </p:extLst>
          </p:nvPr>
        </p:nvGraphicFramePr>
        <p:xfrm>
          <a:off x="2334419" y="1696271"/>
          <a:ext cx="5283200" cy="4687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572">
                  <a:extLst>
                    <a:ext uri="{9D8B030D-6E8A-4147-A177-3AD203B41FA5}">
                      <a16:colId xmlns:a16="http://schemas.microsoft.com/office/drawing/2014/main" val="330256788"/>
                    </a:ext>
                  </a:extLst>
                </a:gridCol>
                <a:gridCol w="4622628">
                  <a:extLst>
                    <a:ext uri="{9D8B030D-6E8A-4147-A177-3AD203B41FA5}">
                      <a16:colId xmlns:a16="http://schemas.microsoft.com/office/drawing/2014/main" val="1485355587"/>
                    </a:ext>
                  </a:extLst>
                </a:gridCol>
              </a:tblGrid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b="1" u="none" strike="noStrike" dirty="0">
                          <a:effectLst/>
                        </a:rPr>
                        <a:t>ID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b="1" u="none" strike="noStrike" dirty="0">
                          <a:effectLst/>
                        </a:rPr>
                        <a:t>Tarea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45190744"/>
                  </a:ext>
                </a:extLst>
              </a:tr>
              <a:tr h="30580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 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Definición de las actividades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0913968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1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Inicio del proyecto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2106608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1.1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Acta de constitución del proyecto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8473066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 para la dirección del proyecto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1495087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2.1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Plan de gestión del alcance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5997150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2.1.1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Definición del alcance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0069139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2.1.2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Recopilación de requisitos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4110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2.1.3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Estructura del desglose del trabajo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3991358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2.2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 de gestión temporal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3908047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2.3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 de gestión de los costes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6558938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2.4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 de gestión de la calidad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0156931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2.4.1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Definición protocolos de calidad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4676571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2.5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Plan de gestión de recursos humanos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6167945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2.5.1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Responsabilidades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4306890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2.5.2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Administración</a:t>
                      </a:r>
                      <a:r>
                        <a:rPr lang="es-ES" sz="1600" u="none" strike="noStrike" baseline="0" dirty="0">
                          <a:effectLst/>
                        </a:rPr>
                        <a:t> de recursos humanos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4074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05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955431"/>
          </a:xfrm>
        </p:spPr>
        <p:txBody>
          <a:bodyPr>
            <a:normAutofit/>
          </a:bodyPr>
          <a:lstStyle/>
          <a:p>
            <a:r>
              <a:rPr lang="es-ES" sz="4800" dirty="0"/>
              <a:t>Definición de las actividades</a:t>
            </a: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357680"/>
              </p:ext>
            </p:extLst>
          </p:nvPr>
        </p:nvGraphicFramePr>
        <p:xfrm>
          <a:off x="2466974" y="1650977"/>
          <a:ext cx="6123690" cy="4735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306">
                  <a:extLst>
                    <a:ext uri="{9D8B030D-6E8A-4147-A177-3AD203B41FA5}">
                      <a16:colId xmlns:a16="http://schemas.microsoft.com/office/drawing/2014/main" val="2767118910"/>
                    </a:ext>
                  </a:extLst>
                </a:gridCol>
                <a:gridCol w="5158384">
                  <a:extLst>
                    <a:ext uri="{9D8B030D-6E8A-4147-A177-3AD203B41FA5}">
                      <a16:colId xmlns:a16="http://schemas.microsoft.com/office/drawing/2014/main" val="4270591209"/>
                    </a:ext>
                  </a:extLst>
                </a:gridCol>
              </a:tblGrid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2.6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 de la gestión de la comunicación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5768346"/>
                  </a:ext>
                </a:extLst>
              </a:tr>
              <a:tr h="4834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2.6.1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Elaboración del plan de comunicaciones con los interesados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5516838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2.7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Plan de la gestión de los riesgos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3408051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2.7.1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Identificación de los riesgos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8215174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2.7.2 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Análisis cualitativo de los riesgos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9175939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2.7.3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Análisis cuantitativo de los riesgos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128557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2.7.4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Planificación de la respuesta ante los riesgos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5934424"/>
                  </a:ext>
                </a:extLst>
              </a:tr>
              <a:tr h="542741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2.8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Planificación elección empresa subcontratada diseño de red LTE  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1121981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2.8.1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Elaboración del pliego de contratación 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8998521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2.8.2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Análisis de propuestas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1919906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2.8.3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Selección empresa subcontratada 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2407268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2.8.4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Administrar contrato empresa subcontratada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2233219"/>
                  </a:ext>
                </a:extLst>
              </a:tr>
              <a:tr h="51144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3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Diseño red LTE por parte de la empresa subcontratada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3454156"/>
                  </a:ext>
                </a:extLst>
              </a:tr>
              <a:tr h="106017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3.1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Seguimiento del estado de desarrollo diseño red 3G/LTE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295030"/>
                  </a:ext>
                </a:extLst>
              </a:tr>
            </a:tbl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18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885092"/>
          </a:xfrm>
        </p:spPr>
        <p:txBody>
          <a:bodyPr/>
          <a:lstStyle/>
          <a:p>
            <a:r>
              <a:rPr lang="es-ES" sz="4800" dirty="0"/>
              <a:t>Definición de las actividades</a:t>
            </a:r>
            <a:endParaRPr lang="es-ES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54051"/>
              </p:ext>
            </p:extLst>
          </p:nvPr>
        </p:nvGraphicFramePr>
        <p:xfrm>
          <a:off x="2334419" y="2438398"/>
          <a:ext cx="5283200" cy="29949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8051">
                  <a:extLst>
                    <a:ext uri="{9D8B030D-6E8A-4147-A177-3AD203B41FA5}">
                      <a16:colId xmlns:a16="http://schemas.microsoft.com/office/drawing/2014/main" val="2424314589"/>
                    </a:ext>
                  </a:extLst>
                </a:gridCol>
                <a:gridCol w="4755149">
                  <a:extLst>
                    <a:ext uri="{9D8B030D-6E8A-4147-A177-3AD203B41FA5}">
                      <a16:colId xmlns:a16="http://schemas.microsoft.com/office/drawing/2014/main" val="2487957896"/>
                    </a:ext>
                  </a:extLst>
                </a:gridCol>
              </a:tblGrid>
              <a:tr h="383973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4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Plan gestión de adquisiciones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9024489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4.1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Elaboración del pliego de contratación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7048700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4.2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Selección de proveedores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7525897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4.3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Administrar contratos proveedores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3587312"/>
                  </a:ext>
                </a:extLst>
              </a:tr>
              <a:tr h="383973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5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Ejecución de pruebas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7847366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5.1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Ajustes de equipos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070758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5.2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Pruebas de cobertura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6442243"/>
                  </a:ext>
                </a:extLst>
              </a:tr>
              <a:tr h="383973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6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Proceso de cierre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7627137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6.1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Generación de informe técnico económico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465162"/>
                  </a:ext>
                </a:extLst>
              </a:tr>
            </a:tbl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24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85411" cy="885092"/>
          </a:xfrm>
        </p:spPr>
        <p:txBody>
          <a:bodyPr>
            <a:normAutofit fontScale="90000"/>
          </a:bodyPr>
          <a:lstStyle/>
          <a:p>
            <a:r>
              <a:rPr lang="es-ES" sz="4800" dirty="0"/>
              <a:t>Secuenciación de las actividades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598551" cy="4950069"/>
          </a:xfrm>
        </p:spPr>
        <p:txBody>
          <a:bodyPr/>
          <a:lstStyle/>
          <a:p>
            <a:pPr lvl="1"/>
            <a:r>
              <a:rPr lang="es-ES" sz="2000" dirty="0"/>
              <a:t>Identifica las relaciones lógicas existentes entre las actividades</a:t>
            </a:r>
          </a:p>
          <a:p>
            <a:pPr lvl="2"/>
            <a:r>
              <a:rPr lang="es-ES" sz="1600" dirty="0"/>
              <a:t> </a:t>
            </a:r>
            <a:r>
              <a:rPr lang="es-ES" sz="1800" dirty="0"/>
              <a:t>Se ha desarrollado para la optimización del tiempo</a:t>
            </a:r>
          </a:p>
          <a:p>
            <a:pPr marL="457188" lvl="1" indent="0">
              <a:buNone/>
            </a:pPr>
            <a:endParaRPr lang="es-ES" sz="1800" dirty="0"/>
          </a:p>
          <a:p>
            <a:pPr marL="457188" lvl="1" indent="0">
              <a:buNone/>
            </a:pPr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Imagen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36" y="2511142"/>
            <a:ext cx="7225428" cy="36927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112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85411" cy="885092"/>
          </a:xfrm>
        </p:spPr>
        <p:txBody>
          <a:bodyPr>
            <a:normAutofit fontScale="90000"/>
          </a:bodyPr>
          <a:lstStyle/>
          <a:p>
            <a:r>
              <a:rPr lang="es-ES" sz="4800" dirty="0"/>
              <a:t>Secuenciación de las actividades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Marcador de contenido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85" y="1843941"/>
            <a:ext cx="8632825" cy="154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85" y="3390315"/>
            <a:ext cx="9125559" cy="211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/>
          <p:cNvPicPr/>
          <p:nvPr/>
        </p:nvPicPr>
        <p:blipFill>
          <a:blip r:embed="rId4"/>
          <a:stretch>
            <a:fillRect/>
          </a:stretch>
        </p:blipFill>
        <p:spPr>
          <a:xfrm>
            <a:off x="537185" y="5285938"/>
            <a:ext cx="1460427" cy="112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89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Gestión de los recursos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1759" y="1434037"/>
            <a:ext cx="8903393" cy="495006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sz="2400" dirty="0"/>
              <a:t>Es clave para determinar la duración de cada tarea</a:t>
            </a:r>
          </a:p>
          <a:p>
            <a:pPr marL="0" lvl="0" indent="0">
              <a:buNone/>
            </a:pPr>
            <a:endParaRPr lang="es-ES" sz="2400" dirty="0"/>
          </a:p>
          <a:p>
            <a:pPr marL="0" lvl="0" indent="0">
              <a:buNone/>
            </a:pPr>
            <a:endParaRPr lang="es-ES" sz="2400" dirty="0"/>
          </a:p>
          <a:p>
            <a:pPr marL="0" lvl="0" indent="0">
              <a:buNone/>
            </a:pPr>
            <a:endParaRPr lang="es-ES" sz="2400" dirty="0"/>
          </a:p>
          <a:p>
            <a:pPr marL="0" lvl="0" indent="0">
              <a:buNone/>
            </a:pPr>
            <a:endParaRPr lang="es-ES" sz="2400" dirty="0"/>
          </a:p>
          <a:p>
            <a:pPr marL="0" lvl="0" indent="0">
              <a:buNone/>
            </a:pPr>
            <a:endParaRPr lang="es-ES" sz="2400" dirty="0"/>
          </a:p>
          <a:p>
            <a:pPr marL="0" lvl="0" indent="0">
              <a:buNone/>
            </a:pPr>
            <a:endParaRPr lang="es-ES" sz="2400" dirty="0"/>
          </a:p>
          <a:p>
            <a:pPr lvl="0"/>
            <a:r>
              <a:rPr lang="es-ES" sz="2400" dirty="0"/>
              <a:t>Para este proyecto se necesitan recursos</a:t>
            </a:r>
          </a:p>
          <a:p>
            <a:pPr lvl="1"/>
            <a:r>
              <a:rPr lang="es-ES" sz="2200" dirty="0"/>
              <a:t>Humanos </a:t>
            </a:r>
          </a:p>
          <a:p>
            <a:pPr lvl="1"/>
            <a:r>
              <a:rPr lang="es-ES" sz="2200" dirty="0"/>
              <a:t>Financieros</a:t>
            </a:r>
          </a:p>
          <a:p>
            <a:pPr lvl="1"/>
            <a:r>
              <a:rPr lang="es-ES" sz="2400" dirty="0"/>
              <a:t>Ma</a:t>
            </a:r>
            <a:r>
              <a:rPr lang="es-ES" sz="2200" dirty="0"/>
              <a:t>teriales</a:t>
            </a:r>
          </a:p>
          <a:p>
            <a:pPr lvl="1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89" y="2082092"/>
            <a:ext cx="3009900" cy="238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53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Recursos Humanos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5213838"/>
          </a:xfrm>
        </p:spPr>
        <p:txBody>
          <a:bodyPr>
            <a:normAutofit/>
          </a:bodyPr>
          <a:lstStyle/>
          <a:p>
            <a:pPr lvl="1"/>
            <a:r>
              <a:rPr lang="es-ES" sz="2000" dirty="0"/>
              <a:t>Plan de dirección del proyecto</a:t>
            </a:r>
          </a:p>
          <a:p>
            <a:pPr lvl="1"/>
            <a:r>
              <a:rPr lang="es-ES" sz="2000" dirty="0"/>
              <a:t>Donatel ha asignado 6 profesionales para la dirección del proyecto</a:t>
            </a:r>
          </a:p>
          <a:p>
            <a:pPr marL="914377" lvl="2" indent="0">
              <a:buNone/>
            </a:pPr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563" y="2869539"/>
            <a:ext cx="5789194" cy="353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32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Recursos Humanos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5213838"/>
          </a:xfrm>
        </p:spPr>
        <p:txBody>
          <a:bodyPr>
            <a:normAutofit/>
          </a:bodyPr>
          <a:lstStyle/>
          <a:p>
            <a:pPr lvl="1"/>
            <a:r>
              <a:rPr lang="es-ES" sz="2000" dirty="0"/>
              <a:t>  </a:t>
            </a:r>
            <a:r>
              <a:rPr lang="es-ES" sz="2400" dirty="0"/>
              <a:t>Diseño Red 3G/LTE</a:t>
            </a:r>
          </a:p>
          <a:p>
            <a:pPr lvl="2"/>
            <a:endParaRPr lang="es-ES" sz="1800" dirty="0"/>
          </a:p>
          <a:p>
            <a:pPr lvl="2"/>
            <a:r>
              <a:rPr lang="es-ES" sz="2000" dirty="0"/>
              <a:t>La junta directiva ha decidido subcontratar una empresa especializada en el diseño y despliegue de redes 3G/LTE</a:t>
            </a:r>
          </a:p>
          <a:p>
            <a:pPr marL="914377" lvl="2" indent="0">
              <a:buNone/>
            </a:pPr>
            <a:endParaRPr lang="es-ES" sz="1800" dirty="0"/>
          </a:p>
          <a:p>
            <a:pPr lvl="2"/>
            <a:r>
              <a:rPr lang="es-ES" sz="2000" dirty="0"/>
              <a:t>Ahorro en tiempo y coste</a:t>
            </a:r>
          </a:p>
          <a:p>
            <a:pPr lvl="2"/>
            <a:endParaRPr lang="es-ES" sz="1800" dirty="0"/>
          </a:p>
          <a:p>
            <a:pPr lvl="2"/>
            <a:r>
              <a:rPr lang="es-ES" sz="2000" dirty="0"/>
              <a:t>Elección de la empresa a base de concurso según criterios de Donatel</a:t>
            </a:r>
          </a:p>
          <a:p>
            <a:pPr lvl="2"/>
            <a:endParaRPr lang="es-ES" sz="1800" dirty="0"/>
          </a:p>
          <a:p>
            <a:pPr lvl="1"/>
            <a:endParaRPr lang="es-ES" sz="2000" dirty="0"/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934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Recursos Financieros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lvl="2"/>
            <a:endParaRPr lang="es-ES" sz="1800" dirty="0"/>
          </a:p>
          <a:p>
            <a:pPr marL="914377" lvl="2" indent="0">
              <a:buNone/>
            </a:pPr>
            <a:r>
              <a:rPr lang="es-ES" sz="2000" dirty="0"/>
              <a:t> 200.000 Euros en caso de ser elegidos para desarrollar el plan de</a:t>
            </a:r>
          </a:p>
          <a:p>
            <a:pPr marL="914377" lvl="2" indent="0">
              <a:buNone/>
            </a:pPr>
            <a:r>
              <a:rPr lang="es-ES" sz="2000" dirty="0"/>
              <a:t> implementación</a:t>
            </a:r>
          </a:p>
          <a:p>
            <a:pPr lvl="2"/>
            <a:endParaRPr lang="es-ES" sz="1800" dirty="0"/>
          </a:p>
          <a:p>
            <a:pPr lvl="2"/>
            <a:endParaRPr lang="es-ES" sz="1800" dirty="0"/>
          </a:p>
          <a:p>
            <a:pPr lvl="2"/>
            <a:endParaRPr lang="es-ES" sz="1800" dirty="0"/>
          </a:p>
          <a:p>
            <a:pPr lvl="2"/>
            <a:endParaRPr lang="es-ES" sz="1800" dirty="0"/>
          </a:p>
          <a:p>
            <a:pPr lvl="2"/>
            <a:endParaRPr lang="es-ES" sz="1800" dirty="0"/>
          </a:p>
          <a:p>
            <a:pPr lvl="2"/>
            <a:r>
              <a:rPr lang="es-ES" sz="2000" dirty="0"/>
              <a:t>Hasta entonces se utilizarán recursos internos optimizando los costes</a:t>
            </a:r>
          </a:p>
          <a:p>
            <a:pPr marL="1371566" lvl="3" indent="0">
              <a:buNone/>
            </a:pPr>
            <a:r>
              <a:rPr lang="es-ES" sz="1800" dirty="0"/>
              <a:t> </a:t>
            </a:r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860" y="2504661"/>
            <a:ext cx="2966888" cy="229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32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Recursos Materiales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 fontScale="70000" lnSpcReduction="20000"/>
          </a:bodyPr>
          <a:lstStyle/>
          <a:p>
            <a:pPr marL="457188" lvl="1" indent="0">
              <a:buNone/>
            </a:pPr>
            <a:r>
              <a:rPr lang="es-ES" sz="1800" dirty="0"/>
              <a:t>	</a:t>
            </a:r>
            <a:endParaRPr lang="es-ES" sz="2000" dirty="0"/>
          </a:p>
          <a:p>
            <a:pPr lvl="2"/>
            <a:r>
              <a:rPr lang="es-ES" sz="2900" dirty="0"/>
              <a:t>Mapas demográficas de la ciudad estudiadas y aprobadas por nuestro equipo especializado</a:t>
            </a:r>
          </a:p>
          <a:p>
            <a:pPr lvl="2"/>
            <a:endParaRPr lang="es-ES" sz="1900" dirty="0"/>
          </a:p>
          <a:p>
            <a:pPr lvl="2"/>
            <a:r>
              <a:rPr lang="es-ES" sz="2900" dirty="0"/>
              <a:t>Adquisición de material</a:t>
            </a:r>
          </a:p>
          <a:p>
            <a:pPr marL="914377" lvl="2" indent="0">
              <a:buNone/>
            </a:pPr>
            <a:endParaRPr lang="es-ES" sz="1800" dirty="0"/>
          </a:p>
          <a:p>
            <a:pPr lvl="3"/>
            <a:r>
              <a:rPr lang="es-ES" sz="2100" dirty="0"/>
              <a:t>Elaboración del pliego de contratación</a:t>
            </a:r>
          </a:p>
          <a:p>
            <a:pPr lvl="3"/>
            <a:endParaRPr lang="es-ES" sz="2100" dirty="0"/>
          </a:p>
          <a:p>
            <a:pPr lvl="3"/>
            <a:r>
              <a:rPr lang="es-ES" sz="2100" dirty="0"/>
              <a:t>Análisis de propuestas</a:t>
            </a:r>
          </a:p>
          <a:p>
            <a:pPr lvl="3"/>
            <a:endParaRPr lang="es-ES" sz="2100" dirty="0"/>
          </a:p>
          <a:p>
            <a:pPr lvl="3"/>
            <a:r>
              <a:rPr lang="es-ES" sz="2100" dirty="0"/>
              <a:t>Selección proveedor según criterios de Donatel</a:t>
            </a:r>
          </a:p>
          <a:p>
            <a:pPr lvl="3"/>
            <a:endParaRPr lang="es-ES" sz="1800" dirty="0"/>
          </a:p>
          <a:p>
            <a:pPr marL="1371566" lvl="3" indent="0">
              <a:buNone/>
            </a:pPr>
            <a:endParaRPr lang="es-ES" sz="1800" dirty="0"/>
          </a:p>
          <a:p>
            <a:pPr marL="457188" lvl="1" indent="0">
              <a:buNone/>
            </a:pPr>
            <a:r>
              <a:rPr lang="es-ES" sz="1800" dirty="0"/>
              <a:t>	</a:t>
            </a:r>
          </a:p>
          <a:p>
            <a:pPr marL="457188" lvl="1" indent="0">
              <a:buNone/>
            </a:pPr>
            <a:r>
              <a:rPr lang="es-ES" sz="1800" dirty="0"/>
              <a:t>		</a:t>
            </a:r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503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Planificación de las actividades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marL="914377" lvl="2" indent="0">
              <a:buNone/>
            </a:pPr>
            <a:endParaRPr lang="es-ES" sz="1800" dirty="0"/>
          </a:p>
          <a:p>
            <a:pPr lvl="2"/>
            <a:r>
              <a:rPr lang="es-ES" sz="2000" dirty="0"/>
              <a:t> La duración de las actividades se ha estimado en base a</a:t>
            </a:r>
          </a:p>
          <a:p>
            <a:pPr lvl="3"/>
            <a:endParaRPr lang="es-ES" sz="1600" dirty="0"/>
          </a:p>
          <a:p>
            <a:pPr lvl="3"/>
            <a:r>
              <a:rPr lang="es-ES" sz="2000" dirty="0"/>
              <a:t>Recursos disponibles</a:t>
            </a:r>
          </a:p>
          <a:p>
            <a:pPr lvl="3"/>
            <a:endParaRPr lang="es-ES" sz="1600" dirty="0"/>
          </a:p>
          <a:p>
            <a:pPr lvl="3"/>
            <a:r>
              <a:rPr lang="es-ES" sz="2000" dirty="0"/>
              <a:t>Proyectos realizados anteriormente</a:t>
            </a:r>
          </a:p>
          <a:p>
            <a:pPr lvl="3"/>
            <a:endParaRPr lang="es-ES" sz="1600" dirty="0"/>
          </a:p>
          <a:p>
            <a:pPr lvl="3"/>
            <a:r>
              <a:rPr lang="es-ES" sz="2000" dirty="0"/>
              <a:t>Modelo de tres valores</a:t>
            </a:r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204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Cronograma temporal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marL="914377" lvl="2" indent="0">
              <a:buNone/>
            </a:pPr>
            <a:endParaRPr lang="es-ES" sz="1800" dirty="0"/>
          </a:p>
          <a:p>
            <a:pPr lvl="2"/>
            <a:r>
              <a:rPr lang="es-ES" sz="1800" dirty="0"/>
              <a:t> Se elabora como línea base para medir el avance del proyecto</a:t>
            </a:r>
          </a:p>
          <a:p>
            <a:pPr lvl="3"/>
            <a:endParaRPr lang="es-ES" sz="1600" dirty="0"/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539" y="2424794"/>
            <a:ext cx="44291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02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Cronograma temporal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marL="914377" lvl="2" indent="0">
              <a:buNone/>
            </a:pPr>
            <a:endParaRPr lang="es-ES" sz="1800" dirty="0"/>
          </a:p>
          <a:p>
            <a:pPr marL="914377" lvl="2" indent="0">
              <a:buNone/>
            </a:pPr>
            <a:endParaRPr lang="es-ES" sz="1600" dirty="0"/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37" y="1644161"/>
            <a:ext cx="9075040" cy="491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23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Control del cronograma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marL="914377" lvl="2" indent="0">
              <a:buNone/>
            </a:pPr>
            <a:endParaRPr lang="es-ES" sz="1800" dirty="0"/>
          </a:p>
          <a:p>
            <a:pPr lvl="2"/>
            <a:r>
              <a:rPr lang="es-ES" sz="1800" dirty="0"/>
              <a:t> </a:t>
            </a:r>
            <a:r>
              <a:rPr lang="es-ES" sz="2000" dirty="0"/>
              <a:t>Mide el avance real del proyecto con el avance planeado</a:t>
            </a:r>
          </a:p>
          <a:p>
            <a:pPr marL="914377" lvl="2" indent="0">
              <a:buNone/>
            </a:pPr>
            <a:endParaRPr lang="es-ES" sz="2000" dirty="0"/>
          </a:p>
          <a:p>
            <a:pPr lvl="3"/>
            <a:r>
              <a:rPr lang="es-ES" sz="1600" dirty="0"/>
              <a:t>Determina el estado actual de cronograma mediante monitoreo periódico</a:t>
            </a:r>
          </a:p>
          <a:p>
            <a:pPr lvl="3"/>
            <a:r>
              <a:rPr lang="es-ES" sz="1600" dirty="0"/>
              <a:t>Influye sobre los factores que generan modificaciones en el cronograma </a:t>
            </a:r>
          </a:p>
          <a:p>
            <a:pPr lvl="3"/>
            <a:r>
              <a:rPr lang="es-ES" sz="1600" dirty="0"/>
              <a:t>Examina las actividades en proceso, definiendo proyecciones a partir de la situación actual</a:t>
            </a:r>
          </a:p>
          <a:p>
            <a:pPr lvl="3"/>
            <a:r>
              <a:rPr lang="es-ES" sz="1600" dirty="0"/>
              <a:t> Controla las actividades a ejecutar en base a lo real</a:t>
            </a:r>
          </a:p>
          <a:p>
            <a:pPr lvl="3"/>
            <a:r>
              <a:rPr lang="es-ES" sz="1600" dirty="0"/>
              <a:t>Permite tomar medidas correctivas</a:t>
            </a:r>
          </a:p>
          <a:p>
            <a:pPr lvl="3"/>
            <a:r>
              <a:rPr lang="es-ES" sz="1600" dirty="0"/>
              <a:t>Documentar todos los eventos no considerados en el plan actual del proyecto</a:t>
            </a:r>
          </a:p>
          <a:p>
            <a:pPr lvl="3"/>
            <a:endParaRPr lang="es-ES" sz="1400" dirty="0"/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6725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1094</TotalTime>
  <Words>619</Words>
  <Application>Microsoft Office PowerPoint</Application>
  <PresentationFormat>Panorámica</PresentationFormat>
  <Paragraphs>209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Trebuchet MS</vt:lpstr>
      <vt:lpstr>Wingdings 3</vt:lpstr>
      <vt:lpstr>Faceta</vt:lpstr>
      <vt:lpstr>DONATEL</vt:lpstr>
      <vt:lpstr>Gestión del tiempo </vt:lpstr>
      <vt:lpstr>Definición de las actividades</vt:lpstr>
      <vt:lpstr>Definición de las actividades  </vt:lpstr>
      <vt:lpstr>Definición de las actividades</vt:lpstr>
      <vt:lpstr>Definición de las actividades</vt:lpstr>
      <vt:lpstr>Secuenciación de las actividades</vt:lpstr>
      <vt:lpstr>Secuenciación de las actividades</vt:lpstr>
      <vt:lpstr>Gestión de los recursos</vt:lpstr>
      <vt:lpstr>Recursos Humanos</vt:lpstr>
      <vt:lpstr>Recursos Humanos</vt:lpstr>
      <vt:lpstr>Recursos Financieros</vt:lpstr>
      <vt:lpstr>Recursos Materiales</vt:lpstr>
      <vt:lpstr>Planificación de las actividades</vt:lpstr>
      <vt:lpstr>Cronograma temporal</vt:lpstr>
      <vt:lpstr>Cronograma temporal</vt:lpstr>
      <vt:lpstr>Control del cronograma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DONATEL</dc:title>
  <dc:creator>Carlos Herranz Perdiguero</dc:creator>
  <cp:lastModifiedBy>lenovo</cp:lastModifiedBy>
  <cp:revision>120</cp:revision>
  <dcterms:created xsi:type="dcterms:W3CDTF">2016-05-09T08:14:16Z</dcterms:created>
  <dcterms:modified xsi:type="dcterms:W3CDTF">2016-11-10T18:57:56Z</dcterms:modified>
</cp:coreProperties>
</file>