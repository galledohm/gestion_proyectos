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9"/>
  </p:notesMasterIdLst>
  <p:sldIdLst>
    <p:sldId id="256" r:id="rId2"/>
    <p:sldId id="295" r:id="rId3"/>
    <p:sldId id="296" r:id="rId4"/>
    <p:sldId id="297" r:id="rId5"/>
    <p:sldId id="298" r:id="rId6"/>
    <p:sldId id="301" r:id="rId7"/>
    <p:sldId id="299" r:id="rId8"/>
    <p:sldId id="300" r:id="rId9"/>
    <p:sldId id="302" r:id="rId10"/>
    <p:sldId id="308" r:id="rId11"/>
    <p:sldId id="309" r:id="rId12"/>
    <p:sldId id="303" r:id="rId13"/>
    <p:sldId id="306" r:id="rId14"/>
    <p:sldId id="310" r:id="rId15"/>
    <p:sldId id="304" r:id="rId16"/>
    <p:sldId id="307" r:id="rId17"/>
    <p:sldId id="30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3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18/11/2016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4970C-BD0D-4214-B863-70E1406ED9C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9641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4970C-BD0D-4214-B863-70E1406ED9C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981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11/18/2016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Índice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434671" y="1489266"/>
            <a:ext cx="6780335" cy="4885418"/>
          </a:xfrm>
        </p:spPr>
        <p:txBody>
          <a:bodyPr/>
          <a:lstStyle/>
          <a:p>
            <a:endParaRPr lang="es-ES" dirty="0"/>
          </a:p>
          <a:p>
            <a:r>
              <a:rPr lang="es-ES" sz="2400" dirty="0"/>
              <a:t>CALIDAD</a:t>
            </a:r>
          </a:p>
          <a:p>
            <a:pPr lvl="1"/>
            <a:r>
              <a:rPr lang="es-ES" sz="2000" dirty="0"/>
              <a:t>Planificar la gestión de calidad</a:t>
            </a:r>
          </a:p>
          <a:p>
            <a:pPr lvl="1"/>
            <a:r>
              <a:rPr lang="es-ES" sz="2000" dirty="0"/>
              <a:t>Aseguramiento de calidad</a:t>
            </a:r>
          </a:p>
          <a:p>
            <a:pPr lvl="1"/>
            <a:r>
              <a:rPr lang="es-ES" sz="2000" dirty="0"/>
              <a:t>Control de la calidad</a:t>
            </a:r>
          </a:p>
          <a:p>
            <a:pPr lvl="1"/>
            <a:endParaRPr lang="es-ES" sz="2400" dirty="0"/>
          </a:p>
          <a:p>
            <a:r>
              <a:rPr lang="es-ES" sz="2400" dirty="0"/>
              <a:t>RECURSOS HUMANOS</a:t>
            </a:r>
          </a:p>
          <a:p>
            <a:pPr lvl="1"/>
            <a:r>
              <a:rPr lang="es-ES" sz="2000" dirty="0"/>
              <a:t>Plan para la gestión de los RRHH</a:t>
            </a:r>
          </a:p>
          <a:p>
            <a:pPr lvl="1"/>
            <a:r>
              <a:rPr lang="es-ES" sz="2000" dirty="0"/>
              <a:t>Adquisición del equipo de trabajo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29512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Planificar gestión de calidad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118839" cy="4885418"/>
          </a:xfrm>
        </p:spPr>
        <p:txBody>
          <a:bodyPr>
            <a:normAutofit/>
          </a:bodyPr>
          <a:lstStyle/>
          <a:p>
            <a:r>
              <a:rPr lang="es-ES" sz="2000" dirty="0"/>
              <a:t>Proceso encargado de la identificación de requisitos y/o estándares de calidad del proyecto y entregables.</a:t>
            </a:r>
          </a:p>
          <a:p>
            <a:r>
              <a:rPr lang="es-ES" sz="2000" b="1" dirty="0"/>
              <a:t>Plan de gestión de calidad.</a:t>
            </a:r>
          </a:p>
          <a:p>
            <a:pPr lvl="1"/>
            <a:r>
              <a:rPr lang="es-ES" sz="1800" dirty="0"/>
              <a:t>Valorar si se están cumpliendo los estándares de calidad establecido por Donatel        Listas de verificación.</a:t>
            </a:r>
          </a:p>
          <a:p>
            <a:r>
              <a:rPr lang="es-ES" sz="2000" b="1" dirty="0"/>
              <a:t>Métricas de calidad.</a:t>
            </a:r>
          </a:p>
          <a:p>
            <a:pPr lvl="1"/>
            <a:r>
              <a:rPr lang="es-ES" sz="1800" dirty="0"/>
              <a:t>Índice de desempeño del coste, CPI.</a:t>
            </a:r>
          </a:p>
          <a:p>
            <a:pPr lvl="1"/>
            <a:r>
              <a:rPr lang="es-ES" sz="1800" dirty="0"/>
              <a:t>Índice de desempeño del cronograma, SPI.</a:t>
            </a:r>
          </a:p>
          <a:p>
            <a:pPr marL="0" indent="0">
              <a:buNone/>
            </a:pPr>
            <a:endParaRPr lang="es-ES" sz="2000" b="1" dirty="0"/>
          </a:p>
          <a:p>
            <a:endParaRPr lang="es-ES" sz="2000" b="1" dirty="0"/>
          </a:p>
        </p:txBody>
      </p:sp>
      <p:sp>
        <p:nvSpPr>
          <p:cNvPr id="3" name="Flecha: a la derecha 2"/>
          <p:cNvSpPr/>
          <p:nvPr/>
        </p:nvSpPr>
        <p:spPr>
          <a:xfrm>
            <a:off x="3997568" y="3033346"/>
            <a:ext cx="342900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04913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Planificar gestión de calidad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118839" cy="4885418"/>
          </a:xfrm>
        </p:spPr>
        <p:txBody>
          <a:bodyPr>
            <a:normAutofit/>
          </a:bodyPr>
          <a:lstStyle/>
          <a:p>
            <a:r>
              <a:rPr lang="es-ES" sz="2000" b="1" dirty="0"/>
              <a:t>Plan de mejoras del proyecto.</a:t>
            </a:r>
          </a:p>
          <a:p>
            <a:pPr lvl="1"/>
            <a:r>
              <a:rPr lang="es-ES" sz="1800" dirty="0"/>
              <a:t>Estudio de las fases del proyecto que han sido planificadas.</a:t>
            </a:r>
          </a:p>
          <a:p>
            <a:pPr lvl="1"/>
            <a:r>
              <a:rPr lang="es-ES" sz="1800" dirty="0"/>
              <a:t>Monitorización diaria de las actividades en ejecución.</a:t>
            </a:r>
          </a:p>
          <a:p>
            <a:pPr lvl="1"/>
            <a:r>
              <a:rPr lang="es-ES" sz="1800" dirty="0"/>
              <a:t>Calculo de CPI y SPI.</a:t>
            </a:r>
          </a:p>
          <a:p>
            <a:pPr lvl="1"/>
            <a:r>
              <a:rPr lang="es-ES" sz="1800" dirty="0"/>
              <a:t>Diagrama de Pareto.</a:t>
            </a:r>
          </a:p>
          <a:p>
            <a:pPr marL="457200" lvl="1" indent="0">
              <a:buNone/>
            </a:pPr>
            <a:endParaRPr lang="es-ES" sz="1800" dirty="0"/>
          </a:p>
          <a:p>
            <a:pPr marL="457200" lvl="1" indent="0">
              <a:buNone/>
            </a:pPr>
            <a:endParaRPr lang="es-ES" sz="1800" dirty="0"/>
          </a:p>
          <a:p>
            <a:pPr marL="0" indent="0">
              <a:buNone/>
            </a:pPr>
            <a:endParaRPr lang="es-ES" sz="2000" b="1" dirty="0"/>
          </a:p>
          <a:p>
            <a:r>
              <a:rPr lang="es-ES" sz="2000" b="1" dirty="0"/>
              <a:t>Lista de verificación de calidad.</a:t>
            </a:r>
          </a:p>
          <a:p>
            <a:endParaRPr lang="es-ES" sz="2000" b="1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03602"/>
              </p:ext>
            </p:extLst>
          </p:nvPr>
        </p:nvGraphicFramePr>
        <p:xfrm>
          <a:off x="1293935" y="3603869"/>
          <a:ext cx="63553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080">
                  <a:extLst>
                    <a:ext uri="{9D8B030D-6E8A-4147-A177-3AD203B41FA5}">
                      <a16:colId xmlns:a16="http://schemas.microsoft.com/office/drawing/2014/main" xmlns="" val="405249134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1672834868"/>
                    </a:ext>
                  </a:extLst>
                </a:gridCol>
                <a:gridCol w="1310054">
                  <a:extLst>
                    <a:ext uri="{9D8B030D-6E8A-4147-A177-3AD203B41FA5}">
                      <a16:colId xmlns:a16="http://schemas.microsoft.com/office/drawing/2014/main" xmlns="" val="3183166016"/>
                    </a:ext>
                  </a:extLst>
                </a:gridCol>
                <a:gridCol w="2470641">
                  <a:extLst>
                    <a:ext uri="{9D8B030D-6E8A-4147-A177-3AD203B41FA5}">
                      <a16:colId xmlns:a16="http://schemas.microsoft.com/office/drawing/2014/main" xmlns="" val="294859731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Problema</a:t>
                      </a:r>
                      <a:r>
                        <a:rPr lang="es-ES" baseline="0" dirty="0"/>
                        <a:t> detectado</a:t>
                      </a:r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97618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Causas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Frecuencia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% Relativo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% Relativo</a:t>
                      </a:r>
                      <a:r>
                        <a:rPr lang="es-ES" baseline="0" dirty="0"/>
                        <a:t> Acumulado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77933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7744977"/>
                  </a:ext>
                </a:extLst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69433"/>
              </p:ext>
            </p:extLst>
          </p:nvPr>
        </p:nvGraphicFramePr>
        <p:xfrm>
          <a:off x="1293934" y="5299683"/>
          <a:ext cx="635537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075">
                  <a:extLst>
                    <a:ext uri="{9D8B030D-6E8A-4147-A177-3AD203B41FA5}">
                      <a16:colId xmlns:a16="http://schemas.microsoft.com/office/drawing/2014/main" xmlns="" val="720698685"/>
                    </a:ext>
                  </a:extLst>
                </a:gridCol>
                <a:gridCol w="1271075">
                  <a:extLst>
                    <a:ext uri="{9D8B030D-6E8A-4147-A177-3AD203B41FA5}">
                      <a16:colId xmlns:a16="http://schemas.microsoft.com/office/drawing/2014/main" xmlns="" val="1077841788"/>
                    </a:ext>
                  </a:extLst>
                </a:gridCol>
                <a:gridCol w="911762">
                  <a:extLst>
                    <a:ext uri="{9D8B030D-6E8A-4147-A177-3AD203B41FA5}">
                      <a16:colId xmlns:a16="http://schemas.microsoft.com/office/drawing/2014/main" xmlns="" val="2907729460"/>
                    </a:ext>
                  </a:extLst>
                </a:gridCol>
                <a:gridCol w="931985">
                  <a:extLst>
                    <a:ext uri="{9D8B030D-6E8A-4147-A177-3AD203B41FA5}">
                      <a16:colId xmlns:a16="http://schemas.microsoft.com/office/drawing/2014/main" xmlns="" val="3404666095"/>
                    </a:ext>
                  </a:extLst>
                </a:gridCol>
                <a:gridCol w="1969478">
                  <a:extLst>
                    <a:ext uri="{9D8B030D-6E8A-4147-A177-3AD203B41FA5}">
                      <a16:colId xmlns:a16="http://schemas.microsoft.com/office/drawing/2014/main" xmlns="" val="324642693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s-ES" dirty="0"/>
                        <a:t>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Código de 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Frecuencia de inspección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38473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26351818"/>
                  </a:ext>
                </a:extLst>
              </a:tr>
            </a:tbl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38042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Aseguramiento de calidad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69370" cy="4885418"/>
          </a:xfrm>
        </p:spPr>
        <p:txBody>
          <a:bodyPr>
            <a:normAutofit/>
          </a:bodyPr>
          <a:lstStyle/>
          <a:p>
            <a:r>
              <a:rPr lang="es-ES" sz="2000" dirty="0"/>
              <a:t>Implantación de la tecnología LTE Alcalá de Henares, según los requerimientos de calidad establecidos.</a:t>
            </a:r>
          </a:p>
          <a:p>
            <a:r>
              <a:rPr lang="es-ES" sz="2000" dirty="0"/>
              <a:t>No repetir errores cometidos en tareas previas.</a:t>
            </a:r>
          </a:p>
          <a:p>
            <a:r>
              <a:rPr lang="es-ES" sz="2000" dirty="0"/>
              <a:t>Departamento de calidad analizará diariamente cada tarea.</a:t>
            </a:r>
          </a:p>
          <a:p>
            <a:r>
              <a:rPr lang="es-ES" sz="2000" dirty="0"/>
              <a:t>El jefe de calidad elaborará semanalmente listas de verificación.</a:t>
            </a:r>
          </a:p>
        </p:txBody>
      </p:sp>
      <p:pic>
        <p:nvPicPr>
          <p:cNvPr id="4104" name="Picture 8" descr="Resultado de imagen de quality contr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229" y="3963779"/>
            <a:ext cx="2333183" cy="233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161461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Aseguramiento de calidad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12335" cy="4736607"/>
          </a:xfrm>
        </p:spPr>
        <p:txBody>
          <a:bodyPr>
            <a:normAutofit/>
          </a:bodyPr>
          <a:lstStyle/>
          <a:p>
            <a:r>
              <a:rPr lang="es-ES" sz="2000" b="1" dirty="0"/>
              <a:t>Solicitud de cambio.</a:t>
            </a:r>
          </a:p>
          <a:p>
            <a:pPr lvl="1"/>
            <a:r>
              <a:rPr lang="es-ES" sz="1800" dirty="0"/>
              <a:t>Generada por la Project Manager y el equipo de planificación.</a:t>
            </a:r>
          </a:p>
          <a:p>
            <a:pPr lvl="1"/>
            <a:r>
              <a:rPr lang="es-ES" sz="1800" dirty="0"/>
              <a:t>Presentada al patrocinador del proyecto.</a:t>
            </a:r>
          </a:p>
          <a:p>
            <a:pPr lvl="1"/>
            <a:r>
              <a:rPr lang="es-ES" sz="1800" dirty="0"/>
              <a:t>Generada por el cliente.</a:t>
            </a:r>
          </a:p>
          <a:p>
            <a:pPr lvl="2"/>
            <a:r>
              <a:rPr lang="es-ES" sz="1800" dirty="0"/>
              <a:t>Analizada por el patrocinador, la Project Manager y el equipo de planificación.</a:t>
            </a:r>
          </a:p>
          <a:p>
            <a:pPr lvl="2"/>
            <a:r>
              <a:rPr lang="es-ES" sz="1800" dirty="0"/>
              <a:t>Si es viable         se  aplica directamente el cambio.</a:t>
            </a:r>
          </a:p>
          <a:p>
            <a:pPr lvl="2"/>
            <a:r>
              <a:rPr lang="es-ES" sz="1800" dirty="0"/>
              <a:t>Si no lo es           el equipo busca una solución parecida.</a:t>
            </a:r>
          </a:p>
          <a:p>
            <a:pPr lvl="3"/>
            <a:r>
              <a:rPr lang="es-ES" sz="1600" dirty="0"/>
              <a:t>Se genera nuevo informe y se presenta al patrocinador y al cliente.</a:t>
            </a:r>
          </a:p>
          <a:p>
            <a:pPr lvl="3"/>
            <a:endParaRPr lang="es-ES" sz="1600" dirty="0"/>
          </a:p>
          <a:p>
            <a:endParaRPr lang="es-ES" sz="2000" b="1" dirty="0"/>
          </a:p>
        </p:txBody>
      </p:sp>
      <p:sp>
        <p:nvSpPr>
          <p:cNvPr id="6" name="Flecha: a la derecha 5"/>
          <p:cNvSpPr/>
          <p:nvPr/>
        </p:nvSpPr>
        <p:spPr>
          <a:xfrm>
            <a:off x="3109545" y="4185137"/>
            <a:ext cx="342900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/>
          <p:cNvSpPr/>
          <p:nvPr/>
        </p:nvSpPr>
        <p:spPr>
          <a:xfrm>
            <a:off x="3111009" y="4571497"/>
            <a:ext cx="342900" cy="246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30239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7" y="609600"/>
            <a:ext cx="6935339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Proceso de control de calidad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69370" cy="488541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b="1" dirty="0"/>
              <a:t>Miembros del departamento de calidad </a:t>
            </a:r>
            <a:r>
              <a:rPr lang="es-ES" sz="2400" dirty="0"/>
              <a:t>monitorizan cada día las actividades en ejecución y elabora informes internos.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b="1" dirty="0"/>
              <a:t>Jefe del departamento de calidad </a:t>
            </a:r>
            <a:r>
              <a:rPr lang="es-ES" sz="2400" dirty="0"/>
              <a:t>elaborará semanalmente un diagrama de Pareto y la lista de verificación.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b="1" dirty="0"/>
              <a:t>Project Manager </a:t>
            </a:r>
            <a:r>
              <a:rPr lang="es-ES" sz="2400" dirty="0"/>
              <a:t>analiza los entregables.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s-ES" sz="2000" dirty="0"/>
              <a:t>Determina que no hay incumplimiento de calidad o problemas severos.</a:t>
            </a:r>
          </a:p>
          <a:p>
            <a:pPr marL="857250" lvl="1" indent="-457200">
              <a:buFont typeface="+mj-lt"/>
              <a:buAutoNum type="arabicPeriod"/>
            </a:pPr>
            <a:r>
              <a:rPr lang="es-ES" sz="2000" dirty="0"/>
              <a:t>Identifica una tarea que debe ser modificada.</a:t>
            </a:r>
          </a:p>
          <a:p>
            <a:pPr marL="1257300" lvl="2" indent="-457200">
              <a:buFont typeface="+mj-lt"/>
              <a:buAutoNum type="arabicPeriod"/>
            </a:pPr>
            <a:r>
              <a:rPr lang="es-ES" sz="1800" dirty="0"/>
              <a:t>Convoca una reunión con el equipo de planificación.</a:t>
            </a:r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11918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7" y="609600"/>
            <a:ext cx="6935339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Proceso de control de calidad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69370" cy="488541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s-ES" sz="2400" dirty="0"/>
              <a:t>Si se ha llevado acabo una reunión sobre una posible modificación, se extrae de ella una solicitud de cambio.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ES" sz="2400" dirty="0"/>
              <a:t>La Project Manager presenta dicha solicitud al </a:t>
            </a:r>
            <a:r>
              <a:rPr lang="es-ES" sz="2400" b="1" dirty="0"/>
              <a:t>patrocinador del proyecto</a:t>
            </a:r>
            <a:r>
              <a:rPr lang="es-ES" sz="2400" dirty="0"/>
              <a:t>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ES" sz="2400" dirty="0"/>
              <a:t>El patrocinador analiza la solicitud y determina camino a seguir.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ES" sz="2400" dirty="0"/>
              <a:t>Se le informa al cliente de los cambios efectuados.</a:t>
            </a:r>
          </a:p>
          <a:p>
            <a:pPr marL="0" indent="0">
              <a:buNone/>
            </a:pPr>
            <a:endParaRPr lang="es-ES" sz="20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1542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/>
              <a:t>Organigrama</a:t>
            </a:r>
          </a:p>
          <a:p>
            <a:pPr lvl="1"/>
            <a:r>
              <a:rPr lang="es-ES" sz="2000" dirty="0"/>
              <a:t>Estructura jerárquica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4" name="Imagen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2" y="3112107"/>
            <a:ext cx="7856580" cy="2843420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alpha val="40000"/>
              </a:schemeClr>
            </a:outerShdw>
          </a:effectLst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23799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160590"/>
            <a:ext cx="7723368" cy="3880773"/>
          </a:xfrm>
        </p:spPr>
        <p:txBody>
          <a:bodyPr/>
          <a:lstStyle/>
          <a:p>
            <a:r>
              <a:rPr lang="es-ES" sz="2400" dirty="0"/>
              <a:t>Roles y responsabilidad</a:t>
            </a:r>
          </a:p>
          <a:p>
            <a:pPr lvl="1"/>
            <a:r>
              <a:rPr lang="es-ES" sz="2200" dirty="0"/>
              <a:t>11 trabajadores directos + empresa subcontratada</a:t>
            </a:r>
          </a:p>
          <a:p>
            <a:pPr lvl="1"/>
            <a:r>
              <a:rPr lang="es-ES" sz="2200" dirty="0"/>
              <a:t>Roles perfectamente definidos</a:t>
            </a:r>
          </a:p>
          <a:p>
            <a:pPr lvl="2"/>
            <a:r>
              <a:rPr lang="es-ES" sz="1800" dirty="0"/>
              <a:t>Por ejemplo:</a:t>
            </a:r>
          </a:p>
          <a:p>
            <a:pPr lvl="3"/>
            <a:r>
              <a:rPr lang="es-ES" sz="1600" dirty="0"/>
              <a:t>Ingeniero de Telecomunicaciones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920512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160590"/>
            <a:ext cx="8383326" cy="3880773"/>
          </a:xfrm>
        </p:spPr>
        <p:txBody>
          <a:bodyPr/>
          <a:lstStyle/>
          <a:p>
            <a:r>
              <a:rPr lang="es-ES" sz="2400" dirty="0"/>
              <a:t>Roles y responsabilidad</a:t>
            </a:r>
          </a:p>
          <a:p>
            <a:pPr lvl="1"/>
            <a:r>
              <a:rPr lang="es-ES" sz="2200" dirty="0"/>
              <a:t>11 trabajadores directos + empresa subcontratada</a:t>
            </a:r>
          </a:p>
          <a:p>
            <a:pPr lvl="1"/>
            <a:r>
              <a:rPr lang="es-ES" sz="2200" dirty="0"/>
              <a:t>Roles perfectamente definidos</a:t>
            </a:r>
          </a:p>
          <a:p>
            <a:pPr lvl="2"/>
            <a:r>
              <a:rPr lang="es-ES" sz="1800" dirty="0"/>
              <a:t>Por ejemplo:</a:t>
            </a:r>
          </a:p>
          <a:p>
            <a:pPr lvl="3"/>
            <a:r>
              <a:rPr lang="es-ES" sz="1600" dirty="0"/>
              <a:t>Ingeniero de Telecomunicaciones</a:t>
            </a:r>
          </a:p>
        </p:txBody>
      </p:sp>
      <p:pic>
        <p:nvPicPr>
          <p:cNvPr id="7" name="Marcador de contenido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515" y="323837"/>
            <a:ext cx="4534410" cy="6391978"/>
          </a:xfrm>
          <a:prstGeom prst="rect">
            <a:avLst/>
          </a:prstGeom>
        </p:spPr>
      </p:pic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15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540" y="106904"/>
            <a:ext cx="7222436" cy="1076077"/>
          </a:xfrm>
        </p:spPr>
        <p:txBody>
          <a:bodyPr>
            <a:normAutofit fontScale="90000"/>
          </a:bodyPr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38540" y="1246062"/>
            <a:ext cx="6347714" cy="3880773"/>
          </a:xfrm>
        </p:spPr>
        <p:txBody>
          <a:bodyPr/>
          <a:lstStyle/>
          <a:p>
            <a:r>
              <a:rPr lang="es-ES" sz="2000" dirty="0"/>
              <a:t>Matriz de responsabilidades</a:t>
            </a: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1" y="1595075"/>
            <a:ext cx="8694463" cy="5262925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42573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Calendario de recursos</a:t>
            </a:r>
          </a:p>
          <a:p>
            <a:pPr lvl="1"/>
            <a:r>
              <a:rPr lang="es-ES" sz="1800" dirty="0"/>
              <a:t>Jornada laboral de 08:30 a 17:30</a:t>
            </a:r>
          </a:p>
          <a:p>
            <a:pPr lvl="2"/>
            <a:r>
              <a:rPr lang="es-ES" sz="1600" dirty="0"/>
              <a:t>Una hora de descanso para la comida 13:30 a 14:30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r>
              <a:rPr lang="en-US" dirty="0"/>
              <a:t>/17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6" y="4108596"/>
            <a:ext cx="8749578" cy="160640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6119"/>
            <a:ext cx="17382319" cy="31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97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0.45521 0.0004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6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5760" y="304800"/>
            <a:ext cx="6347713" cy="1320800"/>
          </a:xfrm>
        </p:spPr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r>
              <a:rPr lang="en-US" dirty="0"/>
              <a:t>/17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365759" y="1566230"/>
            <a:ext cx="6347714" cy="3880773"/>
          </a:xfrm>
        </p:spPr>
        <p:txBody>
          <a:bodyPr/>
          <a:lstStyle/>
          <a:p>
            <a:r>
              <a:rPr lang="es-ES" dirty="0"/>
              <a:t>Calendario de recursos</a:t>
            </a:r>
          </a:p>
          <a:p>
            <a:pPr lvl="1"/>
            <a:r>
              <a:rPr lang="es-ES" dirty="0"/>
              <a:t>Project Manager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3393099"/>
            <a:ext cx="8001000" cy="200025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83" y="2387617"/>
            <a:ext cx="16044856" cy="401121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97655"/>
            <a:ext cx="9147686" cy="413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1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007 0.00162 L 0.41007 0.0016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51505" y="1930401"/>
            <a:ext cx="7270144" cy="4645328"/>
          </a:xfrm>
        </p:spPr>
        <p:txBody>
          <a:bodyPr>
            <a:normAutofit/>
          </a:bodyPr>
          <a:lstStyle/>
          <a:p>
            <a:r>
              <a:rPr lang="es-ES" sz="2000" dirty="0"/>
              <a:t>Necesidades de captación</a:t>
            </a:r>
          </a:p>
          <a:p>
            <a:pPr lvl="1"/>
            <a:r>
              <a:rPr lang="es-ES" sz="1800" dirty="0"/>
              <a:t>Compromiso con la formación de jóvenes</a:t>
            </a:r>
          </a:p>
          <a:p>
            <a:pPr lvl="1"/>
            <a:r>
              <a:rPr lang="es-ES" sz="1800" dirty="0"/>
              <a:t>Proyecto corta duración</a:t>
            </a:r>
          </a:p>
          <a:p>
            <a:pPr lvl="2"/>
            <a:r>
              <a:rPr lang="es-ES" sz="1600" dirty="0"/>
              <a:t>Formación máxima del 10% de la duración de la tarea a la que se le asignará.</a:t>
            </a:r>
          </a:p>
          <a:p>
            <a:pPr lvl="2"/>
            <a:endParaRPr lang="es-ES" dirty="0"/>
          </a:p>
          <a:p>
            <a:r>
              <a:rPr lang="es-ES" sz="2000" dirty="0"/>
              <a:t>Reconocimientos y recompensas</a:t>
            </a:r>
          </a:p>
          <a:p>
            <a:pPr lvl="1"/>
            <a:r>
              <a:rPr lang="es-ES" sz="1800" dirty="0"/>
              <a:t>Política de incentivos</a:t>
            </a:r>
          </a:p>
          <a:p>
            <a:pPr lvl="2"/>
            <a:r>
              <a:rPr lang="es-ES" sz="1600" dirty="0"/>
              <a:t>Alimentación</a:t>
            </a:r>
          </a:p>
          <a:p>
            <a:pPr lvl="2"/>
            <a:r>
              <a:rPr lang="es-ES" sz="1600" dirty="0"/>
              <a:t>Club Ahorro</a:t>
            </a:r>
          </a:p>
          <a:p>
            <a:pPr lvl="2"/>
            <a:r>
              <a:rPr lang="es-ES" sz="1600" dirty="0"/>
              <a:t>Transporte público</a:t>
            </a:r>
          </a:p>
          <a:p>
            <a:pPr lvl="1"/>
            <a:endParaRPr lang="es-ES" dirty="0"/>
          </a:p>
        </p:txBody>
      </p:sp>
      <p:pic>
        <p:nvPicPr>
          <p:cNvPr id="1028" name="Picture 4" descr="Resultado de imagen de recompens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402" y="4467688"/>
            <a:ext cx="1773910" cy="197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30303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PARA LA GESTIÓN DE LOS RECURSOS HUMANOS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/>
              <a:t>Cumplimiento y seguridad</a:t>
            </a:r>
          </a:p>
          <a:p>
            <a:pPr lvl="1"/>
            <a:endParaRPr lang="es-ES" dirty="0"/>
          </a:p>
          <a:p>
            <a:pPr lvl="1"/>
            <a:r>
              <a:rPr lang="es-ES" sz="2000" dirty="0"/>
              <a:t>Convenio colectivo</a:t>
            </a:r>
          </a:p>
          <a:p>
            <a:pPr lvl="2"/>
            <a:r>
              <a:rPr lang="es-ES" sz="1800" dirty="0"/>
              <a:t>Suscrito en 2015</a:t>
            </a:r>
          </a:p>
          <a:p>
            <a:pPr lvl="2"/>
            <a:endParaRPr lang="es-ES" dirty="0"/>
          </a:p>
          <a:p>
            <a:pPr lvl="1"/>
            <a:r>
              <a:rPr lang="es-ES" sz="2000" dirty="0"/>
              <a:t>Seguro médico privado</a:t>
            </a:r>
          </a:p>
          <a:p>
            <a:pPr lvl="2"/>
            <a:r>
              <a:rPr lang="es-ES" sz="1800" dirty="0"/>
              <a:t>Para todos los empleados de </a:t>
            </a:r>
            <a:r>
              <a:rPr lang="es-ES" sz="1800" dirty="0" err="1"/>
              <a:t>Donatel</a:t>
            </a:r>
            <a:endParaRPr lang="es-ES" sz="1800" dirty="0"/>
          </a:p>
        </p:txBody>
      </p:sp>
      <p:pic>
        <p:nvPicPr>
          <p:cNvPr id="3074" name="Picture 2" descr="Resultado de imagen de convenio colectiv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253" y="2690852"/>
            <a:ext cx="3268856" cy="132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de seguro medi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495" y="5161722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44790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ADQUISICIÓN DEL EQUIPO DE TRABAJO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160590"/>
            <a:ext cx="7699514" cy="4697410"/>
          </a:xfrm>
        </p:spPr>
        <p:txBody>
          <a:bodyPr/>
          <a:lstStyle/>
          <a:p>
            <a:r>
              <a:rPr lang="es-ES" sz="2400" dirty="0"/>
              <a:t>Asignación de personal al proyecto</a:t>
            </a:r>
          </a:p>
          <a:p>
            <a:pPr lvl="1"/>
            <a:r>
              <a:rPr lang="es-ES" sz="2000" dirty="0"/>
              <a:t>CEO </a:t>
            </a:r>
            <a:r>
              <a:rPr lang="es-ES" sz="2000" dirty="0">
                <a:sym typeface="Wingdings" panose="05000000000000000000" pitchFamily="2" charset="2"/>
              </a:rPr>
              <a:t> Elige al Project Manager</a:t>
            </a:r>
          </a:p>
          <a:p>
            <a:pPr lvl="1"/>
            <a:r>
              <a:rPr lang="es-ES" sz="2000" dirty="0">
                <a:sym typeface="Wingdings" panose="05000000000000000000" pitchFamily="2" charset="2"/>
              </a:rPr>
              <a:t>Project Manager  Elige a Responsables del equipo</a:t>
            </a:r>
          </a:p>
          <a:p>
            <a:pPr lvl="1"/>
            <a:r>
              <a:rPr lang="es-ES" sz="2000" dirty="0">
                <a:sym typeface="Wingdings" panose="05000000000000000000" pitchFamily="2" charset="2"/>
              </a:rPr>
              <a:t>Project Manager y gestor de RRHH  eligen a  Becarios</a:t>
            </a:r>
          </a:p>
          <a:p>
            <a:pPr lvl="1"/>
            <a:endParaRPr lang="es-ES" dirty="0">
              <a:sym typeface="Wingdings" panose="05000000000000000000" pitchFamily="2" charset="2"/>
            </a:endParaRPr>
          </a:p>
          <a:p>
            <a:pPr lvl="2"/>
            <a:r>
              <a:rPr lang="es-ES" sz="1800" dirty="0">
                <a:sym typeface="Wingdings" panose="05000000000000000000" pitchFamily="2" charset="2"/>
              </a:rPr>
              <a:t>Opciones para la contratación de becarios</a:t>
            </a:r>
          </a:p>
          <a:p>
            <a:pPr lvl="3"/>
            <a:r>
              <a:rPr lang="es-ES" sz="1600" dirty="0">
                <a:sym typeface="Wingdings" panose="05000000000000000000" pitchFamily="2" charset="2"/>
              </a:rPr>
              <a:t>De la plantilla de </a:t>
            </a:r>
            <a:r>
              <a:rPr lang="es-ES" sz="1600" dirty="0" err="1">
                <a:sym typeface="Wingdings" panose="05000000000000000000" pitchFamily="2" charset="2"/>
              </a:rPr>
              <a:t>Donatel</a:t>
            </a:r>
            <a:r>
              <a:rPr lang="es-ES" sz="1600" dirty="0">
                <a:sym typeface="Wingdings" panose="05000000000000000000" pitchFamily="2" charset="2"/>
              </a:rPr>
              <a:t> (Proyectos previos)</a:t>
            </a:r>
          </a:p>
          <a:p>
            <a:pPr lvl="3"/>
            <a:r>
              <a:rPr lang="es-ES" sz="1600" dirty="0">
                <a:sym typeface="Wingdings" panose="05000000000000000000" pitchFamily="2" charset="2"/>
              </a:rPr>
              <a:t>A contratar</a:t>
            </a:r>
          </a:p>
          <a:p>
            <a:pPr lvl="4"/>
            <a:r>
              <a:rPr lang="es-ES" sz="1600" dirty="0">
                <a:sym typeface="Wingdings" panose="05000000000000000000" pitchFamily="2" charset="2"/>
              </a:rPr>
              <a:t>Un mes antes de la adjudicación</a:t>
            </a:r>
          </a:p>
          <a:p>
            <a:pPr lvl="1"/>
            <a:endParaRPr lang="es-ES" dirty="0"/>
          </a:p>
        </p:txBody>
      </p:sp>
      <p:pic>
        <p:nvPicPr>
          <p:cNvPr id="2052" name="Picture 4" descr="Resultado de imagen de trabajadores elecc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520" y="1234006"/>
            <a:ext cx="2347346" cy="185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r>
              <a:rPr lang="en-US"/>
              <a:t>/17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435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1220</TotalTime>
  <Words>685</Words>
  <Application>Microsoft Office PowerPoint</Application>
  <PresentationFormat>Presentación en pantalla (4:3)</PresentationFormat>
  <Paragraphs>137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Faceta</vt:lpstr>
      <vt:lpstr>DONATEL</vt:lpstr>
      <vt:lpstr>Índice</vt:lpstr>
      <vt:lpstr>Planificar gestión de calidad</vt:lpstr>
      <vt:lpstr>Planificar gestión de calidad</vt:lpstr>
      <vt:lpstr>Aseguramiento de calidad</vt:lpstr>
      <vt:lpstr>Aseguramiento de calidad</vt:lpstr>
      <vt:lpstr>Proceso de control de calidad</vt:lpstr>
      <vt:lpstr>Proceso de control de calidad</vt:lpstr>
      <vt:lpstr>PLAN PARA LA GESTIÓN DE LOS RECURSOS HUMANOS</vt:lpstr>
      <vt:lpstr>PLAN PARA LA GESTIÓN DE LOS RECURSOS HUMANOS</vt:lpstr>
      <vt:lpstr>PLAN PARA LA GESTIÓN DE LOS RECURSOS HUMANOS</vt:lpstr>
      <vt:lpstr>PLAN PARA LA GESTIÓN DE LOS RECURSOS HUMANOS</vt:lpstr>
      <vt:lpstr>PLAN PARA LA GESTIÓN DE LOS RECURSOS HUMANOS</vt:lpstr>
      <vt:lpstr>PLAN PARA LA GESTIÓN DE LOS RECURSOS HUMANOS</vt:lpstr>
      <vt:lpstr>PLAN PARA LA GESTIÓN DE LOS RECURSOS HUMANOS</vt:lpstr>
      <vt:lpstr>PLAN PARA LA GESTIÓN DE LOS RECURSOS HUMANOS</vt:lpstr>
      <vt:lpstr>ADQUISICIÓN DEL EQUIPO DE TRABAJO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Carlos Herranz Perdiguero</cp:lastModifiedBy>
  <cp:revision>118</cp:revision>
  <dcterms:created xsi:type="dcterms:W3CDTF">2016-05-09T08:14:16Z</dcterms:created>
  <dcterms:modified xsi:type="dcterms:W3CDTF">2016-11-18T13:35:12Z</dcterms:modified>
</cp:coreProperties>
</file>