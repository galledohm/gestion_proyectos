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8" r:id="rId1"/>
  </p:sldMasterIdLst>
  <p:notesMasterIdLst>
    <p:notesMasterId r:id="rId24"/>
  </p:notesMasterIdLst>
  <p:sldIdLst>
    <p:sldId id="256" r:id="rId2"/>
    <p:sldId id="311" r:id="rId3"/>
    <p:sldId id="312" r:id="rId4"/>
    <p:sldId id="313" r:id="rId5"/>
    <p:sldId id="314" r:id="rId6"/>
    <p:sldId id="315" r:id="rId7"/>
    <p:sldId id="316" r:id="rId8"/>
    <p:sldId id="317" r:id="rId9"/>
    <p:sldId id="318" r:id="rId10"/>
    <p:sldId id="319" r:id="rId11"/>
    <p:sldId id="331" r:id="rId12"/>
    <p:sldId id="320" r:id="rId13"/>
    <p:sldId id="321" r:id="rId14"/>
    <p:sldId id="322" r:id="rId15"/>
    <p:sldId id="323" r:id="rId16"/>
    <p:sldId id="324" r:id="rId17"/>
    <p:sldId id="325" r:id="rId18"/>
    <p:sldId id="326" r:id="rId19"/>
    <p:sldId id="327" r:id="rId20"/>
    <p:sldId id="328" r:id="rId21"/>
    <p:sldId id="329" r:id="rId22"/>
    <p:sldId id="330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6D9F66E-5EB9-4882-86FB-DCBF35E3C3E4}" styleName="Estilo medio 4 - Énfasis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8A107856-5554-42FB-B03E-39F5DBC370BA}" styleName="Estilo medio 4 - Énfasis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69CF1AB2-1976-4502-BF36-3FF5EA218861}" styleName="Estilo medio 4 - Énfasis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1350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CD6059-4A3D-40C8-A276-C5FAB0044591}" type="datetimeFigureOut">
              <a:rPr lang="es-ES" smtClean="0"/>
              <a:t>25/11/2016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54970C-BD0D-4214-B863-70E1406ED9C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218990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54970C-BD0D-4214-B863-70E1406ED9C9}" type="slidenum">
              <a:rPr lang="es-ES" smtClean="0"/>
              <a:t>16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18520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54970C-BD0D-4214-B863-70E1406ED9C9}" type="slidenum">
              <a:rPr lang="es-ES" smtClean="0"/>
              <a:t>19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253425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DD033-17FF-4D72-B5E1-0B78DC7E067F}" type="datetime1">
              <a:rPr lang="en-US" smtClean="0"/>
              <a:t>11/25/2016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61762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AF4A2-AF83-45E3-837F-CE10FDB31EA9}" type="datetime1">
              <a:rPr lang="en-US" smtClean="0"/>
              <a:t>11/25/2016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61429" y="82973"/>
            <a:ext cx="1275605" cy="1053253"/>
          </a:xfrm>
        </p:spPr>
        <p:txBody>
          <a:bodyPr/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4974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43A194-483E-461E-80FE-2BD549B4ADD9}" type="datetime1">
              <a:rPr lang="en-US" smtClean="0"/>
              <a:t>11/25/2016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32168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15865-A7D6-4D1F-B7E2-5AB84E697CA3}" type="datetime1">
              <a:rPr lang="en-US" smtClean="0"/>
              <a:t>11/25/2016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02344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534FA6-1710-4793-8298-BC773B7C19D8}" type="datetime1">
              <a:rPr lang="en-US" smtClean="0"/>
              <a:t>11/25/2016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27754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E7A0F-E4A7-49C3-8DF8-F870F48B66D5}" type="datetime1">
              <a:rPr lang="en-US" smtClean="0"/>
              <a:t>11/25/2016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52168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D2DCC-8247-444F-A0D2-269D55B5B78D}" type="datetime1">
              <a:rPr lang="en-US" smtClean="0"/>
              <a:t>11/25/2016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810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28A2C4-F673-45C9-8A82-33B2BE14BB49}" type="datetime1">
              <a:rPr lang="en-US" smtClean="0"/>
              <a:t>11/25/2016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99880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097388-34A9-4BC8-9F1A-6D3B6A91C74B}" type="datetime1">
              <a:rPr lang="en-US" smtClean="0"/>
              <a:t>11/25/2016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16769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1B2EB3-096F-4F6C-A434-D4E89F80B3D3}" type="datetime1">
              <a:rPr lang="en-US" smtClean="0"/>
              <a:t>11/25/2016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53544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B94D5F-73BB-4DF4-94BE-15A2531527F2}" type="datetime1">
              <a:rPr lang="en-US" smtClean="0"/>
              <a:t>11/25/2016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880224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A8D01-162F-4DA4-8163-23A7103FD15B}" type="datetime1">
              <a:rPr lang="en-US" smtClean="0"/>
              <a:t>11/25/2016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35293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2461F-2FEE-4FBB-8225-9F8CF47A24E7}" type="datetime1">
              <a:rPr lang="en-US" smtClean="0"/>
              <a:t>11/25/2016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0251305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F92EC-632C-486F-8219-7725ADDB52E3}" type="datetime1">
              <a:rPr lang="en-US" smtClean="0"/>
              <a:t>11/25/2016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979660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0F3AD-8D33-45B5-8280-BA35536183F5}" type="datetime1">
              <a:rPr lang="en-US" smtClean="0"/>
              <a:t>11/25/2016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986967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7094A-8B27-4644-A22D-DF4DE3B34A89}" type="datetime1">
              <a:rPr lang="en-US" smtClean="0"/>
              <a:t>11/25/2016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36874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18828D-489C-4B6D-8126-FEC974B37A96}" type="datetime1">
              <a:rPr lang="en-US" smtClean="0"/>
              <a:t>11/25/2016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486572" y="5237825"/>
            <a:ext cx="1470740" cy="115545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66490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1" r:id="rId3"/>
    <p:sldLayoutId id="2147483672" r:id="rId4"/>
    <p:sldLayoutId id="2147483673" r:id="rId5"/>
    <p:sldLayoutId id="2147483674" r:id="rId6"/>
    <p:sldLayoutId id="2147483675" r:id="rId7"/>
    <p:sldLayoutId id="2147483676" r:id="rId8"/>
    <p:sldLayoutId id="2147483677" r:id="rId9"/>
    <p:sldLayoutId id="2147483678" r:id="rId10"/>
    <p:sldLayoutId id="2147483679" r:id="rId11"/>
    <p:sldLayoutId id="2147483680" r:id="rId12"/>
    <p:sldLayoutId id="2147483681" r:id="rId13"/>
    <p:sldLayoutId id="2147483682" r:id="rId14"/>
    <p:sldLayoutId id="2147483683" r:id="rId15"/>
    <p:sldLayoutId id="2147483684" r:id="rId16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sz="8000" dirty="0"/>
              <a:t>DONATEL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ES" i="1" u="sng" dirty="0"/>
              <a:t>Proyecto de Despliegue de Infraestructura de Estaciones Base 3G/LTE en Alcalá de Henares.</a:t>
            </a:r>
            <a:endParaRPr lang="es-ES" dirty="0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3599" y="527907"/>
            <a:ext cx="3303715" cy="2160121"/>
          </a:xfrm>
          <a:prstGeom prst="rect">
            <a:avLst/>
          </a:prstGeom>
        </p:spPr>
      </p:pic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61795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45988" y="2422983"/>
            <a:ext cx="6347714" cy="388077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sz="4000" dirty="0">
                <a:latin typeface="Berlin Sans FB" panose="020E0602020502020306" pitchFamily="34" charset="0"/>
              </a:rPr>
              <a:t>GESTIÓN DE LAS COMUNICACIONES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</a:t>
            </a:fld>
            <a:r>
              <a:rPr lang="en-US" dirty="0"/>
              <a:t>/22</a:t>
            </a:r>
          </a:p>
        </p:txBody>
      </p:sp>
    </p:spTree>
    <p:extLst>
      <p:ext uri="{BB962C8B-B14F-4D97-AF65-F5344CB8AC3E}">
        <p14:creationId xmlns:p14="http://schemas.microsoft.com/office/powerpoint/2010/main" val="29850453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35888" y="762197"/>
            <a:ext cx="7492780" cy="1231459"/>
          </a:xfrm>
        </p:spPr>
        <p:txBody>
          <a:bodyPr>
            <a:normAutofit/>
          </a:bodyPr>
          <a:lstStyle/>
          <a:p>
            <a:r>
              <a:rPr lang="es-ES" dirty="0"/>
              <a:t>PLANIFICAR LAS COMUNICACIONES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sz="2000" dirty="0"/>
              <a:t>Determinar ¿Qué? ¿Quién? ¿Cómo? ¿Cuándo?</a:t>
            </a:r>
          </a:p>
          <a:p>
            <a:endParaRPr lang="es-ES" sz="2000" dirty="0"/>
          </a:p>
          <a:p>
            <a:endParaRPr lang="es-ES" sz="2000" dirty="0"/>
          </a:p>
          <a:p>
            <a:endParaRPr lang="es-ES" sz="2000" dirty="0"/>
          </a:p>
          <a:p>
            <a:endParaRPr lang="es-ES" sz="2000" dirty="0"/>
          </a:p>
          <a:p>
            <a:endParaRPr lang="es-ES" sz="2000" dirty="0"/>
          </a:p>
          <a:p>
            <a:r>
              <a:rPr lang="es-ES" sz="2000" dirty="0"/>
              <a:t>Plan para la gestión de las comunicaciones</a:t>
            </a:r>
          </a:p>
          <a:p>
            <a:pPr lvl="1"/>
            <a:r>
              <a:rPr lang="es-ES" sz="1800" dirty="0"/>
              <a:t>Comunicaciones con interesados externos</a:t>
            </a:r>
          </a:p>
          <a:p>
            <a:pPr lvl="1"/>
            <a:r>
              <a:rPr lang="es-ES" sz="1800" dirty="0"/>
              <a:t>Comunicaciones internas al equipo de trabajo</a:t>
            </a:r>
          </a:p>
          <a:p>
            <a:endParaRPr lang="es-ES" dirty="0"/>
          </a:p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</a:t>
            </a:fld>
            <a:r>
              <a:rPr lang="en-US" dirty="0"/>
              <a:t>/22</a:t>
            </a:r>
          </a:p>
        </p:txBody>
      </p:sp>
      <p:pic>
        <p:nvPicPr>
          <p:cNvPr id="1026" name="Picture 2" descr="Resultado de imagen de COMMUNICATION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8085" y="2865423"/>
            <a:ext cx="2286000" cy="1638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Marcador de contenido 2"/>
          <p:cNvSpPr txBox="1">
            <a:spLocks/>
          </p:cNvSpPr>
          <p:nvPr/>
        </p:nvSpPr>
        <p:spPr>
          <a:xfrm>
            <a:off x="4969565" y="4023361"/>
            <a:ext cx="3824579" cy="15346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ES" dirty="0"/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451411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599" y="303113"/>
            <a:ext cx="6729455" cy="1320800"/>
          </a:xfrm>
        </p:spPr>
        <p:txBody>
          <a:bodyPr>
            <a:normAutofit/>
          </a:bodyPr>
          <a:lstStyle/>
          <a:p>
            <a:r>
              <a:rPr lang="es-ES" dirty="0"/>
              <a:t>PLAN PARA LA GESTIÓN DE LAS COMUNICACIONES (EXTERNAS)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609599" y="1834587"/>
            <a:ext cx="6347714" cy="3880773"/>
          </a:xfrm>
        </p:spPr>
        <p:txBody>
          <a:bodyPr/>
          <a:lstStyle/>
          <a:p>
            <a:r>
              <a:rPr lang="es-ES" sz="2000" dirty="0"/>
              <a:t>Cliente</a:t>
            </a:r>
          </a:p>
          <a:p>
            <a:pPr lvl="1"/>
            <a:r>
              <a:rPr lang="es-ES" sz="1800" dirty="0"/>
              <a:t>Informes quincenales</a:t>
            </a:r>
          </a:p>
          <a:p>
            <a:pPr lvl="1"/>
            <a:r>
              <a:rPr lang="es-ES" sz="1800" dirty="0"/>
              <a:t>Posibilidad de reuniones cada quince días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</a:t>
            </a:fld>
            <a:r>
              <a:rPr lang="en-US" dirty="0"/>
              <a:t>/22</a:t>
            </a:r>
          </a:p>
        </p:txBody>
      </p:sp>
      <p:graphicFrame>
        <p:nvGraphicFramePr>
          <p:cNvPr id="6" name="Tabla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6330040"/>
              </p:ext>
            </p:extLst>
          </p:nvPr>
        </p:nvGraphicFramePr>
        <p:xfrm>
          <a:off x="427436" y="3204377"/>
          <a:ext cx="7871795" cy="20514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43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743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743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743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7435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80546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6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Responsable</a:t>
                      </a:r>
                      <a:endParaRPr lang="es-E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6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Audiencia</a:t>
                      </a:r>
                      <a:endParaRPr lang="es-E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6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Información a tratar</a:t>
                      </a:r>
                      <a:endParaRPr lang="es-E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6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Método</a:t>
                      </a:r>
                      <a:endParaRPr lang="es-E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6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Frecuencia</a:t>
                      </a:r>
                      <a:endParaRPr lang="es-E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7082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Encargado de Comunicaciones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Cliente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Tareas finalizadas y tareas en ejecución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e-mail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Quincenal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0069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Project Manager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Cliente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Avance del Proyecto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Reunión presencial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Quincenal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213369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952091" cy="1320800"/>
          </a:xfrm>
        </p:spPr>
        <p:txBody>
          <a:bodyPr>
            <a:normAutofit/>
          </a:bodyPr>
          <a:lstStyle/>
          <a:p>
            <a:r>
              <a:rPr lang="es-ES" dirty="0"/>
              <a:t>PLAN PARA LA GESTIÓN DE LAS COMUNICACIONES (EXTERNAS)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sz="2000" dirty="0"/>
              <a:t>Empresa subcontratada</a:t>
            </a:r>
          </a:p>
          <a:p>
            <a:pPr lvl="1"/>
            <a:r>
              <a:rPr lang="es-ES" sz="1800" dirty="0"/>
              <a:t>Reuniones Semanales</a:t>
            </a:r>
          </a:p>
          <a:p>
            <a:pPr lvl="1"/>
            <a:r>
              <a:rPr lang="es-ES" sz="1800" dirty="0"/>
              <a:t>Informes a la conclusión de cada hito</a:t>
            </a:r>
          </a:p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</a:t>
            </a:fld>
            <a:r>
              <a:rPr lang="en-US" dirty="0"/>
              <a:t>/22</a:t>
            </a:r>
          </a:p>
        </p:txBody>
      </p:sp>
      <p:graphicFrame>
        <p:nvGraphicFramePr>
          <p:cNvPr id="5" name="Tabla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2682003"/>
              </p:ext>
            </p:extLst>
          </p:nvPr>
        </p:nvGraphicFramePr>
        <p:xfrm>
          <a:off x="520206" y="3578088"/>
          <a:ext cx="7779025" cy="22476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58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58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58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58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5580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82076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6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Responsable</a:t>
                      </a:r>
                      <a:endParaRPr lang="es-E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6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Audiencia</a:t>
                      </a:r>
                      <a:endParaRPr lang="es-E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6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Información a tratar</a:t>
                      </a:r>
                      <a:endParaRPr lang="es-E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6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Método</a:t>
                      </a:r>
                      <a:endParaRPr lang="es-E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6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Frecuencia</a:t>
                      </a:r>
                      <a:endParaRPr lang="es-E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184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Ingeniero de Tel.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Empresa Subcontratada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Avance del diseño de la red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Reunión presencial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Semanal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184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Ingeniero de Tel.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Empresa subcontratada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Finalización</a:t>
                      </a:r>
                      <a:r>
                        <a:rPr lang="es-ES" sz="16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de un entregable</a:t>
                      </a:r>
                      <a:endParaRPr lang="es-E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Informes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Al finalizar cada hito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184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Project Manager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Empresa subcontratada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Cierre del Diseño de la red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Reunión presencial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Al finalizar el diseño de la red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568342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53940" y="354760"/>
            <a:ext cx="6737406" cy="1320800"/>
          </a:xfrm>
        </p:spPr>
        <p:txBody>
          <a:bodyPr>
            <a:normAutofit/>
          </a:bodyPr>
          <a:lstStyle/>
          <a:p>
            <a:r>
              <a:rPr lang="es-ES" dirty="0"/>
              <a:t>PLAN PARA LA GESTIÓN DE LAS COMUNICACIONES (EXTERNAS)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625502" y="1603998"/>
            <a:ext cx="6347714" cy="3880773"/>
          </a:xfrm>
        </p:spPr>
        <p:txBody>
          <a:bodyPr>
            <a:normAutofit/>
          </a:bodyPr>
          <a:lstStyle/>
          <a:p>
            <a:r>
              <a:rPr lang="es-ES" sz="2000" dirty="0"/>
              <a:t>Ayuntamiento de Alcalá de Henares</a:t>
            </a:r>
          </a:p>
          <a:p>
            <a:pPr lvl="1"/>
            <a:r>
              <a:rPr lang="es-ES" sz="1800" dirty="0"/>
              <a:t>Reunión al comienzo de la planificación.</a:t>
            </a:r>
          </a:p>
          <a:p>
            <a:endParaRPr lang="es-ES" dirty="0"/>
          </a:p>
          <a:p>
            <a:endParaRPr lang="es-ES" dirty="0"/>
          </a:p>
          <a:p>
            <a:endParaRPr lang="es-ES" dirty="0"/>
          </a:p>
          <a:p>
            <a:pPr marL="0" indent="0">
              <a:buNone/>
            </a:pPr>
            <a:endParaRPr lang="es-ES" dirty="0"/>
          </a:p>
          <a:p>
            <a:r>
              <a:rPr lang="es-ES" sz="2000" dirty="0"/>
              <a:t>Ciudadanos de Alcalá de Henares</a:t>
            </a:r>
          </a:p>
          <a:p>
            <a:pPr lvl="1"/>
            <a:r>
              <a:rPr lang="es-ES" sz="1800" dirty="0"/>
              <a:t>Celebración de Jornadas de información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6</a:t>
            </a:fld>
            <a:r>
              <a:rPr lang="en-US" dirty="0"/>
              <a:t>/22</a:t>
            </a:r>
          </a:p>
        </p:txBody>
      </p:sp>
      <p:graphicFrame>
        <p:nvGraphicFramePr>
          <p:cNvPr id="5" name="Tabla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9615793"/>
              </p:ext>
            </p:extLst>
          </p:nvPr>
        </p:nvGraphicFramePr>
        <p:xfrm>
          <a:off x="427436" y="2431202"/>
          <a:ext cx="7871795" cy="14513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43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743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743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743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7435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80546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6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Responsable</a:t>
                      </a:r>
                      <a:endParaRPr lang="es-E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6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Audiencia</a:t>
                      </a:r>
                      <a:endParaRPr lang="es-E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6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Información a tratar</a:t>
                      </a:r>
                      <a:endParaRPr lang="es-E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6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Método</a:t>
                      </a:r>
                      <a:endParaRPr lang="es-E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6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Frecuencia</a:t>
                      </a:r>
                      <a:endParaRPr lang="es-E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7082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Encargado de Comunicaciones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Ayuntamiento Alcalá de Henares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Notificación plan de implantación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Reunión presencial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Al comienzo del proyecto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Tabla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2709516"/>
              </p:ext>
            </p:extLst>
          </p:nvPr>
        </p:nvGraphicFramePr>
        <p:xfrm>
          <a:off x="427436" y="4941849"/>
          <a:ext cx="7871795" cy="14513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43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743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743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743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7435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80546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6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Responsable</a:t>
                      </a:r>
                      <a:endParaRPr lang="es-E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6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Audiencia</a:t>
                      </a:r>
                      <a:endParaRPr lang="es-E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6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Información a tratar</a:t>
                      </a:r>
                      <a:endParaRPr lang="es-E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6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Método</a:t>
                      </a:r>
                      <a:endParaRPr lang="es-E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6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Frecuencia</a:t>
                      </a:r>
                      <a:endParaRPr lang="es-E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7082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Encargado de Comunicaciones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Habitantes Alcalá de Henares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Ventajas para los usuarios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Jornadas presenciales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Mensual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722973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7238338" cy="1320800"/>
          </a:xfrm>
        </p:spPr>
        <p:txBody>
          <a:bodyPr>
            <a:normAutofit/>
          </a:bodyPr>
          <a:lstStyle/>
          <a:p>
            <a:r>
              <a:rPr lang="es-ES" dirty="0"/>
              <a:t>PLAN PARA LA GESTIÓN DE LAS COMUNICACIONES (EXTERNAS)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609598" y="2160591"/>
            <a:ext cx="7707465" cy="3779034"/>
          </a:xfrm>
        </p:spPr>
        <p:txBody>
          <a:bodyPr>
            <a:normAutofit/>
          </a:bodyPr>
          <a:lstStyle/>
          <a:p>
            <a:r>
              <a:rPr lang="es-ES" sz="2000" dirty="0"/>
              <a:t>Sponsor</a:t>
            </a:r>
          </a:p>
          <a:p>
            <a:endParaRPr lang="es-ES" sz="2000" dirty="0"/>
          </a:p>
          <a:p>
            <a:endParaRPr lang="es-ES" sz="2000" dirty="0"/>
          </a:p>
          <a:p>
            <a:endParaRPr lang="es-ES" sz="2000" dirty="0"/>
          </a:p>
          <a:p>
            <a:endParaRPr lang="es-ES" sz="2000" dirty="0"/>
          </a:p>
          <a:p>
            <a:pPr marL="0" indent="0">
              <a:buNone/>
            </a:pPr>
            <a:endParaRPr lang="es-ES" sz="2000" dirty="0"/>
          </a:p>
          <a:p>
            <a:r>
              <a:rPr lang="es-ES" sz="2000" dirty="0"/>
              <a:t>Directivos y accionistas de </a:t>
            </a:r>
            <a:r>
              <a:rPr lang="es-ES" sz="2000" dirty="0" err="1"/>
              <a:t>Donatel</a:t>
            </a:r>
            <a:endParaRPr lang="es-ES" sz="2000" dirty="0"/>
          </a:p>
          <a:p>
            <a:pPr lvl="1"/>
            <a:r>
              <a:rPr lang="es-ES" sz="1900" dirty="0"/>
              <a:t>Dispondrán de cualquier información relativa al proyecto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7</a:t>
            </a:fld>
            <a:r>
              <a:rPr lang="en-US" dirty="0"/>
              <a:t>/22</a:t>
            </a:r>
          </a:p>
          <a:p>
            <a:endParaRPr lang="en-US" dirty="0"/>
          </a:p>
        </p:txBody>
      </p:sp>
      <p:graphicFrame>
        <p:nvGraphicFramePr>
          <p:cNvPr id="5" name="Tabla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1172644"/>
              </p:ext>
            </p:extLst>
          </p:nvPr>
        </p:nvGraphicFramePr>
        <p:xfrm>
          <a:off x="609599" y="2693063"/>
          <a:ext cx="7500730" cy="182645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01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01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0014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0014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0014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2184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6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Responsable</a:t>
                      </a:r>
                      <a:endParaRPr lang="es-E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6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Audiencia</a:t>
                      </a:r>
                      <a:endParaRPr lang="es-E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6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Información a tratar</a:t>
                      </a:r>
                      <a:endParaRPr lang="es-E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6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Método</a:t>
                      </a:r>
                      <a:endParaRPr lang="es-E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6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Frecuencia</a:t>
                      </a:r>
                      <a:endParaRPr lang="es-E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184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600" b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Encargado</a:t>
                      </a:r>
                      <a:r>
                        <a:rPr lang="es-ES" sz="1600" b="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de comunicaciones</a:t>
                      </a:r>
                      <a:endParaRPr lang="es-ES" sz="16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600" b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Sponsor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600" b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Informes de reuniones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600" b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E-mail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600" b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Continua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2765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Project Manager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Sponsor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Evolución y expectativas del proyecto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Reunión presencial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Mensual</a:t>
                      </a:r>
                      <a:endParaRPr lang="es-E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069014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/>
              <a:t>PLAN PARA LA GESTIÓN DE LAS COMUNICACIONES (INTERNAS)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609598" y="2160590"/>
            <a:ext cx="7437121" cy="4494652"/>
          </a:xfrm>
        </p:spPr>
        <p:txBody>
          <a:bodyPr>
            <a:normAutofit/>
          </a:bodyPr>
          <a:lstStyle/>
          <a:p>
            <a:r>
              <a:rPr lang="es-ES" sz="2000" dirty="0"/>
              <a:t>Organigrama del proyecto</a:t>
            </a:r>
          </a:p>
          <a:p>
            <a:endParaRPr lang="es-ES" dirty="0"/>
          </a:p>
          <a:p>
            <a:endParaRPr lang="es-ES" dirty="0"/>
          </a:p>
          <a:p>
            <a:endParaRPr lang="es-ES" dirty="0"/>
          </a:p>
          <a:p>
            <a:endParaRPr lang="es-ES" dirty="0"/>
          </a:p>
          <a:p>
            <a:endParaRPr lang="es-ES" dirty="0"/>
          </a:p>
          <a:p>
            <a:endParaRPr lang="es-ES" dirty="0"/>
          </a:p>
          <a:p>
            <a:endParaRPr lang="es-ES" dirty="0"/>
          </a:p>
          <a:p>
            <a:r>
              <a:rPr lang="es-ES" sz="2000" dirty="0"/>
              <a:t>Nivel 2 </a:t>
            </a:r>
            <a:r>
              <a:rPr lang="es-ES" sz="2000" dirty="0">
                <a:sym typeface="Wingdings" panose="05000000000000000000" pitchFamily="2" charset="2"/>
              </a:rPr>
              <a:t> Nivel 1</a:t>
            </a:r>
          </a:p>
          <a:p>
            <a:r>
              <a:rPr lang="es-ES" sz="2000" dirty="0">
                <a:sym typeface="Wingdings" panose="05000000000000000000" pitchFamily="2" charset="2"/>
              </a:rPr>
              <a:t>Reuniones semanales </a:t>
            </a:r>
          </a:p>
          <a:p>
            <a:pPr lvl="1"/>
            <a:r>
              <a:rPr lang="es-ES" sz="1800" dirty="0">
                <a:sym typeface="Wingdings" panose="05000000000000000000" pitchFamily="2" charset="2"/>
              </a:rPr>
              <a:t>Project Manager + Encargados (Nivel 1)</a:t>
            </a:r>
            <a:endParaRPr lang="es-ES" sz="1800" dirty="0"/>
          </a:p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8</a:t>
            </a:fld>
            <a:r>
              <a:rPr lang="en-US" dirty="0"/>
              <a:t>/22</a:t>
            </a:r>
          </a:p>
          <a:p>
            <a:endParaRPr lang="en-US" dirty="0"/>
          </a:p>
        </p:txBody>
      </p:sp>
      <p:pic>
        <p:nvPicPr>
          <p:cNvPr id="6" name="Imagen 5"/>
          <p:cNvPicPr/>
          <p:nvPr/>
        </p:nvPicPr>
        <p:blipFill>
          <a:blip r:embed="rId2"/>
          <a:stretch>
            <a:fillRect/>
          </a:stretch>
        </p:blipFill>
        <p:spPr>
          <a:xfrm>
            <a:off x="1390925" y="2493278"/>
            <a:ext cx="6894333" cy="2857950"/>
          </a:xfrm>
          <a:prstGeom prst="rect">
            <a:avLst/>
          </a:prstGeom>
        </p:spPr>
      </p:pic>
      <p:sp>
        <p:nvSpPr>
          <p:cNvPr id="7" name="CuadroTexto 6"/>
          <p:cNvSpPr txBox="1"/>
          <p:nvPr/>
        </p:nvSpPr>
        <p:spPr>
          <a:xfrm>
            <a:off x="424066" y="3922253"/>
            <a:ext cx="132786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chemeClr val="accent2">
                    <a:lumMod val="50000"/>
                  </a:schemeClr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Nivel 1</a:t>
            </a:r>
          </a:p>
          <a:p>
            <a:endParaRPr lang="es-ES" sz="3600" dirty="0">
              <a:solidFill>
                <a:schemeClr val="accent2">
                  <a:lumMod val="50000"/>
                </a:schemeClr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r>
              <a:rPr lang="es-ES" dirty="0">
                <a:solidFill>
                  <a:schemeClr val="accent2">
                    <a:lumMod val="50000"/>
                  </a:schemeClr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Nivel 2</a:t>
            </a:r>
          </a:p>
        </p:txBody>
      </p:sp>
    </p:spTree>
    <p:extLst>
      <p:ext uri="{BB962C8B-B14F-4D97-AF65-F5344CB8AC3E}">
        <p14:creationId xmlns:p14="http://schemas.microsoft.com/office/powerpoint/2010/main" val="31667310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/>
              <a:t>PLAN PARA LA GESTIÓN DE LAS COMUNICACIONES (INTERNAS)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609598" y="1709531"/>
            <a:ext cx="6347714" cy="3958121"/>
          </a:xfrm>
        </p:spPr>
        <p:txBody>
          <a:bodyPr>
            <a:normAutofit/>
          </a:bodyPr>
          <a:lstStyle/>
          <a:p>
            <a:r>
              <a:rPr lang="es-ES" sz="2000" dirty="0"/>
              <a:t>Tareas de Control</a:t>
            </a:r>
          </a:p>
          <a:p>
            <a:endParaRPr lang="es-ES" sz="2000" dirty="0"/>
          </a:p>
          <a:p>
            <a:endParaRPr lang="es-ES" sz="2000" dirty="0"/>
          </a:p>
          <a:p>
            <a:endParaRPr lang="es-ES" sz="2000" dirty="0"/>
          </a:p>
          <a:p>
            <a:pPr marL="0" indent="0">
              <a:buNone/>
            </a:pPr>
            <a:endParaRPr lang="es-ES" sz="2000" dirty="0"/>
          </a:p>
          <a:p>
            <a:pPr marL="0" indent="0">
              <a:buNone/>
            </a:pPr>
            <a:endParaRPr lang="es-ES" sz="2000" dirty="0"/>
          </a:p>
          <a:p>
            <a:r>
              <a:rPr lang="es-ES" sz="2000" dirty="0"/>
              <a:t>Entregables</a:t>
            </a:r>
          </a:p>
          <a:p>
            <a:endParaRPr lang="es-ES" sz="2000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9</a:t>
            </a:fld>
            <a:r>
              <a:rPr lang="en-US" dirty="0"/>
              <a:t>/22</a:t>
            </a:r>
          </a:p>
          <a:p>
            <a:endParaRPr lang="en-US" dirty="0"/>
          </a:p>
        </p:txBody>
      </p:sp>
      <p:graphicFrame>
        <p:nvGraphicFramePr>
          <p:cNvPr id="5" name="Tabla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9292797"/>
              </p:ext>
            </p:extLst>
          </p:nvPr>
        </p:nvGraphicFramePr>
        <p:xfrm>
          <a:off x="609597" y="2169116"/>
          <a:ext cx="7293995" cy="182645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587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587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587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587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5879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2184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6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Responsable</a:t>
                      </a:r>
                      <a:endParaRPr lang="es-E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6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Audiencia</a:t>
                      </a:r>
                      <a:endParaRPr lang="es-E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6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Información a tratar</a:t>
                      </a:r>
                      <a:endParaRPr lang="es-E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6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Método</a:t>
                      </a:r>
                      <a:endParaRPr lang="es-E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6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Frecuencia</a:t>
                      </a:r>
                      <a:endParaRPr lang="es-E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2765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Analista de Riesgos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Project Manager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Riesgos y oportunidades del proyecto.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Informe (vía e-mail)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Cada quince días.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184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Encargado de calidad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Project Manager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Calidad del Proyecto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Informe (vía e-mail)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Cada quince días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7" name="Tabla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1644312"/>
              </p:ext>
            </p:extLst>
          </p:nvPr>
        </p:nvGraphicFramePr>
        <p:xfrm>
          <a:off x="609597" y="4715072"/>
          <a:ext cx="7696865" cy="208737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93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393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3937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3937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3937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2184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6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Responsable</a:t>
                      </a:r>
                      <a:endParaRPr lang="es-E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6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Audiencia</a:t>
                      </a:r>
                      <a:endParaRPr lang="es-E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6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Información a tratar</a:t>
                      </a:r>
                      <a:endParaRPr lang="es-E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6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Método</a:t>
                      </a:r>
                      <a:endParaRPr lang="es-E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6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Frecuencia</a:t>
                      </a:r>
                      <a:endParaRPr lang="es-E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2765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Ingeniero de </a:t>
                      </a:r>
                      <a:r>
                        <a:rPr lang="es-ES" sz="16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Telecomunicac</a:t>
                      </a:r>
                      <a:r>
                        <a:rPr lang="es-E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Project Manager y cliente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Diseño de la red 3G/LTE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Informe (vía e-mail). Reunión presencial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Al finalizar el entregable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2765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Comercial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Project Manager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6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Adquisición de equipos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Informe (vía e-mail). Reunión presencial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Al finalizar el entregable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224201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dirty="0"/>
              <a:t>PLAN PARA LA GESTIÓN DE LAS COMUNICACIONES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609599" y="2160590"/>
            <a:ext cx="6347714" cy="4415139"/>
          </a:xfrm>
        </p:spPr>
        <p:txBody>
          <a:bodyPr>
            <a:normAutofit/>
          </a:bodyPr>
          <a:lstStyle/>
          <a:p>
            <a:endParaRPr lang="es-ES" dirty="0"/>
          </a:p>
          <a:p>
            <a:endParaRPr lang="es-ES" sz="2000" dirty="0"/>
          </a:p>
          <a:p>
            <a:endParaRPr lang="es-ES" sz="2000" dirty="0"/>
          </a:p>
          <a:p>
            <a:endParaRPr lang="es-ES" sz="2000" dirty="0"/>
          </a:p>
          <a:p>
            <a:endParaRPr lang="es-ES" sz="2000" dirty="0"/>
          </a:p>
          <a:p>
            <a:endParaRPr lang="es-ES" sz="2000" dirty="0"/>
          </a:p>
          <a:p>
            <a:endParaRPr lang="es-ES" sz="2000" dirty="0"/>
          </a:p>
          <a:p>
            <a:endParaRPr lang="es-ES" sz="2000" dirty="0"/>
          </a:p>
          <a:p>
            <a:endParaRPr lang="es-ES" sz="2000" dirty="0"/>
          </a:p>
          <a:p>
            <a:r>
              <a:rPr lang="es-ES" sz="2000" dirty="0"/>
              <a:t>Confidencialidad y autoridad</a:t>
            </a:r>
          </a:p>
          <a:p>
            <a:endParaRPr lang="es-ES" sz="2000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10</a:t>
            </a:fld>
            <a:r>
              <a:rPr lang="en-US" dirty="0"/>
              <a:t>/22</a:t>
            </a:r>
          </a:p>
          <a:p>
            <a:endParaRPr lang="en-US" dirty="0"/>
          </a:p>
        </p:txBody>
      </p:sp>
      <p:pic>
        <p:nvPicPr>
          <p:cNvPr id="3076" name="Picture 4" descr="Resultado de imagen de sala de archivo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1214" y="3716885"/>
            <a:ext cx="1930180" cy="19301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2" name="Picture 10" descr="Resultado de imagen de confidencialidad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98851" y="5434146"/>
            <a:ext cx="1659728" cy="12144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Imagen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8825" y="2160590"/>
            <a:ext cx="1859900" cy="1621832"/>
          </a:xfrm>
          <a:prstGeom prst="rect">
            <a:avLst/>
          </a:prstGeom>
        </p:spPr>
      </p:pic>
      <p:sp>
        <p:nvSpPr>
          <p:cNvPr id="13" name="Marcador de contenido 2"/>
          <p:cNvSpPr txBox="1">
            <a:spLocks/>
          </p:cNvSpPr>
          <p:nvPr/>
        </p:nvSpPr>
        <p:spPr>
          <a:xfrm>
            <a:off x="3894169" y="4316780"/>
            <a:ext cx="2896926" cy="11173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sz="2000" dirty="0"/>
              <a:t>Almacenamiento de las comunicaciones</a:t>
            </a:r>
          </a:p>
          <a:p>
            <a:endParaRPr lang="es-ES" dirty="0"/>
          </a:p>
          <a:p>
            <a:endParaRPr lang="es-ES" dirty="0"/>
          </a:p>
        </p:txBody>
      </p:sp>
      <p:sp>
        <p:nvSpPr>
          <p:cNvPr id="14" name="Marcador de contenido 2"/>
          <p:cNvSpPr txBox="1">
            <a:spLocks/>
          </p:cNvSpPr>
          <p:nvPr/>
        </p:nvSpPr>
        <p:spPr>
          <a:xfrm>
            <a:off x="609599" y="2525636"/>
            <a:ext cx="3864374" cy="11173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sz="2000" dirty="0"/>
              <a:t>Convocatoria de reuniones con carácter urgente</a:t>
            </a:r>
          </a:p>
          <a:p>
            <a:endParaRPr lang="es-ES" dirty="0"/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341257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697062" y="2351421"/>
            <a:ext cx="3453519" cy="3880773"/>
          </a:xfrm>
        </p:spPr>
        <p:txBody>
          <a:bodyPr/>
          <a:lstStyle/>
          <a:p>
            <a:pPr marL="0" indent="0">
              <a:buNone/>
            </a:pPr>
            <a:r>
              <a:rPr lang="es-ES" sz="4000" dirty="0">
                <a:latin typeface="Berlin Sans FB" panose="020E0602020502020306" pitchFamily="34" charset="0"/>
              </a:rPr>
              <a:t>GESTIÓN DE LOS RIESGOS</a:t>
            </a:r>
          </a:p>
          <a:p>
            <a:pPr marL="0" indent="0">
              <a:buNone/>
            </a:pPr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11</a:t>
            </a:fld>
            <a:r>
              <a:rPr lang="en-US" dirty="0"/>
              <a:t>/22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77713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55708" y="609600"/>
            <a:ext cx="6834226" cy="709749"/>
          </a:xfrm>
        </p:spPr>
        <p:txBody>
          <a:bodyPr>
            <a:noAutofit/>
          </a:bodyPr>
          <a:lstStyle/>
          <a:p>
            <a:r>
              <a:rPr lang="es-ES_tradnl" sz="4000" dirty="0"/>
              <a:t>Índice</a:t>
            </a:r>
            <a:endParaRPr lang="es-ES" sz="2400" dirty="0"/>
          </a:p>
        </p:txBody>
      </p:sp>
      <p:sp>
        <p:nvSpPr>
          <p:cNvPr id="5" name="Marcador de contenido 4"/>
          <p:cNvSpPr>
            <a:spLocks noGrp="1"/>
          </p:cNvSpPr>
          <p:nvPr>
            <p:ph idx="1"/>
          </p:nvPr>
        </p:nvSpPr>
        <p:spPr>
          <a:xfrm>
            <a:off x="434671" y="1489266"/>
            <a:ext cx="6780335" cy="4885418"/>
          </a:xfrm>
        </p:spPr>
        <p:txBody>
          <a:bodyPr/>
          <a:lstStyle/>
          <a:p>
            <a:pPr marL="0" indent="0">
              <a:buNone/>
            </a:pPr>
            <a:endParaRPr lang="es-ES" sz="2400" dirty="0"/>
          </a:p>
          <a:p>
            <a:r>
              <a:rPr lang="es-ES" sz="2400" dirty="0"/>
              <a:t>Gestión de riesgos</a:t>
            </a:r>
          </a:p>
          <a:p>
            <a:pPr lvl="1"/>
            <a:r>
              <a:rPr lang="es-ES" sz="2000" dirty="0"/>
              <a:t>Planificación de la gestión de riesgos</a:t>
            </a:r>
          </a:p>
          <a:p>
            <a:pPr lvl="1"/>
            <a:r>
              <a:rPr lang="es-ES" sz="2000" dirty="0"/>
              <a:t>Riesgos identificados y medidas</a:t>
            </a:r>
          </a:p>
          <a:p>
            <a:pPr lvl="1"/>
            <a:endParaRPr lang="es-ES" sz="2000" dirty="0"/>
          </a:p>
          <a:p>
            <a:pPr lvl="1"/>
            <a:endParaRPr lang="es-ES" sz="2000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12</a:t>
            </a:fld>
            <a:r>
              <a:rPr lang="en-US" dirty="0"/>
              <a:t>/22</a:t>
            </a:r>
          </a:p>
          <a:p>
            <a:endParaRPr lang="en-US" dirty="0"/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4033" y="3931975"/>
            <a:ext cx="3696102" cy="2032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4739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55708" y="609600"/>
            <a:ext cx="6834226" cy="709749"/>
          </a:xfrm>
        </p:spPr>
        <p:txBody>
          <a:bodyPr>
            <a:noAutofit/>
          </a:bodyPr>
          <a:lstStyle/>
          <a:p>
            <a:r>
              <a:rPr lang="es-ES_tradnl" sz="3800" dirty="0"/>
              <a:t>Planificar la gestión de riesgos</a:t>
            </a:r>
            <a:endParaRPr lang="es-ES" sz="3800" dirty="0"/>
          </a:p>
        </p:txBody>
      </p:sp>
      <p:sp>
        <p:nvSpPr>
          <p:cNvPr id="5" name="Marcador de contenido 4"/>
          <p:cNvSpPr>
            <a:spLocks noGrp="1"/>
          </p:cNvSpPr>
          <p:nvPr>
            <p:ph idx="1"/>
          </p:nvPr>
        </p:nvSpPr>
        <p:spPr>
          <a:xfrm>
            <a:off x="609599" y="1521070"/>
            <a:ext cx="7118839" cy="4885418"/>
          </a:xfrm>
        </p:spPr>
        <p:txBody>
          <a:bodyPr>
            <a:normAutofit lnSpcReduction="10000"/>
          </a:bodyPr>
          <a:lstStyle/>
          <a:p>
            <a:r>
              <a:rPr lang="es-ES" sz="2000" dirty="0"/>
              <a:t>Definir un conjunto de mecanismos para identificar, controlar y responder a los riesgos del proyecto.</a:t>
            </a:r>
          </a:p>
          <a:p>
            <a:endParaRPr lang="es-ES" sz="2000" dirty="0"/>
          </a:p>
          <a:p>
            <a:endParaRPr lang="es-ES" sz="2000" dirty="0"/>
          </a:p>
          <a:p>
            <a:endParaRPr lang="es-ES" sz="2000" dirty="0"/>
          </a:p>
          <a:p>
            <a:endParaRPr lang="es-ES" sz="2000" dirty="0"/>
          </a:p>
          <a:p>
            <a:pPr marL="0" indent="0">
              <a:buNone/>
            </a:pPr>
            <a:endParaRPr lang="es-ES" sz="2000" dirty="0"/>
          </a:p>
          <a:p>
            <a:r>
              <a:rPr lang="es-ES" sz="2000" b="1" dirty="0"/>
              <a:t>Generar una caracterización estandarizada de riesgos.</a:t>
            </a:r>
          </a:p>
          <a:p>
            <a:pPr lvl="1"/>
            <a:r>
              <a:rPr lang="es-ES" sz="1800" dirty="0"/>
              <a:t>Priorización de los riesgos a tratar</a:t>
            </a:r>
          </a:p>
          <a:p>
            <a:r>
              <a:rPr lang="es-ES" sz="2000" b="1" dirty="0"/>
              <a:t>Identificar los riesgos existentes y caracterizarlos</a:t>
            </a:r>
          </a:p>
          <a:p>
            <a:pPr lvl="1"/>
            <a:r>
              <a:rPr lang="es-ES" sz="1800" dirty="0"/>
              <a:t>Identificación y caracterización cualitativa</a:t>
            </a:r>
          </a:p>
          <a:p>
            <a:pPr lvl="1"/>
            <a:r>
              <a:rPr lang="es-ES" sz="1800" dirty="0"/>
              <a:t>Diseñar planes de acción ante los riesgos</a:t>
            </a:r>
          </a:p>
          <a:p>
            <a:pPr lvl="1"/>
            <a:endParaRPr lang="es-ES" sz="2000" b="1" dirty="0"/>
          </a:p>
          <a:p>
            <a:endParaRPr lang="es-ES" sz="2000" b="1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13</a:t>
            </a:fld>
            <a:r>
              <a:rPr lang="en-US" dirty="0"/>
              <a:t>/22</a:t>
            </a:r>
          </a:p>
          <a:p>
            <a:endParaRPr lang="en-US" dirty="0"/>
          </a:p>
        </p:txBody>
      </p:sp>
      <p:pic>
        <p:nvPicPr>
          <p:cNvPr id="7" name="Imagen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896" y="2287379"/>
            <a:ext cx="1847850" cy="167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79870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598" y="609599"/>
            <a:ext cx="6807721" cy="709749"/>
          </a:xfrm>
        </p:spPr>
        <p:txBody>
          <a:bodyPr>
            <a:noAutofit/>
          </a:bodyPr>
          <a:lstStyle/>
          <a:p>
            <a:r>
              <a:rPr lang="es-ES_tradnl" sz="3800" dirty="0"/>
              <a:t>Planificar la gestión de riesgos</a:t>
            </a:r>
            <a:endParaRPr lang="es-ES" sz="3800" dirty="0"/>
          </a:p>
        </p:txBody>
      </p:sp>
      <p:sp>
        <p:nvSpPr>
          <p:cNvPr id="5" name="Marcador de contenido 4"/>
          <p:cNvSpPr>
            <a:spLocks noGrp="1"/>
          </p:cNvSpPr>
          <p:nvPr>
            <p:ph idx="1"/>
          </p:nvPr>
        </p:nvSpPr>
        <p:spPr>
          <a:xfrm>
            <a:off x="609599" y="1521070"/>
            <a:ext cx="7118839" cy="4885418"/>
          </a:xfrm>
        </p:spPr>
        <p:txBody>
          <a:bodyPr>
            <a:normAutofit/>
          </a:bodyPr>
          <a:lstStyle/>
          <a:p>
            <a:r>
              <a:rPr lang="es-ES" sz="2600" b="1" dirty="0"/>
              <a:t>Responsabilidades y roles:</a:t>
            </a:r>
          </a:p>
          <a:p>
            <a:pPr lvl="1"/>
            <a:r>
              <a:rPr lang="es-ES" sz="2000" b="1" dirty="0">
                <a:solidFill>
                  <a:schemeClr val="tx1"/>
                </a:solidFill>
              </a:rPr>
              <a:t>Project Manager</a:t>
            </a:r>
            <a:r>
              <a:rPr lang="es-ES" sz="2000" b="1" dirty="0"/>
              <a:t>: </a:t>
            </a:r>
            <a:r>
              <a:rPr lang="es-ES" sz="2000" dirty="0"/>
              <a:t>aceptación de políticas y toma de decisiones.</a:t>
            </a:r>
            <a:endParaRPr lang="es-ES" sz="2000" b="1" dirty="0"/>
          </a:p>
          <a:p>
            <a:pPr lvl="1"/>
            <a:r>
              <a:rPr lang="es-ES" sz="2000" b="1" dirty="0">
                <a:solidFill>
                  <a:schemeClr val="tx1"/>
                </a:solidFill>
              </a:rPr>
              <a:t>Director del Departamento de Riesgos</a:t>
            </a:r>
            <a:r>
              <a:rPr lang="es-ES" sz="2000" b="1" dirty="0"/>
              <a:t>: </a:t>
            </a:r>
            <a:r>
              <a:rPr lang="es-ES" sz="2000" dirty="0"/>
              <a:t>encargado del desarrollo de la planificación</a:t>
            </a:r>
          </a:p>
          <a:p>
            <a:pPr lvl="1"/>
            <a:r>
              <a:rPr lang="es-ES" sz="2000" dirty="0"/>
              <a:t>Los directores de los distintos departamentos generarán informes periódicos</a:t>
            </a:r>
            <a:r>
              <a:rPr lang="es-ES" sz="1800" dirty="0"/>
              <a:t>.</a:t>
            </a:r>
          </a:p>
          <a:p>
            <a:pPr lvl="1"/>
            <a:endParaRPr lang="es-ES" sz="1800" dirty="0">
              <a:solidFill>
                <a:srgbClr val="FF0000"/>
              </a:solidFill>
            </a:endParaRPr>
          </a:p>
          <a:p>
            <a:pPr marL="457200" lvl="1" indent="0">
              <a:buNone/>
            </a:pPr>
            <a:endParaRPr lang="es-ES" sz="1800" dirty="0"/>
          </a:p>
          <a:p>
            <a:pPr marL="457200" lvl="1" indent="0">
              <a:buNone/>
            </a:pPr>
            <a:endParaRPr lang="es-ES" sz="1800" dirty="0"/>
          </a:p>
          <a:p>
            <a:pPr marL="0" indent="0">
              <a:buNone/>
            </a:pPr>
            <a:endParaRPr lang="es-ES" sz="2000" b="1" dirty="0"/>
          </a:p>
          <a:p>
            <a:pPr marL="0" indent="0">
              <a:buNone/>
            </a:pPr>
            <a:endParaRPr lang="es-ES" sz="2000" b="1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14</a:t>
            </a:fld>
            <a:r>
              <a:rPr lang="en-US" dirty="0"/>
              <a:t>/22</a:t>
            </a:r>
          </a:p>
        </p:txBody>
      </p:sp>
      <p:pic>
        <p:nvPicPr>
          <p:cNvPr id="9" name="Imagen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9745" y="4418565"/>
            <a:ext cx="6067425" cy="1704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06105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55708" y="609600"/>
            <a:ext cx="6834226" cy="709749"/>
          </a:xfrm>
        </p:spPr>
        <p:txBody>
          <a:bodyPr>
            <a:noAutofit/>
          </a:bodyPr>
          <a:lstStyle/>
          <a:p>
            <a:r>
              <a:rPr lang="es-ES_tradnl" sz="3800" dirty="0"/>
              <a:t>Planificar la gestión de riesgos</a:t>
            </a:r>
            <a:endParaRPr lang="es-ES" sz="3800" dirty="0"/>
          </a:p>
        </p:txBody>
      </p:sp>
      <p:sp>
        <p:nvSpPr>
          <p:cNvPr id="5" name="Marcador de contenido 4"/>
          <p:cNvSpPr>
            <a:spLocks noGrp="1"/>
          </p:cNvSpPr>
          <p:nvPr>
            <p:ph idx="1"/>
          </p:nvPr>
        </p:nvSpPr>
        <p:spPr>
          <a:xfrm>
            <a:off x="609599" y="1521070"/>
            <a:ext cx="6969370" cy="4885418"/>
          </a:xfrm>
        </p:spPr>
        <p:txBody>
          <a:bodyPr>
            <a:normAutofit/>
          </a:bodyPr>
          <a:lstStyle/>
          <a:p>
            <a:r>
              <a:rPr lang="es-ES" sz="2200" b="1" dirty="0"/>
              <a:t>Calendario:</a:t>
            </a:r>
          </a:p>
          <a:p>
            <a:pPr lvl="1"/>
            <a:r>
              <a:rPr lang="es-ES" sz="2000" dirty="0"/>
              <a:t>Identificación de los riesgos </a:t>
            </a:r>
          </a:p>
          <a:p>
            <a:pPr lvl="1"/>
            <a:r>
              <a:rPr lang="es-ES" sz="2000" dirty="0"/>
              <a:t>Análisis cualitativo de los riesgos </a:t>
            </a:r>
          </a:p>
          <a:p>
            <a:pPr lvl="1"/>
            <a:r>
              <a:rPr lang="es-ES" sz="2000" dirty="0"/>
              <a:t>Análisis cuantitativo de los riesgos </a:t>
            </a:r>
          </a:p>
          <a:p>
            <a:pPr lvl="1"/>
            <a:r>
              <a:rPr lang="es-ES" sz="2000" dirty="0"/>
              <a:t>Planificación de la respuesta ante los riesgos </a:t>
            </a:r>
          </a:p>
          <a:p>
            <a:pPr lvl="1"/>
            <a:r>
              <a:rPr lang="es-ES" sz="2000" dirty="0"/>
              <a:t>Control y gestión de los riesgos </a:t>
            </a:r>
          </a:p>
          <a:p>
            <a:pPr lvl="1"/>
            <a:endParaRPr lang="es-ES" sz="2000" dirty="0">
              <a:solidFill>
                <a:srgbClr val="FF0000"/>
              </a:solidFill>
            </a:endParaRPr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15</a:t>
            </a:fld>
            <a:r>
              <a:rPr lang="en-US" dirty="0"/>
              <a:t>/22</a:t>
            </a:r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493" y="4372534"/>
            <a:ext cx="8595096" cy="2033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81277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55707" y="609600"/>
            <a:ext cx="6935339" cy="709749"/>
          </a:xfrm>
        </p:spPr>
        <p:txBody>
          <a:bodyPr>
            <a:noAutofit/>
          </a:bodyPr>
          <a:lstStyle/>
          <a:p>
            <a:r>
              <a:rPr lang="es-ES_tradnl" sz="3800" dirty="0"/>
              <a:t>Caracterización de los riesgos</a:t>
            </a:r>
            <a:endParaRPr lang="es-ES" sz="3800" dirty="0"/>
          </a:p>
        </p:txBody>
      </p:sp>
      <p:sp>
        <p:nvSpPr>
          <p:cNvPr id="5" name="Marcador de contenido 4"/>
          <p:cNvSpPr>
            <a:spLocks noGrp="1"/>
          </p:cNvSpPr>
          <p:nvPr>
            <p:ph idx="1"/>
          </p:nvPr>
        </p:nvSpPr>
        <p:spPr>
          <a:xfrm>
            <a:off x="609599" y="1521070"/>
            <a:ext cx="6969370" cy="4885418"/>
          </a:xfrm>
        </p:spPr>
        <p:txBody>
          <a:bodyPr>
            <a:normAutofit fontScale="92500" lnSpcReduction="20000"/>
          </a:bodyPr>
          <a:lstStyle/>
          <a:p>
            <a:r>
              <a:rPr lang="es-ES" sz="2000" b="1" dirty="0"/>
              <a:t>Caracterización según naturaleza e importancia: </a:t>
            </a:r>
          </a:p>
          <a:p>
            <a:r>
              <a:rPr lang="es-ES" sz="2000" b="1" dirty="0"/>
              <a:t>Niveles de importancia según matriz de impacto y probabilidad </a:t>
            </a:r>
          </a:p>
          <a:p>
            <a:pPr marL="457200" indent="-457200">
              <a:buFont typeface="+mj-lt"/>
              <a:buAutoNum type="arabicPeriod"/>
            </a:pPr>
            <a:r>
              <a:rPr lang="es-ES" sz="2000" b="1" dirty="0"/>
              <a:t>Riesgos críticos: </a:t>
            </a:r>
            <a:r>
              <a:rPr lang="es-ES" sz="2000" dirty="0"/>
              <a:t>tratamiento prioritario en cualquier situación.</a:t>
            </a:r>
          </a:p>
          <a:p>
            <a:pPr marL="457200" indent="-457200">
              <a:buFont typeface="+mj-lt"/>
              <a:buAutoNum type="arabicPeriod"/>
            </a:pPr>
            <a:r>
              <a:rPr lang="es-ES" sz="2000" b="1" dirty="0"/>
              <a:t>Riesgo alto: </a:t>
            </a:r>
            <a:r>
              <a:rPr lang="es-ES" sz="2000" dirty="0"/>
              <a:t>tratamiento prioritario en ausencia de riesgos críticos.</a:t>
            </a:r>
            <a:endParaRPr lang="es-ES" sz="2000" b="1" dirty="0"/>
          </a:p>
          <a:p>
            <a:pPr marL="457200" indent="-457200">
              <a:buFont typeface="+mj-lt"/>
              <a:buAutoNum type="arabicPeriod"/>
            </a:pPr>
            <a:r>
              <a:rPr lang="es-ES" sz="2000" b="1" dirty="0"/>
              <a:t>Riesgo moderado: </a:t>
            </a:r>
            <a:r>
              <a:rPr lang="es-ES" sz="2000" dirty="0"/>
              <a:t>tratamiento prioritario si se disponen de recursos.</a:t>
            </a:r>
          </a:p>
          <a:p>
            <a:pPr marL="457200" indent="-457200">
              <a:buFont typeface="+mj-lt"/>
              <a:buAutoNum type="arabicPeriod"/>
            </a:pPr>
            <a:r>
              <a:rPr lang="es-ES" sz="2000" b="1" dirty="0"/>
              <a:t>Riesgo bajo:</a:t>
            </a:r>
            <a:r>
              <a:rPr lang="es-ES" sz="2000" dirty="0"/>
              <a:t> tratamiento del riesgo es retrasable.</a:t>
            </a:r>
            <a:endParaRPr lang="es-ES" sz="2000" b="1" dirty="0"/>
          </a:p>
          <a:p>
            <a:r>
              <a:rPr lang="es-ES" sz="2000" b="1" dirty="0"/>
              <a:t>Categorías (naturaleza u origen):</a:t>
            </a:r>
          </a:p>
          <a:p>
            <a:pPr marL="800100" lvl="1" indent="-342900">
              <a:buFont typeface="+mj-lt"/>
              <a:buAutoNum type="arabicPeriod"/>
            </a:pPr>
            <a:r>
              <a:rPr lang="es-ES" sz="1800" b="1" dirty="0"/>
              <a:t>Técnicos</a:t>
            </a:r>
          </a:p>
          <a:p>
            <a:pPr marL="800100" lvl="1" indent="-342900">
              <a:buFont typeface="+mj-lt"/>
              <a:buAutoNum type="arabicPeriod"/>
            </a:pPr>
            <a:r>
              <a:rPr lang="es-ES" sz="1800" b="1" dirty="0"/>
              <a:t>Externos</a:t>
            </a:r>
          </a:p>
          <a:p>
            <a:pPr marL="800100" lvl="1" indent="-342900">
              <a:buFont typeface="+mj-lt"/>
              <a:buAutoNum type="arabicPeriod"/>
            </a:pPr>
            <a:r>
              <a:rPr lang="es-ES" sz="1800" b="1" dirty="0"/>
              <a:t>De la organización</a:t>
            </a:r>
          </a:p>
          <a:p>
            <a:pPr marL="800100" lvl="1" indent="-342900">
              <a:buFont typeface="+mj-lt"/>
              <a:buAutoNum type="arabicPeriod"/>
            </a:pPr>
            <a:r>
              <a:rPr lang="es-ES" sz="1800" b="1" dirty="0"/>
              <a:t>De la dirección de la empresa</a:t>
            </a:r>
          </a:p>
          <a:p>
            <a:pPr marL="457200" indent="-457200">
              <a:buFont typeface="+mj-lt"/>
              <a:buAutoNum type="arabicPeriod"/>
            </a:pPr>
            <a:endParaRPr lang="es-ES" sz="2000" b="1" dirty="0"/>
          </a:p>
          <a:p>
            <a:pPr marL="0" indent="0">
              <a:buNone/>
            </a:pPr>
            <a:endParaRPr lang="es-ES" sz="2000" b="1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16</a:t>
            </a:fld>
            <a:r>
              <a:rPr lang="en-US" dirty="0"/>
              <a:t>/22</a:t>
            </a:r>
          </a:p>
        </p:txBody>
      </p:sp>
    </p:spTree>
    <p:extLst>
      <p:ext uri="{BB962C8B-B14F-4D97-AF65-F5344CB8AC3E}">
        <p14:creationId xmlns:p14="http://schemas.microsoft.com/office/powerpoint/2010/main" val="1146956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Matriz de probabilidad e impacto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17</a:t>
            </a:fld>
            <a:r>
              <a:rPr lang="en-US" dirty="0"/>
              <a:t>/22</a:t>
            </a:r>
          </a:p>
        </p:txBody>
      </p:sp>
      <p:sp>
        <p:nvSpPr>
          <p:cNvPr id="7" name="CuadroTexto 6"/>
          <p:cNvSpPr txBox="1"/>
          <p:nvPr/>
        </p:nvSpPr>
        <p:spPr>
          <a:xfrm>
            <a:off x="863600" y="6007100"/>
            <a:ext cx="69469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rgbClr val="FF0000"/>
                </a:solidFill>
              </a:rPr>
              <a:t>Riesgo Crítico (x&gt;0,5) 	        	</a:t>
            </a:r>
            <a:r>
              <a:rPr lang="es-ES" b="1" dirty="0">
                <a:solidFill>
                  <a:srgbClr val="FF9900"/>
                </a:solidFill>
              </a:rPr>
              <a:t>Riesgo alto (0,25&lt;x&lt;0,5)</a:t>
            </a:r>
          </a:p>
          <a:p>
            <a:r>
              <a:rPr lang="es-ES" b="1" dirty="0">
                <a:solidFill>
                  <a:srgbClr val="FFFF00"/>
                </a:solidFill>
              </a:rPr>
              <a:t>Riesgo moderado (0,05&lt;x&lt;0,25)</a:t>
            </a:r>
            <a:r>
              <a:rPr lang="es-ES" b="1" dirty="0">
                <a:solidFill>
                  <a:srgbClr val="009900"/>
                </a:solidFill>
              </a:rPr>
              <a:t>	Riesgo bajo (x&lt;0,05)</a:t>
            </a:r>
          </a:p>
        </p:txBody>
      </p:sp>
      <p:graphicFrame>
        <p:nvGraphicFramePr>
          <p:cNvPr id="9" name="Marcador de contenido 8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11372933"/>
              </p:ext>
            </p:extLst>
          </p:nvPr>
        </p:nvGraphicFramePr>
        <p:xfrm>
          <a:off x="609600" y="1895061"/>
          <a:ext cx="7818779" cy="408915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207794">
                  <a:extLst>
                    <a:ext uri="{9D8B030D-6E8A-4147-A177-3AD203B41FA5}">
                      <a16:colId xmlns:a16="http://schemas.microsoft.com/office/drawing/2014/main" val="2976965118"/>
                    </a:ext>
                  </a:extLst>
                </a:gridCol>
                <a:gridCol w="629875">
                  <a:extLst>
                    <a:ext uri="{9D8B030D-6E8A-4147-A177-3AD203B41FA5}">
                      <a16:colId xmlns:a16="http://schemas.microsoft.com/office/drawing/2014/main" val="416623589"/>
                    </a:ext>
                  </a:extLst>
                </a:gridCol>
                <a:gridCol w="536083">
                  <a:extLst>
                    <a:ext uri="{9D8B030D-6E8A-4147-A177-3AD203B41FA5}">
                      <a16:colId xmlns:a16="http://schemas.microsoft.com/office/drawing/2014/main" val="1167259006"/>
                    </a:ext>
                  </a:extLst>
                </a:gridCol>
                <a:gridCol w="806767">
                  <a:extLst>
                    <a:ext uri="{9D8B030D-6E8A-4147-A177-3AD203B41FA5}">
                      <a16:colId xmlns:a16="http://schemas.microsoft.com/office/drawing/2014/main" val="2410271835"/>
                    </a:ext>
                  </a:extLst>
                </a:gridCol>
                <a:gridCol w="640038">
                  <a:extLst>
                    <a:ext uri="{9D8B030D-6E8A-4147-A177-3AD203B41FA5}">
                      <a16:colId xmlns:a16="http://schemas.microsoft.com/office/drawing/2014/main" val="2748899932"/>
                    </a:ext>
                  </a:extLst>
                </a:gridCol>
                <a:gridCol w="622598">
                  <a:extLst>
                    <a:ext uri="{9D8B030D-6E8A-4147-A177-3AD203B41FA5}">
                      <a16:colId xmlns:a16="http://schemas.microsoft.com/office/drawing/2014/main" val="2567534900"/>
                    </a:ext>
                  </a:extLst>
                </a:gridCol>
                <a:gridCol w="656666">
                  <a:extLst>
                    <a:ext uri="{9D8B030D-6E8A-4147-A177-3AD203B41FA5}">
                      <a16:colId xmlns:a16="http://schemas.microsoft.com/office/drawing/2014/main" val="1975347795"/>
                    </a:ext>
                  </a:extLst>
                </a:gridCol>
                <a:gridCol w="649554">
                  <a:extLst>
                    <a:ext uri="{9D8B030D-6E8A-4147-A177-3AD203B41FA5}">
                      <a16:colId xmlns:a16="http://schemas.microsoft.com/office/drawing/2014/main" val="4116101396"/>
                    </a:ext>
                  </a:extLst>
                </a:gridCol>
                <a:gridCol w="766651">
                  <a:extLst>
                    <a:ext uri="{9D8B030D-6E8A-4147-A177-3AD203B41FA5}">
                      <a16:colId xmlns:a16="http://schemas.microsoft.com/office/drawing/2014/main" val="2204503065"/>
                    </a:ext>
                  </a:extLst>
                </a:gridCol>
                <a:gridCol w="680155">
                  <a:extLst>
                    <a:ext uri="{9D8B030D-6E8A-4147-A177-3AD203B41FA5}">
                      <a16:colId xmlns:a16="http://schemas.microsoft.com/office/drawing/2014/main" val="2387732149"/>
                    </a:ext>
                  </a:extLst>
                </a:gridCol>
                <a:gridCol w="622598">
                  <a:extLst>
                    <a:ext uri="{9D8B030D-6E8A-4147-A177-3AD203B41FA5}">
                      <a16:colId xmlns:a16="http://schemas.microsoft.com/office/drawing/2014/main" val="2816616189"/>
                    </a:ext>
                  </a:extLst>
                </a:gridCol>
              </a:tblGrid>
              <a:tr h="65123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" sz="1100" dirty="0">
                          <a:effectLst/>
                        </a:rPr>
                        <a:t>Probabilidad</a:t>
                      </a:r>
                      <a:endParaRPr lang="es-E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736" marR="67736" marT="0" marB="0"/>
                </a:tc>
                <a:tc gridSpan="5"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" sz="1600" dirty="0">
                          <a:effectLst/>
                        </a:rPr>
                        <a:t>Amenazas</a:t>
                      </a:r>
                      <a:endParaRPr lang="es-E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736" marR="67736" marT="0" marB="0"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" sz="1600" dirty="0">
                          <a:effectLst/>
                        </a:rPr>
                        <a:t>Oportunidades</a:t>
                      </a:r>
                      <a:endParaRPr lang="es-E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736" marR="67736" marT="0" marB="0"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3598953"/>
                  </a:ext>
                </a:extLst>
              </a:tr>
              <a:tr h="495995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" sz="1100">
                          <a:effectLst/>
                        </a:rPr>
                        <a:t>0,9</a:t>
                      </a:r>
                      <a:endParaRPr lang="es-E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736" marR="6773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" sz="1100" b="1" dirty="0">
                          <a:solidFill>
                            <a:schemeClr val="tx1"/>
                          </a:solidFill>
                          <a:effectLst/>
                        </a:rPr>
                        <a:t>0,045</a:t>
                      </a:r>
                      <a:endParaRPr lang="es-ES" sz="11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736" marR="67736" marT="0" marB="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" sz="1100" b="1" dirty="0">
                          <a:solidFill>
                            <a:schemeClr val="tx1"/>
                          </a:solidFill>
                          <a:effectLst/>
                        </a:rPr>
                        <a:t>0,09</a:t>
                      </a:r>
                      <a:endParaRPr lang="es-ES" sz="11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736" marR="67736" marT="0" marB="0"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" sz="1100" b="1" dirty="0">
                          <a:effectLst/>
                        </a:rPr>
                        <a:t>0,18</a:t>
                      </a:r>
                      <a:endParaRPr lang="es-ES" sz="11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736" marR="67736" marT="0" marB="0">
                    <a:lnR w="12700" cmpd="sng">
                      <a:noFill/>
                    </a:ln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" sz="1100" b="1" dirty="0">
                          <a:solidFill>
                            <a:schemeClr val="tx1"/>
                          </a:solidFill>
                          <a:effectLst/>
                        </a:rPr>
                        <a:t>0,45</a:t>
                      </a:r>
                      <a:endParaRPr lang="es-ES" sz="11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736" marR="67736" marT="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" sz="1100" b="1" dirty="0">
                          <a:solidFill>
                            <a:schemeClr val="tx1"/>
                          </a:solidFill>
                          <a:effectLst/>
                        </a:rPr>
                        <a:t>0,81</a:t>
                      </a:r>
                      <a:endParaRPr lang="es-ES" sz="11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736" marR="67736" marT="0" marB="0">
                    <a:lnL w="12700" cmpd="sng">
                      <a:noFill/>
                    </a:lnL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" sz="1100" b="1" dirty="0">
                          <a:effectLst/>
                        </a:rPr>
                        <a:t>0,045</a:t>
                      </a:r>
                      <a:endParaRPr lang="es-ES" sz="11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736" marR="67736" marT="0" marB="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" sz="1100" b="1">
                          <a:effectLst/>
                        </a:rPr>
                        <a:t>0,09</a:t>
                      </a:r>
                      <a:endParaRPr lang="es-ES" sz="11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736" marR="67736" marT="0" marB="0"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" sz="1100" b="1" dirty="0">
                          <a:effectLst/>
                        </a:rPr>
                        <a:t>0,18</a:t>
                      </a:r>
                      <a:endParaRPr lang="es-ES" sz="11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736" marR="67736" marT="0" marB="0"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" sz="1100" b="1" dirty="0">
                          <a:solidFill>
                            <a:schemeClr val="tx1"/>
                          </a:solidFill>
                          <a:effectLst/>
                        </a:rPr>
                        <a:t>0,45</a:t>
                      </a:r>
                      <a:endParaRPr lang="es-ES" sz="11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736" marR="67736" marT="0" marB="0"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" sz="1100" b="1" dirty="0">
                          <a:solidFill>
                            <a:schemeClr val="tx1"/>
                          </a:solidFill>
                          <a:effectLst/>
                        </a:rPr>
                        <a:t>0,81</a:t>
                      </a:r>
                      <a:endParaRPr lang="es-ES" sz="11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736" marR="67736" marT="0" marB="0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8595630"/>
                  </a:ext>
                </a:extLst>
              </a:tr>
              <a:tr h="495995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" sz="1100">
                          <a:effectLst/>
                        </a:rPr>
                        <a:t>0,7</a:t>
                      </a:r>
                      <a:endParaRPr lang="es-E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736" marR="6773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" sz="1100" b="1" dirty="0">
                          <a:solidFill>
                            <a:schemeClr val="tx1"/>
                          </a:solidFill>
                          <a:effectLst/>
                        </a:rPr>
                        <a:t>0,035</a:t>
                      </a:r>
                      <a:endParaRPr lang="es-ES" sz="11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736" marR="67736" marT="0" marB="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" sz="1100" b="1" dirty="0">
                          <a:solidFill>
                            <a:schemeClr val="tx1"/>
                          </a:solidFill>
                          <a:effectLst/>
                        </a:rPr>
                        <a:t>0,07</a:t>
                      </a:r>
                      <a:endParaRPr lang="es-ES" sz="11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736" marR="67736" marT="0" marB="0"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" sz="1100" b="1" dirty="0">
                          <a:effectLst/>
                        </a:rPr>
                        <a:t>0,14</a:t>
                      </a:r>
                      <a:endParaRPr lang="es-ES" sz="11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736" marR="67736" marT="0" marB="0">
                    <a:lnR w="12700" cmpd="sng">
                      <a:noFill/>
                    </a:ln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" sz="1100" b="1" dirty="0">
                          <a:solidFill>
                            <a:schemeClr val="tx1"/>
                          </a:solidFill>
                          <a:effectLst/>
                        </a:rPr>
                        <a:t>0,35</a:t>
                      </a:r>
                      <a:endParaRPr lang="es-ES" sz="11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736" marR="67736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" sz="1100" b="1" dirty="0">
                          <a:solidFill>
                            <a:schemeClr val="tx1"/>
                          </a:solidFill>
                          <a:effectLst/>
                        </a:rPr>
                        <a:t>0,63</a:t>
                      </a:r>
                      <a:endParaRPr lang="es-ES" sz="11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736" marR="67736" marT="0" marB="0">
                    <a:lnL w="12700" cmpd="sng">
                      <a:noFill/>
                    </a:lnL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" sz="1100" b="1" dirty="0">
                          <a:effectLst/>
                        </a:rPr>
                        <a:t>0,035</a:t>
                      </a:r>
                      <a:endParaRPr lang="es-ES" sz="11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736" marR="67736" marT="0" marB="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" sz="1100" b="1" dirty="0">
                          <a:effectLst/>
                        </a:rPr>
                        <a:t>0,07</a:t>
                      </a:r>
                      <a:endParaRPr lang="es-ES" sz="11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736" marR="67736" marT="0" marB="0"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" sz="1100" b="1" dirty="0">
                          <a:effectLst/>
                        </a:rPr>
                        <a:t>0,14</a:t>
                      </a:r>
                      <a:endParaRPr lang="es-ES" sz="11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736" marR="67736" marT="0" marB="0"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" sz="1100" b="1" dirty="0">
                          <a:solidFill>
                            <a:schemeClr val="tx1"/>
                          </a:solidFill>
                          <a:effectLst/>
                        </a:rPr>
                        <a:t>0,35</a:t>
                      </a:r>
                      <a:endParaRPr lang="es-ES" sz="11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736" marR="67736" marT="0" marB="0"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" sz="1100" b="1" dirty="0">
                          <a:solidFill>
                            <a:schemeClr val="tx1"/>
                          </a:solidFill>
                          <a:effectLst/>
                        </a:rPr>
                        <a:t>0,63</a:t>
                      </a:r>
                      <a:endParaRPr lang="es-ES" sz="11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736" marR="67736" marT="0" marB="0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014873"/>
                  </a:ext>
                </a:extLst>
              </a:tr>
              <a:tr h="495995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" sz="1100">
                          <a:effectLst/>
                        </a:rPr>
                        <a:t>0,5</a:t>
                      </a:r>
                      <a:endParaRPr lang="es-E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736" marR="6773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" sz="1100" b="1" dirty="0">
                          <a:solidFill>
                            <a:schemeClr val="tx1"/>
                          </a:solidFill>
                          <a:effectLst/>
                        </a:rPr>
                        <a:t>0,025</a:t>
                      </a:r>
                      <a:endParaRPr lang="es-ES" sz="11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736" marR="67736" marT="0" marB="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" sz="1100" b="1" dirty="0">
                          <a:effectLst/>
                        </a:rPr>
                        <a:t>0,05</a:t>
                      </a:r>
                      <a:endParaRPr lang="es-ES" sz="11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736" marR="67736" marT="0" marB="0"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" sz="1100" b="1" dirty="0">
                          <a:effectLst/>
                        </a:rPr>
                        <a:t>0,1</a:t>
                      </a:r>
                      <a:endParaRPr lang="es-ES" sz="11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736" marR="67736" marT="0" marB="0">
                    <a:lnR w="12700" cmpd="sng">
                      <a:noFill/>
                    </a:ln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" sz="1100" b="1" dirty="0">
                          <a:solidFill>
                            <a:schemeClr val="tx1"/>
                          </a:solidFill>
                          <a:effectLst/>
                        </a:rPr>
                        <a:t>0,25</a:t>
                      </a:r>
                      <a:endParaRPr lang="es-ES" sz="11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736" marR="67736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" sz="1100" b="1" dirty="0">
                          <a:solidFill>
                            <a:schemeClr val="tx1"/>
                          </a:solidFill>
                          <a:effectLst/>
                        </a:rPr>
                        <a:t>0,45</a:t>
                      </a:r>
                      <a:endParaRPr lang="es-ES" sz="11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736" marR="67736" marT="0" marB="0">
                    <a:lnL w="12700" cmpd="sng">
                      <a:noFill/>
                    </a:lnL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" sz="1100" b="1" dirty="0">
                          <a:solidFill>
                            <a:schemeClr val="tx1"/>
                          </a:solidFill>
                          <a:effectLst/>
                        </a:rPr>
                        <a:t>0,025</a:t>
                      </a:r>
                      <a:endParaRPr lang="es-ES" sz="11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736" marR="67736" marT="0" marB="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" sz="1100" b="1" dirty="0">
                          <a:solidFill>
                            <a:schemeClr val="tx1"/>
                          </a:solidFill>
                          <a:effectLst/>
                        </a:rPr>
                        <a:t>0,05</a:t>
                      </a:r>
                      <a:endParaRPr lang="es-ES" sz="11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736" marR="67736" marT="0" marB="0"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" sz="1100" b="1" dirty="0">
                          <a:effectLst/>
                        </a:rPr>
                        <a:t>0,1</a:t>
                      </a:r>
                      <a:endParaRPr lang="es-ES" sz="11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736" marR="67736" marT="0" marB="0"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" sz="1100" b="1" dirty="0">
                          <a:solidFill>
                            <a:schemeClr val="tx1"/>
                          </a:solidFill>
                          <a:effectLst/>
                        </a:rPr>
                        <a:t>0,25</a:t>
                      </a:r>
                      <a:endParaRPr lang="es-ES" sz="11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736" marR="67736" marT="0" marB="0"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" sz="1100" b="1" dirty="0">
                          <a:solidFill>
                            <a:schemeClr val="tx1"/>
                          </a:solidFill>
                          <a:effectLst/>
                        </a:rPr>
                        <a:t>0,45</a:t>
                      </a:r>
                      <a:endParaRPr lang="es-ES" sz="11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736" marR="67736" marT="0" marB="0">
                    <a:solidFill>
                      <a:srgbClr val="FF9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7698856"/>
                  </a:ext>
                </a:extLst>
              </a:tr>
              <a:tr h="461954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" sz="1100" dirty="0">
                          <a:effectLst/>
                        </a:rPr>
                        <a:t>0,3</a:t>
                      </a:r>
                      <a:endParaRPr lang="es-E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736" marR="6773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" sz="1100" b="1">
                          <a:effectLst/>
                        </a:rPr>
                        <a:t>0,015</a:t>
                      </a:r>
                      <a:endParaRPr lang="es-ES" sz="11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736" marR="67736" marT="0" marB="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" sz="1100" b="1">
                          <a:effectLst/>
                        </a:rPr>
                        <a:t>0,03</a:t>
                      </a:r>
                      <a:endParaRPr lang="es-ES" sz="11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736" marR="67736" marT="0" marB="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" sz="1100" b="1" dirty="0">
                          <a:effectLst/>
                        </a:rPr>
                        <a:t>0,06</a:t>
                      </a:r>
                      <a:endParaRPr lang="es-ES" sz="11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736" marR="67736" marT="0" marB="0"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" sz="1100" b="1" dirty="0">
                          <a:effectLst/>
                        </a:rPr>
                        <a:t>0,15</a:t>
                      </a:r>
                      <a:endParaRPr lang="es-ES" sz="11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736" marR="67736" marT="0" marB="0">
                    <a:lnT w="12700" cmpd="sng">
                      <a:noFill/>
                    </a:lnT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" sz="1100" b="1" dirty="0">
                          <a:solidFill>
                            <a:schemeClr val="tx1"/>
                          </a:solidFill>
                          <a:effectLst/>
                        </a:rPr>
                        <a:t>0,27</a:t>
                      </a:r>
                      <a:endParaRPr lang="es-ES" sz="11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736" marR="67736" marT="0" marB="0"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" sz="1100" b="1" dirty="0">
                          <a:solidFill>
                            <a:schemeClr val="tx1"/>
                          </a:solidFill>
                          <a:effectLst/>
                        </a:rPr>
                        <a:t>0,015</a:t>
                      </a:r>
                      <a:endParaRPr lang="es-ES" sz="11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736" marR="67736" marT="0" marB="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" sz="1100" b="1" dirty="0">
                          <a:solidFill>
                            <a:schemeClr val="tx1"/>
                          </a:solidFill>
                          <a:effectLst/>
                        </a:rPr>
                        <a:t>0,03</a:t>
                      </a:r>
                      <a:endParaRPr lang="es-ES" sz="11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736" marR="67736" marT="0" marB="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" sz="1100" b="1" dirty="0">
                          <a:effectLst/>
                        </a:rPr>
                        <a:t>0,06</a:t>
                      </a:r>
                      <a:endParaRPr lang="es-ES" sz="11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736" marR="67736" marT="0" marB="0"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" sz="1100" b="1" dirty="0">
                          <a:effectLst/>
                          <a:highlight>
                            <a:srgbClr val="FFFF66"/>
                          </a:highlight>
                        </a:rPr>
                        <a:t>0,15</a:t>
                      </a:r>
                      <a:endParaRPr lang="es-ES" sz="1100" b="1" dirty="0">
                        <a:effectLst/>
                        <a:highlight>
                          <a:srgbClr val="FFFF66"/>
                        </a:highlight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736" marR="67736" marT="0" marB="0"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" sz="1100" b="1" dirty="0">
                          <a:solidFill>
                            <a:schemeClr val="tx1"/>
                          </a:solidFill>
                          <a:effectLst/>
                        </a:rPr>
                        <a:t>0,27</a:t>
                      </a:r>
                      <a:endParaRPr lang="es-ES" sz="11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736" marR="67736" marT="0" marB="0">
                    <a:solidFill>
                      <a:srgbClr val="FF9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9722483"/>
                  </a:ext>
                </a:extLst>
              </a:tr>
              <a:tr h="495995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" sz="1100">
                          <a:effectLst/>
                        </a:rPr>
                        <a:t>0,1</a:t>
                      </a:r>
                      <a:endParaRPr lang="es-E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736" marR="6773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" sz="1100" b="1">
                          <a:effectLst/>
                        </a:rPr>
                        <a:t>0,005</a:t>
                      </a:r>
                      <a:endParaRPr lang="es-ES" sz="11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736" marR="67736" marT="0" marB="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" sz="1100" b="1">
                          <a:effectLst/>
                        </a:rPr>
                        <a:t>0,01</a:t>
                      </a:r>
                      <a:endParaRPr lang="es-ES" sz="11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736" marR="67736" marT="0" marB="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" sz="1100" b="1" dirty="0">
                          <a:effectLst/>
                        </a:rPr>
                        <a:t>0,02</a:t>
                      </a:r>
                      <a:endParaRPr lang="es-ES" sz="11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736" marR="67736" marT="0" marB="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" sz="1100" b="1" dirty="0">
                          <a:effectLst/>
                        </a:rPr>
                        <a:t>0,05</a:t>
                      </a:r>
                      <a:endParaRPr lang="es-ES" sz="11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736" marR="67736" marT="0" marB="0"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" sz="1100" b="1" dirty="0">
                          <a:effectLst/>
                        </a:rPr>
                        <a:t>0,09</a:t>
                      </a:r>
                      <a:endParaRPr lang="es-ES" sz="11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736" marR="67736" marT="0" marB="0"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" sz="1100" b="1" dirty="0">
                          <a:solidFill>
                            <a:schemeClr val="tx1"/>
                          </a:solidFill>
                          <a:effectLst/>
                        </a:rPr>
                        <a:t>0,005</a:t>
                      </a:r>
                      <a:endParaRPr lang="es-ES" sz="11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736" marR="67736" marT="0" marB="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" sz="1100" b="1" dirty="0">
                          <a:solidFill>
                            <a:schemeClr val="tx1"/>
                          </a:solidFill>
                          <a:effectLst/>
                        </a:rPr>
                        <a:t>0,01</a:t>
                      </a:r>
                      <a:endParaRPr lang="es-ES" sz="11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736" marR="67736" marT="0" marB="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" sz="1100" b="1" dirty="0">
                          <a:effectLst/>
                        </a:rPr>
                        <a:t>0,02</a:t>
                      </a:r>
                      <a:endParaRPr lang="es-ES" sz="11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736" marR="67736" marT="0" marB="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" sz="1100" b="1" dirty="0">
                          <a:effectLst/>
                          <a:highlight>
                            <a:srgbClr val="FFFF66"/>
                          </a:highlight>
                        </a:rPr>
                        <a:t>0,05</a:t>
                      </a:r>
                      <a:endParaRPr lang="es-ES" sz="1100" b="1" dirty="0">
                        <a:effectLst/>
                        <a:highlight>
                          <a:srgbClr val="FFFF66"/>
                        </a:highlight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736" marR="67736" marT="0" marB="0"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" sz="1100" b="1" dirty="0">
                          <a:effectLst/>
                        </a:rPr>
                        <a:t>0,09</a:t>
                      </a:r>
                      <a:endParaRPr lang="es-ES" sz="11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736" marR="67736" marT="0" marB="0"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1866140"/>
                  </a:ext>
                </a:extLst>
              </a:tr>
              <a:tr h="991991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" sz="1100" dirty="0">
                          <a:effectLst/>
                        </a:rPr>
                        <a:t>Impacto</a:t>
                      </a:r>
                      <a:endParaRPr lang="es-E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736" marR="6773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" sz="1100" dirty="0">
                          <a:effectLst/>
                        </a:rPr>
                        <a:t>5%/Muy bajo</a:t>
                      </a:r>
                      <a:endParaRPr lang="es-E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736" marR="6773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" sz="1100">
                          <a:effectLst/>
                        </a:rPr>
                        <a:t>10%/ Bajo</a:t>
                      </a:r>
                      <a:endParaRPr lang="es-E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736" marR="6773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" sz="1100">
                          <a:effectLst/>
                        </a:rPr>
                        <a:t>20%/ Moderado</a:t>
                      </a:r>
                      <a:endParaRPr lang="es-E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736" marR="6773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" sz="1100" dirty="0">
                          <a:effectLst/>
                        </a:rPr>
                        <a:t>50%/ Alto</a:t>
                      </a:r>
                      <a:endParaRPr lang="es-E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736" marR="6773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" sz="1100" dirty="0">
                          <a:effectLst/>
                        </a:rPr>
                        <a:t>90%/ Crítico</a:t>
                      </a:r>
                      <a:endParaRPr lang="es-E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736" marR="6773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" sz="1100">
                          <a:effectLst/>
                        </a:rPr>
                        <a:t>5%/Muy bajo</a:t>
                      </a:r>
                      <a:endParaRPr lang="es-E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736" marR="6773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" sz="1100" dirty="0">
                          <a:effectLst/>
                        </a:rPr>
                        <a:t>10%/ Bajo</a:t>
                      </a:r>
                      <a:endParaRPr lang="es-E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736" marR="6773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" sz="1100" dirty="0">
                          <a:effectLst/>
                        </a:rPr>
                        <a:t>20%/ Moderado</a:t>
                      </a:r>
                      <a:endParaRPr lang="es-E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736" marR="6773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" sz="1100" dirty="0">
                          <a:effectLst/>
                        </a:rPr>
                        <a:t>50%/ Alto</a:t>
                      </a:r>
                      <a:endParaRPr lang="es-E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736" marR="67736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" sz="1100" dirty="0">
                          <a:effectLst/>
                        </a:rPr>
                        <a:t>90%/ Crítico</a:t>
                      </a:r>
                      <a:endParaRPr lang="es-E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736" marR="67736" marT="0" marB="0"/>
                </a:tc>
                <a:extLst>
                  <a:ext uri="{0D108BD9-81ED-4DB2-BD59-A6C34878D82A}">
                    <a16:rowId xmlns:a16="http://schemas.microsoft.com/office/drawing/2014/main" val="4099121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79047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55707" y="609600"/>
            <a:ext cx="6935339" cy="709749"/>
          </a:xfrm>
        </p:spPr>
        <p:txBody>
          <a:bodyPr>
            <a:noAutofit/>
          </a:bodyPr>
          <a:lstStyle/>
          <a:p>
            <a:r>
              <a:rPr lang="es-ES_tradnl" sz="4000" dirty="0"/>
              <a:t>Riesgos identificados</a:t>
            </a:r>
            <a:endParaRPr lang="es-ES" sz="2400" dirty="0"/>
          </a:p>
        </p:txBody>
      </p:sp>
      <p:sp>
        <p:nvSpPr>
          <p:cNvPr id="5" name="Marcador de contenido 4"/>
          <p:cNvSpPr>
            <a:spLocks noGrp="1"/>
          </p:cNvSpPr>
          <p:nvPr>
            <p:ph idx="1"/>
          </p:nvPr>
        </p:nvSpPr>
        <p:spPr>
          <a:xfrm>
            <a:off x="609599" y="1521070"/>
            <a:ext cx="6969370" cy="4885418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arenR"/>
            </a:pPr>
            <a:r>
              <a:rPr lang="es-ES" b="1" dirty="0"/>
              <a:t>Las localizaciones de los nodos pueden ser conflictivas: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s-ES" dirty="0"/>
              <a:t>Amenaza externa asociada a las condiciones ambientales del proyecto.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s-ES" dirty="0"/>
              <a:t>Posibles repercusiones en el tiempo de diseño de la red, en los costes, la calidad y el alcance del proyecto: riesgo con impacto alto.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s-ES" dirty="0"/>
              <a:t>Probabilidad del </a:t>
            </a:r>
            <a:r>
              <a:rPr lang="es-ES" b="1" dirty="0"/>
              <a:t>90% </a:t>
            </a:r>
            <a:r>
              <a:rPr lang="es-ES" dirty="0"/>
              <a:t>e impacto de </a:t>
            </a:r>
            <a:r>
              <a:rPr lang="es-ES" b="1" dirty="0"/>
              <a:t>30%</a:t>
            </a:r>
            <a:r>
              <a:rPr lang="es-ES" dirty="0"/>
              <a:t> (</a:t>
            </a:r>
            <a:r>
              <a:rPr lang="es-ES" b="1" dirty="0">
                <a:solidFill>
                  <a:schemeClr val="tx1"/>
                </a:solidFill>
              </a:rPr>
              <a:t>0,27 </a:t>
            </a:r>
            <a:r>
              <a:rPr lang="es-E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de</a:t>
            </a:r>
            <a:r>
              <a:rPr lang="es-ES" dirty="0"/>
              <a:t> valoración)</a:t>
            </a:r>
          </a:p>
          <a:p>
            <a:pPr marL="0" indent="0">
              <a:buNone/>
            </a:pPr>
            <a:r>
              <a:rPr lang="es-ES" b="1" dirty="0">
                <a:solidFill>
                  <a:schemeClr val="accent1"/>
                </a:solidFill>
              </a:rPr>
              <a:t>Plan de acción: </a:t>
            </a:r>
            <a:r>
              <a:rPr lang="es-ES" b="1" dirty="0"/>
              <a:t>Ofrecer privilegios en el acceso a los nuevos servicios para mejorar la predisposición para colaborar.</a:t>
            </a:r>
          </a:p>
          <a:p>
            <a:pPr lvl="5">
              <a:buFont typeface="Wingdings" panose="05000000000000000000" pitchFamily="2" charset="2"/>
              <a:buChar char="Ø"/>
            </a:pPr>
            <a:endParaRPr lang="es-ES" dirty="0"/>
          </a:p>
          <a:p>
            <a:pPr lvl="5">
              <a:buFont typeface="Wingdings" panose="05000000000000000000" pitchFamily="2" charset="2"/>
              <a:buChar char="Ø"/>
            </a:pPr>
            <a:endParaRPr lang="es-ES" dirty="0"/>
          </a:p>
          <a:p>
            <a:pPr lvl="6">
              <a:buFont typeface="Wingdings" panose="05000000000000000000" pitchFamily="2" charset="2"/>
              <a:buChar char="Ø"/>
            </a:pPr>
            <a:r>
              <a:rPr lang="es-ES" sz="1600" dirty="0"/>
              <a:t>Preparar un equipo negociador.</a:t>
            </a:r>
          </a:p>
          <a:p>
            <a:pPr lvl="6">
              <a:buFont typeface="Wingdings" panose="05000000000000000000" pitchFamily="2" charset="2"/>
              <a:buChar char="Ø"/>
            </a:pPr>
            <a:r>
              <a:rPr lang="es-ES" sz="1600" dirty="0"/>
              <a:t>Colaborar en paralelo con Telefónica.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>
          <a:xfrm>
            <a:off x="7661429" y="82973"/>
            <a:ext cx="1275605" cy="1053253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18</a:t>
            </a:fld>
            <a:r>
              <a:rPr lang="en-US" dirty="0"/>
              <a:t>/22</a:t>
            </a:r>
          </a:p>
        </p:txBody>
      </p:sp>
      <p:pic>
        <p:nvPicPr>
          <p:cNvPr id="7" name="Imagen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99" y="4661827"/>
            <a:ext cx="2247200" cy="1744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52133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755374"/>
          </a:xfrm>
        </p:spPr>
        <p:txBody>
          <a:bodyPr>
            <a:normAutofit/>
          </a:bodyPr>
          <a:lstStyle/>
          <a:p>
            <a:r>
              <a:rPr lang="es-ES" sz="4000" dirty="0"/>
              <a:t>Riesgos identificados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609599" y="1563758"/>
            <a:ext cx="7723368" cy="4477606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arenR"/>
            </a:pPr>
            <a:r>
              <a:rPr lang="es-ES" sz="2000" b="1" dirty="0"/>
              <a:t>Problemas con empresas subcontratadas y proveedores: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s-ES" sz="1800" dirty="0"/>
              <a:t>Amenaza externa asociada a proveedores y empresas subcontratadas.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s-ES" sz="1800" dirty="0"/>
              <a:t>Repercusión en los tiempos y costes estimados para el proyecto: </a:t>
            </a:r>
            <a:r>
              <a:rPr lang="es-ES" sz="1800" b="1" dirty="0">
                <a:solidFill>
                  <a:schemeClr val="tx1"/>
                </a:solidFill>
              </a:rPr>
              <a:t>Riesgo moderado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s-ES" sz="1800" dirty="0"/>
              <a:t>Probabilidad del </a:t>
            </a:r>
            <a:r>
              <a:rPr lang="es-ES" sz="1800" b="1" dirty="0"/>
              <a:t>10% </a:t>
            </a:r>
            <a:r>
              <a:rPr lang="es-ES" sz="1800" dirty="0"/>
              <a:t>e impacto de </a:t>
            </a:r>
            <a:r>
              <a:rPr lang="es-ES" sz="1800" b="1" dirty="0"/>
              <a:t>85%</a:t>
            </a:r>
            <a:r>
              <a:rPr lang="es-ES" sz="1800" dirty="0"/>
              <a:t> (</a:t>
            </a:r>
            <a:r>
              <a:rPr lang="es-ES" sz="1800" b="1" dirty="0">
                <a:solidFill>
                  <a:schemeClr val="tx1"/>
                </a:solidFill>
              </a:rPr>
              <a:t>0,085</a:t>
            </a:r>
            <a:r>
              <a:rPr lang="es-ES" sz="1800" dirty="0"/>
              <a:t> de valoración)</a:t>
            </a:r>
            <a:endParaRPr lang="es-ES" sz="1800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s-ES" sz="2000" b="1" dirty="0">
                <a:solidFill>
                  <a:schemeClr val="accent1"/>
                </a:solidFill>
              </a:rPr>
              <a:t>Plan de acción: </a:t>
            </a:r>
            <a:r>
              <a:rPr lang="es-ES" sz="2000" b="1" dirty="0"/>
              <a:t>Selección de colaboradores de calidad y firma de contratos que contemplen complicaciones: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s-ES" sz="1800" dirty="0"/>
              <a:t>Estudio detallado de proveedores y empresas disponibles.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s-ES" sz="1800" dirty="0"/>
              <a:t>Se incluirán cláusulas que contemplen compensaciones en caso de incumplimientos.</a:t>
            </a:r>
          </a:p>
          <a:p>
            <a:pPr lvl="1">
              <a:buFont typeface="Wingdings" panose="05000000000000000000" pitchFamily="2" charset="2"/>
              <a:buChar char="Ø"/>
            </a:pPr>
            <a:endParaRPr lang="es-ES" sz="1800" dirty="0"/>
          </a:p>
          <a:p>
            <a:pPr marL="457200" lvl="1" indent="0">
              <a:buNone/>
            </a:pPr>
            <a:endParaRPr lang="es-ES" sz="1800" dirty="0"/>
          </a:p>
          <a:p>
            <a:pPr lvl="1">
              <a:buFont typeface="Wingdings" panose="05000000000000000000" pitchFamily="2" charset="2"/>
              <a:buChar char="Ø"/>
            </a:pPr>
            <a:endParaRPr lang="es-ES" sz="1800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19</a:t>
            </a:fld>
            <a:r>
              <a:rPr lang="en-US" dirty="0"/>
              <a:t>/22</a:t>
            </a:r>
          </a:p>
        </p:txBody>
      </p:sp>
      <p:pic>
        <p:nvPicPr>
          <p:cNvPr id="5" name="Picture 2" descr="Resultado de imagen de convenio colectivo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6106" y="5533445"/>
            <a:ext cx="3268856" cy="13245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1370508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181225" y="609600"/>
            <a:ext cx="4774277" cy="702365"/>
          </a:xfrm>
        </p:spPr>
        <p:txBody>
          <a:bodyPr>
            <a:normAutofit/>
          </a:bodyPr>
          <a:lstStyle/>
          <a:p>
            <a:r>
              <a:rPr lang="es-ES"/>
              <a:t>Riesgos identificados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422030" y="1848296"/>
            <a:ext cx="7239399" cy="4825066"/>
          </a:xfrm>
        </p:spPr>
        <p:txBody>
          <a:bodyPr>
            <a:normAutofit/>
          </a:bodyPr>
          <a:lstStyle/>
          <a:p>
            <a:pPr marL="457200" indent="-457200">
              <a:lnSpc>
                <a:spcPct val="90000"/>
              </a:lnSpc>
              <a:buFont typeface="+mj-lt"/>
              <a:buAutoNum type="arabicParenR"/>
            </a:pPr>
            <a:r>
              <a:rPr lang="es-ES" b="1" dirty="0"/>
              <a:t>La política de contratación de </a:t>
            </a:r>
            <a:r>
              <a:rPr lang="es-ES" b="1" dirty="0" err="1"/>
              <a:t>Donatel</a:t>
            </a:r>
            <a:r>
              <a:rPr lang="es-ES" b="1" dirty="0"/>
              <a:t> fomentará la inclusión de personal joven sin necesidad de experiencia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s-ES" sz="1700" dirty="0"/>
              <a:t>Riesgo de la organización asociado a los recursos humanos.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s-ES" sz="1700" dirty="0"/>
              <a:t>Repercusión probable en todos los posibles aspectos del despliegue: riesgo alto.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s-ES" sz="1800" dirty="0"/>
              <a:t>Probabilidad del </a:t>
            </a:r>
            <a:r>
              <a:rPr lang="es-ES" sz="1800" b="1" dirty="0"/>
              <a:t>90% </a:t>
            </a:r>
            <a:r>
              <a:rPr lang="es-ES" sz="1800" dirty="0"/>
              <a:t>e impacto de </a:t>
            </a:r>
            <a:r>
              <a:rPr lang="es-ES" sz="1800" b="1" dirty="0"/>
              <a:t>25%</a:t>
            </a:r>
            <a:r>
              <a:rPr lang="es-ES" sz="1800" dirty="0"/>
              <a:t> (</a:t>
            </a:r>
            <a:r>
              <a:rPr lang="es-ES" sz="1800" b="1" dirty="0">
                <a:solidFill>
                  <a:schemeClr val="tx1"/>
                </a:solidFill>
              </a:rPr>
              <a:t>0,225 </a:t>
            </a:r>
            <a:r>
              <a:rPr lang="es-ES" sz="18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de</a:t>
            </a:r>
            <a:r>
              <a:rPr lang="es-ES" sz="1800" dirty="0"/>
              <a:t> valoración)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Char char="Ø"/>
            </a:pPr>
            <a:endParaRPr lang="es-ES" sz="1700" dirty="0"/>
          </a:p>
          <a:p>
            <a:pPr marL="0" indent="0">
              <a:lnSpc>
                <a:spcPct val="90000"/>
              </a:lnSpc>
              <a:buNone/>
            </a:pPr>
            <a:r>
              <a:rPr lang="es-ES" b="1" dirty="0">
                <a:solidFill>
                  <a:schemeClr val="accent1"/>
                </a:solidFill>
              </a:rPr>
              <a:t>Plan de acción: </a:t>
            </a:r>
            <a:r>
              <a:rPr lang="es-ES" b="1" dirty="0"/>
              <a:t>Control de las tareas desarrolladas por el personal joven: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s-ES" sz="1700" dirty="0"/>
              <a:t>Supervisión de las tareas ejecutadas por las nuevas contrataciones.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s-ES" sz="1700" dirty="0"/>
              <a:t>Formación del nuevo personal siempre que el periodo de formación no exceda el 10% del tiempo de la tarea.</a:t>
            </a:r>
          </a:p>
          <a:p>
            <a:pPr>
              <a:lnSpc>
                <a:spcPct val="90000"/>
              </a:lnSpc>
            </a:pPr>
            <a:endParaRPr lang="es-ES" sz="1700" dirty="0"/>
          </a:p>
          <a:p>
            <a:pPr>
              <a:lnSpc>
                <a:spcPct val="90000"/>
              </a:lnSpc>
            </a:pPr>
            <a:endParaRPr lang="es-ES" sz="1700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6444676" y="6041363"/>
            <a:ext cx="512638" cy="365125"/>
          </a:xfrm>
        </p:spPr>
        <p:txBody>
          <a:bodyPr>
            <a:normAutofit/>
          </a:bodyPr>
          <a:lstStyle/>
          <a:p>
            <a:pPr>
              <a:lnSpc>
                <a:spcPct val="80000"/>
              </a:lnSpc>
            </a:pPr>
            <a:fld id="{D57F1E4F-1CFF-5643-939E-217C01CDF565}" type="slidenum">
              <a:rPr lang="en-US" sz="1100" smtClean="0"/>
              <a:pPr>
                <a:lnSpc>
                  <a:spcPct val="80000"/>
                </a:lnSpc>
              </a:pPr>
              <a:t>20</a:t>
            </a:fld>
            <a:r>
              <a:rPr lang="en-US" sz="1100"/>
              <a:t>/17</a:t>
            </a:r>
          </a:p>
        </p:txBody>
      </p:sp>
      <p:sp>
        <p:nvSpPr>
          <p:cNvPr id="7" name="Marcador de número de diapositiva 5"/>
          <p:cNvSpPr txBox="1">
            <a:spLocks/>
          </p:cNvSpPr>
          <p:nvPr/>
        </p:nvSpPr>
        <p:spPr>
          <a:xfrm>
            <a:off x="7661429" y="82973"/>
            <a:ext cx="1275605" cy="10532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mtClean="0"/>
              <a:pPr/>
              <a:t>20</a:t>
            </a:fld>
            <a:r>
              <a:rPr lang="en-US" dirty="0"/>
              <a:t>/22</a:t>
            </a:r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0203" y="3247223"/>
            <a:ext cx="1786831" cy="2027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33841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599" y="357810"/>
            <a:ext cx="6347713" cy="901148"/>
          </a:xfrm>
        </p:spPr>
        <p:txBody>
          <a:bodyPr>
            <a:normAutofit/>
          </a:bodyPr>
          <a:lstStyle/>
          <a:p>
            <a:r>
              <a:rPr lang="es-ES" sz="3800" dirty="0"/>
              <a:t>Oportunidades identificadas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609599" y="1258958"/>
            <a:ext cx="6944141" cy="4769154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arenR"/>
            </a:pPr>
            <a:r>
              <a:rPr lang="es-ES" sz="2000" b="1" dirty="0"/>
              <a:t>Captación de nuevos inversores al proyecto: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s-ES" sz="1800" dirty="0"/>
              <a:t>Oportunidad debido al atractivo tecnológico del proyecto.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s-ES" sz="1800" dirty="0"/>
              <a:t>Previsible impacto económico, en la calidad y en el alcance del proyecto.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s-ES" sz="1800" dirty="0"/>
              <a:t>Probabilidad del </a:t>
            </a:r>
            <a:r>
              <a:rPr lang="es-ES" sz="1800" b="1" dirty="0"/>
              <a:t>50% </a:t>
            </a:r>
            <a:r>
              <a:rPr lang="es-ES" sz="1800" dirty="0"/>
              <a:t>e impacto de </a:t>
            </a:r>
            <a:r>
              <a:rPr lang="es-ES" sz="1800" b="1" dirty="0"/>
              <a:t>50%</a:t>
            </a:r>
            <a:r>
              <a:rPr lang="es-ES" sz="1800" dirty="0"/>
              <a:t> (</a:t>
            </a:r>
            <a:r>
              <a:rPr lang="es-ES" sz="1800" b="1" dirty="0">
                <a:solidFill>
                  <a:schemeClr val="tx1"/>
                </a:solidFill>
              </a:rPr>
              <a:t>0,25</a:t>
            </a:r>
            <a:r>
              <a:rPr lang="es-ES" sz="1800" dirty="0"/>
              <a:t> de valoración)</a:t>
            </a:r>
          </a:p>
          <a:p>
            <a:pPr marL="0" indent="0">
              <a:buNone/>
            </a:pPr>
            <a:r>
              <a:rPr lang="es-ES" sz="2000" b="1" dirty="0">
                <a:solidFill>
                  <a:schemeClr val="accent1"/>
                </a:solidFill>
              </a:rPr>
              <a:t>Plan de acción: </a:t>
            </a:r>
            <a:r>
              <a:rPr lang="es-ES" sz="2000" b="1" dirty="0"/>
              <a:t>Estimular el posible interés de nuevos inversores: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s-ES" sz="1800" dirty="0"/>
              <a:t>Implicación de los departamentos de comunicación y comercial en tareas de promoción.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s-ES" sz="1800" dirty="0"/>
              <a:t>La promoción mejorará también el número de clientes una vez desplegado el servicio</a:t>
            </a:r>
          </a:p>
          <a:p>
            <a:pPr lvl="1">
              <a:buFont typeface="Wingdings" panose="05000000000000000000" pitchFamily="2" charset="2"/>
              <a:buChar char="Ø"/>
            </a:pPr>
            <a:endParaRPr lang="es-ES" sz="1800" dirty="0"/>
          </a:p>
          <a:p>
            <a:pPr marL="457200" lvl="1" indent="0">
              <a:buNone/>
            </a:pPr>
            <a:endParaRPr lang="es-ES" sz="1800" dirty="0">
              <a:solidFill>
                <a:srgbClr val="FF000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s-ES" dirty="0"/>
          </a:p>
          <a:p>
            <a:endParaRPr lang="es-ES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7661429" y="82973"/>
            <a:ext cx="1275605" cy="1053253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21</a:t>
            </a:fld>
            <a:r>
              <a:rPr lang="en-US" dirty="0"/>
              <a:t>/22</a:t>
            </a:r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4169" y="5538610"/>
            <a:ext cx="2867025" cy="139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963557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3800" dirty="0"/>
              <a:t>Oportunidades identificadas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609598" y="1616766"/>
            <a:ext cx="6347714" cy="4411346"/>
          </a:xfrm>
        </p:spPr>
        <p:txBody>
          <a:bodyPr>
            <a:normAutofit lnSpcReduction="10000"/>
          </a:bodyPr>
          <a:lstStyle/>
          <a:p>
            <a:pPr marL="457200" indent="-457200">
              <a:buFont typeface="+mj-lt"/>
              <a:buAutoNum type="arabicParenR"/>
            </a:pPr>
            <a:r>
              <a:rPr lang="es-ES" sz="2000" b="1" dirty="0"/>
              <a:t>Inclusión de personal joven puede mejorar el ambiente de la empresa: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s-ES" sz="1800" dirty="0"/>
              <a:t>Oportunidad asociada a los recursos de la empresa.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s-ES" sz="1800" dirty="0"/>
              <a:t>Incorporación de personal con ganas de crecer profesionalmente y con nuevas ideas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s-ES" sz="1800" dirty="0"/>
              <a:t>Previsibles mejoras de los resultados finales (calidad y alcance del proyecto)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s-ES" sz="1800" dirty="0"/>
              <a:t>Probabilidad del </a:t>
            </a:r>
            <a:r>
              <a:rPr lang="es-ES" sz="1800" b="1" dirty="0"/>
              <a:t>90% </a:t>
            </a:r>
            <a:r>
              <a:rPr lang="es-ES" sz="1800" dirty="0"/>
              <a:t>e impacto de </a:t>
            </a:r>
            <a:r>
              <a:rPr lang="es-ES" sz="1800" b="1" dirty="0"/>
              <a:t>10%</a:t>
            </a:r>
            <a:r>
              <a:rPr lang="es-ES" sz="1800" dirty="0"/>
              <a:t> (</a:t>
            </a:r>
            <a:r>
              <a:rPr lang="es-ES" sz="1800" b="1" dirty="0">
                <a:solidFill>
                  <a:schemeClr val="tx1"/>
                </a:solidFill>
              </a:rPr>
              <a:t>0,09 </a:t>
            </a:r>
            <a:r>
              <a:rPr lang="es-ES" sz="1800" dirty="0">
                <a:solidFill>
                  <a:schemeClr val="bg2">
                    <a:lumMod val="25000"/>
                  </a:schemeClr>
                </a:solidFill>
              </a:rPr>
              <a:t>de</a:t>
            </a:r>
            <a:r>
              <a:rPr lang="es-ES" sz="1800" dirty="0"/>
              <a:t> valoración)</a:t>
            </a:r>
          </a:p>
          <a:p>
            <a:pPr marL="0" indent="0">
              <a:buNone/>
            </a:pPr>
            <a:r>
              <a:rPr lang="es-ES" sz="2000" b="1" dirty="0">
                <a:solidFill>
                  <a:schemeClr val="accent1"/>
                </a:solidFill>
              </a:rPr>
              <a:t>Plan de acción: </a:t>
            </a:r>
            <a:r>
              <a:rPr lang="es-ES" sz="2000" b="1" dirty="0"/>
              <a:t>Mantener motivado al personal: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s-ES" sz="1800" dirty="0"/>
              <a:t>Primar la contratación de personal joven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s-ES" sz="1800" dirty="0"/>
              <a:t>Valorar el compromiso de los empleados con incentivos y compensaciones.</a:t>
            </a:r>
          </a:p>
          <a:p>
            <a:pPr lvl="1">
              <a:buFont typeface="Wingdings" panose="05000000000000000000" pitchFamily="2" charset="2"/>
              <a:buChar char="Ø"/>
            </a:pPr>
            <a:endParaRPr lang="es-ES" sz="1800" dirty="0"/>
          </a:p>
          <a:p>
            <a:pPr lvl="1">
              <a:buFont typeface="Wingdings" panose="05000000000000000000" pitchFamily="2" charset="2"/>
              <a:buChar char="Ø"/>
            </a:pPr>
            <a:endParaRPr lang="es-ES" sz="1800" dirty="0"/>
          </a:p>
          <a:p>
            <a:pPr lvl="1">
              <a:buFont typeface="Wingdings" panose="05000000000000000000" pitchFamily="2" charset="2"/>
              <a:buChar char="Ø"/>
            </a:pPr>
            <a:endParaRPr lang="es-ES" sz="1800" dirty="0"/>
          </a:p>
          <a:p>
            <a:pPr lvl="1">
              <a:buFont typeface="Wingdings" panose="05000000000000000000" pitchFamily="2" charset="2"/>
              <a:buChar char="Ø"/>
            </a:pPr>
            <a:endParaRPr lang="es-ES" dirty="0"/>
          </a:p>
          <a:p>
            <a:endParaRPr lang="es-ES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22</a:t>
            </a:fld>
            <a:r>
              <a:rPr lang="en-US" dirty="0"/>
              <a:t>/22</a:t>
            </a:r>
          </a:p>
        </p:txBody>
      </p:sp>
    </p:spTree>
    <p:extLst>
      <p:ext uri="{BB962C8B-B14F-4D97-AF65-F5344CB8AC3E}">
        <p14:creationId xmlns:p14="http://schemas.microsoft.com/office/powerpoint/2010/main" val="1562780513"/>
      </p:ext>
    </p:extLst>
  </p:cSld>
  <p:clrMapOvr>
    <a:masterClrMapping/>
  </p:clrMapOvr>
</p:sld>
</file>

<file path=ppt/theme/theme1.xml><?xml version="1.0" encoding="utf-8"?>
<a:theme xmlns:a="http://schemas.openxmlformats.org/drawingml/2006/main" name="Faceta">
  <a:themeElements>
    <a:clrScheme name="Faceta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a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a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1658</TotalTime>
  <Words>1260</Words>
  <Application>Microsoft Office PowerPoint</Application>
  <PresentationFormat>Presentación en pantalla (4:3)</PresentationFormat>
  <Paragraphs>367</Paragraphs>
  <Slides>22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22</vt:i4>
      </vt:variant>
    </vt:vector>
  </HeadingPairs>
  <TitlesOfParts>
    <vt:vector size="31" baseType="lpstr">
      <vt:lpstr>Arial</vt:lpstr>
      <vt:lpstr>Arial Unicode MS</vt:lpstr>
      <vt:lpstr>Berlin Sans FB</vt:lpstr>
      <vt:lpstr>Calibri</vt:lpstr>
      <vt:lpstr>Times New Roman</vt:lpstr>
      <vt:lpstr>Trebuchet MS</vt:lpstr>
      <vt:lpstr>Wingdings</vt:lpstr>
      <vt:lpstr>Wingdings 3</vt:lpstr>
      <vt:lpstr>Faceta</vt:lpstr>
      <vt:lpstr>DONATEL</vt:lpstr>
      <vt:lpstr>Presentación de PowerPoint</vt:lpstr>
      <vt:lpstr>PLANIFICAR LAS COMUNICACIONES</vt:lpstr>
      <vt:lpstr>PLAN PARA LA GESTIÓN DE LAS COMUNICACIONES (EXTERNAS)</vt:lpstr>
      <vt:lpstr>PLAN PARA LA GESTIÓN DE LAS COMUNICACIONES (EXTERNAS)</vt:lpstr>
      <vt:lpstr>PLAN PARA LA GESTIÓN DE LAS COMUNICACIONES (EXTERNAS)</vt:lpstr>
      <vt:lpstr>PLAN PARA LA GESTIÓN DE LAS COMUNICACIONES (EXTERNAS)</vt:lpstr>
      <vt:lpstr>PLAN PARA LA GESTIÓN DE LAS COMUNICACIONES (INTERNAS)</vt:lpstr>
      <vt:lpstr>PLAN PARA LA GESTIÓN DE LAS COMUNICACIONES (INTERNAS)</vt:lpstr>
      <vt:lpstr>PLAN PARA LA GESTIÓN DE LAS COMUNICACIONES</vt:lpstr>
      <vt:lpstr>Presentación de PowerPoint</vt:lpstr>
      <vt:lpstr>Índice</vt:lpstr>
      <vt:lpstr>Planificar la gestión de riesgos</vt:lpstr>
      <vt:lpstr>Planificar la gestión de riesgos</vt:lpstr>
      <vt:lpstr>Planificar la gestión de riesgos</vt:lpstr>
      <vt:lpstr>Caracterización de los riesgos</vt:lpstr>
      <vt:lpstr>Matriz de probabilidad e impacto</vt:lpstr>
      <vt:lpstr>Riesgos identificados</vt:lpstr>
      <vt:lpstr>Riesgos identificados</vt:lpstr>
      <vt:lpstr>Riesgos identificados</vt:lpstr>
      <vt:lpstr>Oportunidades identificadas</vt:lpstr>
      <vt:lpstr>Oportunidades identificadas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DONATEL</dc:title>
  <dc:creator>Carlos Herranz Perdiguero</dc:creator>
  <cp:lastModifiedBy>Alvaro Saez</cp:lastModifiedBy>
  <cp:revision>139</cp:revision>
  <dcterms:created xsi:type="dcterms:W3CDTF">2016-05-09T08:14:16Z</dcterms:created>
  <dcterms:modified xsi:type="dcterms:W3CDTF">2016-11-25T17:15:13Z</dcterms:modified>
</cp:coreProperties>
</file>