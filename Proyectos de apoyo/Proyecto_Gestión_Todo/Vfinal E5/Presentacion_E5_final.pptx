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8" r:id="rId1"/>
  </p:sldMasterIdLst>
  <p:notesMasterIdLst>
    <p:notesMasterId r:id="rId25"/>
  </p:notesMasterIdLst>
  <p:sldIdLst>
    <p:sldId id="256" r:id="rId2"/>
    <p:sldId id="311" r:id="rId3"/>
    <p:sldId id="312" r:id="rId4"/>
    <p:sldId id="314" r:id="rId5"/>
    <p:sldId id="315" r:id="rId6"/>
    <p:sldId id="316" r:id="rId7"/>
    <p:sldId id="318" r:id="rId8"/>
    <p:sldId id="317" r:id="rId9"/>
    <p:sldId id="319" r:id="rId10"/>
    <p:sldId id="320" r:id="rId11"/>
    <p:sldId id="313" r:id="rId12"/>
    <p:sldId id="321" r:id="rId13"/>
    <p:sldId id="322" r:id="rId14"/>
    <p:sldId id="323" r:id="rId15"/>
    <p:sldId id="324" r:id="rId16"/>
    <p:sldId id="325" r:id="rId17"/>
    <p:sldId id="326" r:id="rId18"/>
    <p:sldId id="327" r:id="rId19"/>
    <p:sldId id="328" r:id="rId20"/>
    <p:sldId id="329" r:id="rId21"/>
    <p:sldId id="330" r:id="rId22"/>
    <p:sldId id="331" r:id="rId23"/>
    <p:sldId id="332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Estilo medio 4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8A107856-5554-42FB-B03E-39F5DBC370BA}" styleName="Estilo medio 4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7" d="100"/>
          <a:sy n="87" d="100"/>
        </p:scale>
        <p:origin x="1358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CD6059-4A3D-40C8-A276-C5FAB0044591}" type="datetimeFigureOut">
              <a:rPr lang="es-ES" smtClean="0"/>
              <a:t>13/12/2016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54970C-BD0D-4214-B863-70E1406ED9C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21899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DD033-17FF-4D72-B5E1-0B78DC7E067F}" type="datetime1">
              <a:rPr lang="en-US" smtClean="0"/>
              <a:t>12/13/2016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176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AF4A2-AF83-45E3-837F-CE10FDB31EA9}" type="datetime1">
              <a:rPr lang="en-US" smtClean="0"/>
              <a:t>12/13/2016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61429" y="82973"/>
            <a:ext cx="1275605" cy="1053253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497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3A194-483E-461E-80FE-2BD549B4ADD9}" type="datetime1">
              <a:rPr lang="en-US" smtClean="0"/>
              <a:t>12/13/2016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16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15865-A7D6-4D1F-B7E2-5AB84E697CA3}" type="datetime1">
              <a:rPr lang="en-US" smtClean="0"/>
              <a:t>12/13/2016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234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34FA6-1710-4793-8298-BC773B7C19D8}" type="datetime1">
              <a:rPr lang="en-US" smtClean="0"/>
              <a:t>12/13/2016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775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E7A0F-E4A7-49C3-8DF8-F870F48B66D5}" type="datetime1">
              <a:rPr lang="en-US" smtClean="0"/>
              <a:t>12/13/2016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5216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D2DCC-8247-444F-A0D2-269D55B5B78D}" type="datetime1">
              <a:rPr lang="en-US" smtClean="0"/>
              <a:t>12/13/2016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81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8A2C4-F673-45C9-8A82-33B2BE14BB49}" type="datetime1">
              <a:rPr lang="en-US" smtClean="0"/>
              <a:t>12/13/2016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988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97388-34A9-4BC8-9F1A-6D3B6A91C74B}" type="datetime1">
              <a:rPr lang="en-US" smtClean="0"/>
              <a:t>12/13/2016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1676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B2EB3-096F-4F6C-A434-D4E89F80B3D3}" type="datetime1">
              <a:rPr lang="en-US" smtClean="0"/>
              <a:t>12/13/2016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5354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94D5F-73BB-4DF4-94BE-15A2531527F2}" type="datetime1">
              <a:rPr lang="en-US" smtClean="0"/>
              <a:t>12/13/2016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880224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A8D01-162F-4DA4-8163-23A7103FD15B}" type="datetime1">
              <a:rPr lang="en-US" smtClean="0"/>
              <a:t>12/13/2016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529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2461F-2FEE-4FBB-8225-9F8CF47A24E7}" type="datetime1">
              <a:rPr lang="en-US" smtClean="0"/>
              <a:t>12/13/2016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025130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F92EC-632C-486F-8219-7725ADDB52E3}" type="datetime1">
              <a:rPr lang="en-US" smtClean="0"/>
              <a:t>12/13/2016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7966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0F3AD-8D33-45B5-8280-BA35536183F5}" type="datetime1">
              <a:rPr lang="en-US" smtClean="0"/>
              <a:t>12/13/2016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98696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7094A-8B27-4644-A22D-DF4DE3B34A89}" type="datetime1">
              <a:rPr lang="en-US" smtClean="0"/>
              <a:t>12/13/2016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687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18828D-489C-4B6D-8126-FEC974B37A96}" type="datetime1">
              <a:rPr lang="en-US" smtClean="0"/>
              <a:t>12/13/2016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6572" y="5237825"/>
            <a:ext cx="1470740" cy="11554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649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sz="8000" dirty="0"/>
              <a:t>DONATEL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i="1" u="sng" dirty="0"/>
              <a:t>Proyecto de Despliegue de Infraestructura de Estaciones Base 3G/LTE en Alcalá de Henares.</a:t>
            </a:r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3599" y="527907"/>
            <a:ext cx="3303715" cy="2160121"/>
          </a:xfrm>
          <a:prstGeom prst="rect">
            <a:avLst/>
          </a:prstGeom>
        </p:spPr>
      </p:pic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179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39260" y="692274"/>
            <a:ext cx="6347714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4000" dirty="0">
                <a:latin typeface="Berlin Sans FB" panose="020E0602020502020306" pitchFamily="34" charset="0"/>
              </a:rPr>
              <a:t>GESTIÓN DE LOS COSTES DEL PROYECTO</a:t>
            </a:r>
          </a:p>
          <a:p>
            <a:pPr marL="0" indent="0">
              <a:buNone/>
            </a:pPr>
            <a:endParaRPr lang="es-ES" sz="4000" dirty="0">
              <a:latin typeface="Berlin Sans FB" panose="020E0602020502020306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r>
              <a:rPr lang="en-US" dirty="0"/>
              <a:t>/22</a:t>
            </a:r>
          </a:p>
        </p:txBody>
      </p:sp>
      <p:sp>
        <p:nvSpPr>
          <p:cNvPr id="5" name="Marcador de contenido 2"/>
          <p:cNvSpPr txBox="1">
            <a:spLocks/>
          </p:cNvSpPr>
          <p:nvPr/>
        </p:nvSpPr>
        <p:spPr>
          <a:xfrm>
            <a:off x="644769" y="2441943"/>
            <a:ext cx="6347714" cy="37214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400" dirty="0"/>
              <a:t>Planificar los costes</a:t>
            </a:r>
          </a:p>
          <a:p>
            <a:r>
              <a:rPr lang="es-ES" sz="2400" dirty="0"/>
              <a:t>Estimación de costes</a:t>
            </a:r>
          </a:p>
          <a:p>
            <a:pPr lvl="1"/>
            <a:r>
              <a:rPr lang="es-ES" sz="2000" dirty="0"/>
              <a:t>Actividades</a:t>
            </a:r>
          </a:p>
          <a:p>
            <a:pPr lvl="1"/>
            <a:r>
              <a:rPr lang="es-ES" sz="2000" dirty="0"/>
              <a:t>Contingencias</a:t>
            </a:r>
          </a:p>
          <a:p>
            <a:r>
              <a:rPr lang="es-ES" sz="2400" dirty="0"/>
              <a:t>Determinación del presupuesto</a:t>
            </a:r>
          </a:p>
          <a:p>
            <a:pPr lvl="1"/>
            <a:r>
              <a:rPr lang="es-ES" sz="2000" dirty="0"/>
              <a:t>Requisitos de financiación</a:t>
            </a:r>
          </a:p>
          <a:p>
            <a:r>
              <a:rPr lang="es-ES" sz="2400" dirty="0"/>
              <a:t>Control de los costes</a:t>
            </a:r>
          </a:p>
          <a:p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2985045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5888" y="762197"/>
            <a:ext cx="7492780" cy="1231459"/>
          </a:xfrm>
        </p:spPr>
        <p:txBody>
          <a:bodyPr>
            <a:normAutofit/>
          </a:bodyPr>
          <a:lstStyle/>
          <a:p>
            <a:r>
              <a:rPr lang="es-ES" dirty="0"/>
              <a:t>Planificar los costes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18391" y="1993656"/>
            <a:ext cx="6567920" cy="4415936"/>
          </a:xfrm>
        </p:spPr>
        <p:txBody>
          <a:bodyPr>
            <a:normAutofit fontScale="92500"/>
          </a:bodyPr>
          <a:lstStyle/>
          <a:p>
            <a:r>
              <a:rPr lang="es-ES" sz="2200" dirty="0"/>
              <a:t>Establecer políticas para ejecutar el gasto y controlar los costes del proyecto.</a:t>
            </a:r>
          </a:p>
          <a:p>
            <a:pPr marL="457200" lvl="1" indent="0">
              <a:buNone/>
            </a:pPr>
            <a:endParaRPr lang="es-ES" sz="1800" dirty="0"/>
          </a:p>
          <a:p>
            <a:r>
              <a:rPr lang="es-ES" dirty="0"/>
              <a:t>Para la elaboración de un buen plan de costes se debe tener en cuenta:</a:t>
            </a:r>
          </a:p>
          <a:p>
            <a:pPr lvl="1"/>
            <a:r>
              <a:rPr lang="es-ES" dirty="0"/>
              <a:t>EDT</a:t>
            </a:r>
          </a:p>
          <a:p>
            <a:pPr lvl="1"/>
            <a:r>
              <a:rPr lang="es-ES" dirty="0"/>
              <a:t>Recursos Humanos estipulados según cronograma.</a:t>
            </a:r>
          </a:p>
          <a:p>
            <a:pPr lvl="1"/>
            <a:r>
              <a:rPr lang="es-ES" dirty="0"/>
              <a:t>Planificación de riesgos y sus probabilidades.</a:t>
            </a:r>
          </a:p>
          <a:p>
            <a:pPr lvl="1"/>
            <a:endParaRPr lang="es-ES" dirty="0"/>
          </a:p>
          <a:p>
            <a:r>
              <a:rPr lang="es-ES" sz="2000" dirty="0"/>
              <a:t>UNIDAD DE MEDIDA</a:t>
            </a:r>
          </a:p>
          <a:p>
            <a:pPr lvl="1"/>
            <a:r>
              <a:rPr lang="es-ES" sz="1800" dirty="0"/>
              <a:t>Recurso/día 			Horas, empleados o materiales</a:t>
            </a:r>
          </a:p>
          <a:p>
            <a:pPr lvl="1"/>
            <a:r>
              <a:rPr lang="es-ES" sz="1800" dirty="0"/>
              <a:t>Moneda				Euro o Dólar (excepcionalmente)</a:t>
            </a:r>
          </a:p>
          <a:p>
            <a:pPr lvl="1"/>
            <a:endParaRPr lang="es-ES" dirty="0"/>
          </a:p>
          <a:p>
            <a:pPr marL="0" indent="0">
              <a:buNone/>
            </a:pPr>
            <a:endParaRPr lang="es-ES" sz="2000" dirty="0"/>
          </a:p>
          <a:p>
            <a:endParaRPr lang="es-ES" dirty="0"/>
          </a:p>
          <a:p>
            <a:pPr marL="0" indent="0">
              <a:buNone/>
            </a:pP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r>
              <a:rPr lang="en-US" dirty="0"/>
              <a:t>/22</a:t>
            </a:r>
          </a:p>
        </p:txBody>
      </p:sp>
      <p:sp>
        <p:nvSpPr>
          <p:cNvPr id="6" name="Marcador de contenido 2"/>
          <p:cNvSpPr txBox="1">
            <a:spLocks/>
          </p:cNvSpPr>
          <p:nvPr/>
        </p:nvSpPr>
        <p:spPr>
          <a:xfrm>
            <a:off x="4969565" y="4023361"/>
            <a:ext cx="3824579" cy="1534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dirty="0"/>
          </a:p>
          <a:p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665690">
            <a:off x="5856154" y="546717"/>
            <a:ext cx="1193815" cy="1179016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767895">
            <a:off x="6186356" y="3762359"/>
            <a:ext cx="1333995" cy="1423353"/>
          </a:xfrm>
          <a:prstGeom prst="rect">
            <a:avLst/>
          </a:prstGeom>
        </p:spPr>
      </p:pic>
      <p:sp>
        <p:nvSpPr>
          <p:cNvPr id="15" name="Flecha derecha 14"/>
          <p:cNvSpPr/>
          <p:nvPr/>
        </p:nvSpPr>
        <p:spPr>
          <a:xfrm>
            <a:off x="3036456" y="5663528"/>
            <a:ext cx="562708" cy="27256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7" name="Flecha derecha 16"/>
          <p:cNvSpPr/>
          <p:nvPr/>
        </p:nvSpPr>
        <p:spPr>
          <a:xfrm>
            <a:off x="3036456" y="6137031"/>
            <a:ext cx="562708" cy="27256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45141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07376" y="1624259"/>
            <a:ext cx="6347714" cy="5084272"/>
          </a:xfrm>
        </p:spPr>
        <p:txBody>
          <a:bodyPr/>
          <a:lstStyle/>
          <a:p>
            <a:r>
              <a:rPr lang="es-ES" sz="2000" dirty="0"/>
              <a:t>NIVEL DE EXACTITUD </a:t>
            </a:r>
          </a:p>
          <a:p>
            <a:pPr lvl="1"/>
            <a:r>
              <a:rPr lang="es-ES" sz="1800" dirty="0"/>
              <a:t>-25% a +50% en presupuestos iniciales</a:t>
            </a:r>
          </a:p>
          <a:p>
            <a:pPr lvl="2"/>
            <a:r>
              <a:rPr lang="es-ES" sz="1600" dirty="0"/>
              <a:t>Por experiencias previas</a:t>
            </a:r>
          </a:p>
          <a:p>
            <a:pPr lvl="2"/>
            <a:r>
              <a:rPr lang="es-ES" sz="1600" dirty="0"/>
              <a:t>Por el rápido avance en el sector</a:t>
            </a:r>
          </a:p>
          <a:p>
            <a:pPr lvl="1"/>
            <a:r>
              <a:rPr lang="es-ES" sz="1800" dirty="0"/>
              <a:t>±10% en fases avanzadas</a:t>
            </a:r>
          </a:p>
          <a:p>
            <a:pPr marL="457200" lvl="1" indent="0">
              <a:buNone/>
            </a:pPr>
            <a:endParaRPr lang="es-ES" sz="1800" dirty="0"/>
          </a:p>
          <a:p>
            <a:r>
              <a:rPr lang="es-ES" sz="2000" dirty="0"/>
              <a:t>CONTROL</a:t>
            </a:r>
          </a:p>
          <a:p>
            <a:pPr marL="0" indent="0">
              <a:buNone/>
            </a:pPr>
            <a:r>
              <a:rPr lang="es-ES" sz="2000" dirty="0"/>
              <a:t>	Tarea de control de costes</a:t>
            </a:r>
            <a:endParaRPr lang="es-ES" dirty="0"/>
          </a:p>
          <a:p>
            <a:pPr lvl="1"/>
            <a:r>
              <a:rPr lang="es-ES" dirty="0"/>
              <a:t>Situaciones:</a:t>
            </a:r>
          </a:p>
          <a:p>
            <a:pPr lvl="2"/>
            <a:r>
              <a:rPr lang="es-ES" dirty="0"/>
              <a:t>+10%		Generar informe con soluciones</a:t>
            </a:r>
          </a:p>
          <a:p>
            <a:pPr marL="914400" lvl="2" indent="0">
              <a:buNone/>
            </a:pPr>
            <a:endParaRPr lang="es-ES" dirty="0"/>
          </a:p>
          <a:p>
            <a:pPr lvl="2"/>
            <a:r>
              <a:rPr lang="es-ES" dirty="0"/>
              <a:t>-10%		Comprobación de fases por Dto. Calidad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r>
              <a:rPr lang="en-US" dirty="0"/>
              <a:t>/22</a:t>
            </a:r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235888" y="762197"/>
            <a:ext cx="7492780" cy="12314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dirty="0"/>
              <a:t>Planificar los costes</a:t>
            </a:r>
          </a:p>
        </p:txBody>
      </p:sp>
      <p:cxnSp>
        <p:nvCxnSpPr>
          <p:cNvPr id="7" name="Conector angular 6"/>
          <p:cNvCxnSpPr/>
          <p:nvPr/>
        </p:nvCxnSpPr>
        <p:spPr>
          <a:xfrm flipV="1">
            <a:off x="4317023" y="4423730"/>
            <a:ext cx="791308" cy="23236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/>
          <p:cNvSpPr txBox="1"/>
          <p:nvPr/>
        </p:nvSpPr>
        <p:spPr>
          <a:xfrm>
            <a:off x="5108331" y="4241261"/>
            <a:ext cx="2426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2">
                    <a:lumMod val="25000"/>
                  </a:schemeClr>
                </a:solidFill>
              </a:rPr>
              <a:t>Jefe Dto. Comercial</a:t>
            </a:r>
          </a:p>
        </p:txBody>
      </p:sp>
      <p:cxnSp>
        <p:nvCxnSpPr>
          <p:cNvPr id="11" name="Conector angular 10"/>
          <p:cNvCxnSpPr/>
          <p:nvPr/>
        </p:nvCxnSpPr>
        <p:spPr>
          <a:xfrm>
            <a:off x="4317023" y="4673649"/>
            <a:ext cx="791308" cy="21101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/>
          <p:cNvSpPr txBox="1"/>
          <p:nvPr/>
        </p:nvSpPr>
        <p:spPr>
          <a:xfrm>
            <a:off x="5151792" y="4696680"/>
            <a:ext cx="2426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2">
                    <a:lumMod val="25000"/>
                  </a:schemeClr>
                </a:solidFill>
              </a:rPr>
              <a:t>Project Manager</a:t>
            </a:r>
          </a:p>
        </p:txBody>
      </p:sp>
      <p:cxnSp>
        <p:nvCxnSpPr>
          <p:cNvPr id="15" name="Conector recto de flecha 14"/>
          <p:cNvCxnSpPr/>
          <p:nvPr/>
        </p:nvCxnSpPr>
        <p:spPr>
          <a:xfrm>
            <a:off x="2198077" y="5372100"/>
            <a:ext cx="4923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angular 16"/>
          <p:cNvCxnSpPr/>
          <p:nvPr/>
        </p:nvCxnSpPr>
        <p:spPr>
          <a:xfrm>
            <a:off x="5539154" y="5422169"/>
            <a:ext cx="1521069" cy="31920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uadroTexto 20"/>
          <p:cNvSpPr txBox="1"/>
          <p:nvPr/>
        </p:nvSpPr>
        <p:spPr>
          <a:xfrm>
            <a:off x="7163585" y="5581773"/>
            <a:ext cx="1632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2">
                    <a:lumMod val="25000"/>
                  </a:schemeClr>
                </a:solidFill>
              </a:rPr>
              <a:t>Cliente</a:t>
            </a:r>
          </a:p>
        </p:txBody>
      </p:sp>
      <p:cxnSp>
        <p:nvCxnSpPr>
          <p:cNvPr id="23" name="Conector recto de flecha 22"/>
          <p:cNvCxnSpPr/>
          <p:nvPr/>
        </p:nvCxnSpPr>
        <p:spPr>
          <a:xfrm>
            <a:off x="6299688" y="5422169"/>
            <a:ext cx="7605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/>
          <p:cNvSpPr txBox="1"/>
          <p:nvPr/>
        </p:nvSpPr>
        <p:spPr>
          <a:xfrm>
            <a:off x="7154640" y="5237503"/>
            <a:ext cx="1632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2">
                    <a:lumMod val="25000"/>
                  </a:schemeClr>
                </a:solidFill>
              </a:rPr>
              <a:t>CEO</a:t>
            </a:r>
          </a:p>
        </p:txBody>
      </p:sp>
      <p:cxnSp>
        <p:nvCxnSpPr>
          <p:cNvPr id="25" name="Conector recto de flecha 24"/>
          <p:cNvCxnSpPr/>
          <p:nvPr/>
        </p:nvCxnSpPr>
        <p:spPr>
          <a:xfrm>
            <a:off x="2198076" y="6087208"/>
            <a:ext cx="4923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2601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Estimación de Costes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63413" y="1483583"/>
            <a:ext cx="7189179" cy="4178664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s-ES" sz="2200" dirty="0"/>
              <a:t>Consiste en desarrollar una estimación aproximada de los recursos monetarios necesarios para completar las actividades del proyecto.</a:t>
            </a:r>
          </a:p>
          <a:p>
            <a:pPr marL="0" indent="0" algn="just">
              <a:buNone/>
            </a:pPr>
            <a:endParaRPr lang="es-ES" dirty="0"/>
          </a:p>
          <a:p>
            <a:pPr algn="just"/>
            <a:r>
              <a:rPr lang="es-ES" dirty="0"/>
              <a:t>Se realizará una </a:t>
            </a:r>
            <a:r>
              <a:rPr lang="es-ES" b="1" dirty="0"/>
              <a:t>estimación análoga</a:t>
            </a:r>
            <a:r>
              <a:rPr lang="es-ES" dirty="0"/>
              <a:t> en las primeras fases del proyecto.</a:t>
            </a:r>
          </a:p>
          <a:p>
            <a:pPr algn="just"/>
            <a:r>
              <a:rPr lang="es-ES" dirty="0"/>
              <a:t>En los informes de control al cliente se pasará a un modelo de </a:t>
            </a:r>
            <a:r>
              <a:rPr lang="es-ES" b="1" dirty="0"/>
              <a:t>estimación por tres valores </a:t>
            </a:r>
            <a:r>
              <a:rPr lang="es-ES" dirty="0"/>
              <a:t>que proporciona un coste más aproximado.</a:t>
            </a:r>
          </a:p>
          <a:p>
            <a:pPr algn="just"/>
            <a:endParaRPr lang="es-ES" dirty="0"/>
          </a:p>
          <a:p>
            <a:pPr algn="just"/>
            <a:r>
              <a:rPr lang="es-ES" dirty="0"/>
              <a:t>DOS FASES</a:t>
            </a:r>
          </a:p>
          <a:p>
            <a:pPr lvl="1" algn="just"/>
            <a:r>
              <a:rPr lang="es-ES" dirty="0"/>
              <a:t>Estimación de costes de las actividades.</a:t>
            </a:r>
          </a:p>
          <a:p>
            <a:pPr lvl="1" algn="just"/>
            <a:r>
              <a:rPr lang="es-ES" dirty="0"/>
              <a:t>Estimación de costes para las contingencias.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r>
              <a:rPr lang="en-US" dirty="0"/>
              <a:t>/22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115" y="4081308"/>
            <a:ext cx="2030730" cy="1385451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0321" y="5466759"/>
            <a:ext cx="1486268" cy="1365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343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r="5204"/>
          <a:stretch/>
        </p:blipFill>
        <p:spPr>
          <a:xfrm>
            <a:off x="5050547" y="1741061"/>
            <a:ext cx="2196911" cy="265006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 anchor="t">
            <a:normAutofit/>
          </a:bodyPr>
          <a:lstStyle/>
          <a:p>
            <a:r>
              <a:rPr lang="es-ES" dirty="0"/>
              <a:t>Estimación de Costes de las actividades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09598" y="2160590"/>
            <a:ext cx="4199794" cy="3880773"/>
          </a:xfrm>
        </p:spPr>
        <p:txBody>
          <a:bodyPr>
            <a:normAutofit/>
          </a:bodyPr>
          <a:lstStyle/>
          <a:p>
            <a:r>
              <a:rPr lang="es-ES" b="1" dirty="0"/>
              <a:t>Recursos materiales </a:t>
            </a:r>
            <a:r>
              <a:rPr lang="es-ES" dirty="0"/>
              <a:t>de la empresa</a:t>
            </a:r>
          </a:p>
          <a:p>
            <a:pPr lvl="1"/>
            <a:r>
              <a:rPr lang="es-ES" dirty="0"/>
              <a:t>Solo implican la amortización al servir en proyectos previos y futuros.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6444676" y="6041363"/>
            <a:ext cx="512638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fld id="{D57F1E4F-1CFF-5643-939E-217C01CDF565}" type="slidenum">
              <a:rPr lang="en-US" sz="1900" smtClean="0"/>
              <a:pPr>
                <a:lnSpc>
                  <a:spcPct val="90000"/>
                </a:lnSpc>
              </a:pPr>
              <a:t>6</a:t>
            </a:fld>
            <a:endParaRPr lang="en-US" sz="1900" dirty="0"/>
          </a:p>
        </p:txBody>
      </p:sp>
      <p:pic>
        <p:nvPicPr>
          <p:cNvPr id="6" name="Imagen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067" y="3770421"/>
            <a:ext cx="4332412" cy="238603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ángulo 6"/>
          <p:cNvSpPr/>
          <p:nvPr/>
        </p:nvSpPr>
        <p:spPr>
          <a:xfrm>
            <a:off x="3218598" y="5943546"/>
            <a:ext cx="2018350" cy="2875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" name="Marcador de número de diapositiva 3"/>
          <p:cNvSpPr txBox="1">
            <a:spLocks/>
          </p:cNvSpPr>
          <p:nvPr/>
        </p:nvSpPr>
        <p:spPr>
          <a:xfrm>
            <a:off x="7661429" y="82973"/>
            <a:ext cx="1275605" cy="1053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mtClean="0"/>
              <a:pPr/>
              <a:t>6</a:t>
            </a:fld>
            <a:r>
              <a:rPr lang="en-US" dirty="0"/>
              <a:t>/22</a:t>
            </a:r>
          </a:p>
        </p:txBody>
      </p:sp>
    </p:spTree>
    <p:extLst>
      <p:ext uri="{BB962C8B-B14F-4D97-AF65-F5344CB8AC3E}">
        <p14:creationId xmlns:p14="http://schemas.microsoft.com/office/powerpoint/2010/main" val="2567608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Estimación de Costes de las actividades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09599" y="2160590"/>
            <a:ext cx="6802316" cy="3880773"/>
          </a:xfrm>
        </p:spPr>
        <p:txBody>
          <a:bodyPr/>
          <a:lstStyle/>
          <a:p>
            <a:r>
              <a:rPr lang="es-ES" b="1" dirty="0"/>
              <a:t>Recursos Humanos </a:t>
            </a:r>
            <a:r>
              <a:rPr lang="es-ES" dirty="0"/>
              <a:t>necesarios para 4 meses de proyecto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r>
              <a:rPr lang="en-US" dirty="0"/>
              <a:t>/22</a:t>
            </a:r>
          </a:p>
        </p:txBody>
      </p:sp>
      <p:graphicFrame>
        <p:nvGraphicFramePr>
          <p:cNvPr id="5" name="Tab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5441585"/>
              </p:ext>
            </p:extLst>
          </p:nvPr>
        </p:nvGraphicFramePr>
        <p:xfrm>
          <a:off x="609599" y="2696918"/>
          <a:ext cx="2024716" cy="38814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3128">
                  <a:extLst>
                    <a:ext uri="{9D8B030D-6E8A-4147-A177-3AD203B41FA5}">
                      <a16:colId xmlns:a16="http://schemas.microsoft.com/office/drawing/2014/main" val="1544454477"/>
                    </a:ext>
                  </a:extLst>
                </a:gridCol>
                <a:gridCol w="1811588">
                  <a:extLst>
                    <a:ext uri="{9D8B030D-6E8A-4147-A177-3AD203B41FA5}">
                      <a16:colId xmlns:a16="http://schemas.microsoft.com/office/drawing/2014/main" val="857887681"/>
                    </a:ext>
                  </a:extLst>
                </a:gridCol>
              </a:tblGrid>
              <a:tr h="90266">
                <a:tc>
                  <a:txBody>
                    <a:bodyPr/>
                    <a:lstStyle/>
                    <a:p>
                      <a:pPr algn="ctr" fontAlgn="b"/>
                      <a:r>
                        <a:rPr lang="es-ES" sz="500" u="none" strike="noStrike" dirty="0">
                          <a:effectLst/>
                        </a:rPr>
                        <a:t>ID</a:t>
                      </a:r>
                      <a:endParaRPr lang="es-ES" sz="5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500" u="none" strike="noStrike" dirty="0">
                          <a:effectLst/>
                        </a:rPr>
                        <a:t>Tarea</a:t>
                      </a:r>
                      <a:endParaRPr lang="es-ES" sz="5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extLst>
                  <a:ext uri="{0D108BD9-81ED-4DB2-BD59-A6C34878D82A}">
                    <a16:rowId xmlns:a16="http://schemas.microsoft.com/office/drawing/2014/main" val="776781881"/>
                  </a:ext>
                </a:extLst>
              </a:tr>
              <a:tr h="90266">
                <a:tc>
                  <a:txBody>
                    <a:bodyPr/>
                    <a:lstStyle/>
                    <a:p>
                      <a:pPr algn="ctr" fontAlgn="b"/>
                      <a:r>
                        <a:rPr lang="es-ES" sz="500" u="none" strike="noStrike" dirty="0">
                          <a:effectLst/>
                        </a:rPr>
                        <a:t> </a:t>
                      </a:r>
                      <a:endParaRPr lang="es-ES" sz="5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500" u="none" strike="noStrike" dirty="0">
                          <a:effectLst/>
                        </a:rPr>
                        <a:t>Definición de las actividades</a:t>
                      </a:r>
                      <a:endParaRPr lang="es-ES" sz="5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extLst>
                  <a:ext uri="{0D108BD9-81ED-4DB2-BD59-A6C34878D82A}">
                    <a16:rowId xmlns:a16="http://schemas.microsoft.com/office/drawing/2014/main" val="2230742973"/>
                  </a:ext>
                </a:extLst>
              </a:tr>
              <a:tr h="90266"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1</a:t>
                      </a:r>
                      <a:endParaRPr lang="es-ES" sz="5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Inicio del proyecto</a:t>
                      </a:r>
                      <a:endParaRPr lang="es-ES" sz="5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extLst>
                  <a:ext uri="{0D108BD9-81ED-4DB2-BD59-A6C34878D82A}">
                    <a16:rowId xmlns:a16="http://schemas.microsoft.com/office/drawing/2014/main" val="3167912387"/>
                  </a:ext>
                </a:extLst>
              </a:tr>
              <a:tr h="90266"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1.1</a:t>
                      </a:r>
                      <a:endParaRPr lang="es-E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Acta de constitución del proyecto</a:t>
                      </a:r>
                      <a:endParaRPr lang="es-E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extLst>
                  <a:ext uri="{0D108BD9-81ED-4DB2-BD59-A6C34878D82A}">
                    <a16:rowId xmlns:a16="http://schemas.microsoft.com/office/drawing/2014/main" val="3197702448"/>
                  </a:ext>
                </a:extLst>
              </a:tr>
              <a:tr h="90266"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2</a:t>
                      </a:r>
                      <a:endParaRPr lang="es-ES" sz="5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Plan para la dirección del proyecto</a:t>
                      </a:r>
                      <a:endParaRPr lang="es-ES" sz="5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extLst>
                  <a:ext uri="{0D108BD9-81ED-4DB2-BD59-A6C34878D82A}">
                    <a16:rowId xmlns:a16="http://schemas.microsoft.com/office/drawing/2014/main" val="1074485291"/>
                  </a:ext>
                </a:extLst>
              </a:tr>
              <a:tr h="90266"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2.1</a:t>
                      </a:r>
                      <a:endParaRPr lang="es-ES" sz="5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Plan de gestión del alcance</a:t>
                      </a:r>
                      <a:endParaRPr lang="es-ES" sz="5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extLst>
                  <a:ext uri="{0D108BD9-81ED-4DB2-BD59-A6C34878D82A}">
                    <a16:rowId xmlns:a16="http://schemas.microsoft.com/office/drawing/2014/main" val="1482605783"/>
                  </a:ext>
                </a:extLst>
              </a:tr>
              <a:tr h="90266"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2.1.1</a:t>
                      </a:r>
                      <a:endParaRPr lang="es-E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Definición del alcance</a:t>
                      </a:r>
                      <a:endParaRPr lang="es-E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extLst>
                  <a:ext uri="{0D108BD9-81ED-4DB2-BD59-A6C34878D82A}">
                    <a16:rowId xmlns:a16="http://schemas.microsoft.com/office/drawing/2014/main" val="4137818597"/>
                  </a:ext>
                </a:extLst>
              </a:tr>
              <a:tr h="90266"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2.1.2</a:t>
                      </a:r>
                      <a:endParaRPr lang="es-E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Recopilación de requisitos</a:t>
                      </a:r>
                      <a:endParaRPr lang="es-E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extLst>
                  <a:ext uri="{0D108BD9-81ED-4DB2-BD59-A6C34878D82A}">
                    <a16:rowId xmlns:a16="http://schemas.microsoft.com/office/drawing/2014/main" val="1376807144"/>
                  </a:ext>
                </a:extLst>
              </a:tr>
              <a:tr h="90266"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2.1.3</a:t>
                      </a:r>
                      <a:endParaRPr lang="es-E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Estructura del desglose del trabajo</a:t>
                      </a:r>
                      <a:endParaRPr lang="es-E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extLst>
                  <a:ext uri="{0D108BD9-81ED-4DB2-BD59-A6C34878D82A}">
                    <a16:rowId xmlns:a16="http://schemas.microsoft.com/office/drawing/2014/main" val="2910349233"/>
                  </a:ext>
                </a:extLst>
              </a:tr>
              <a:tr h="90266"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2.2</a:t>
                      </a:r>
                      <a:endParaRPr lang="es-ES" sz="5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Plan de gestión temporal</a:t>
                      </a:r>
                      <a:endParaRPr lang="es-ES" sz="5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extLst>
                  <a:ext uri="{0D108BD9-81ED-4DB2-BD59-A6C34878D82A}">
                    <a16:rowId xmlns:a16="http://schemas.microsoft.com/office/drawing/2014/main" val="3785350303"/>
                  </a:ext>
                </a:extLst>
              </a:tr>
              <a:tr h="90266"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2.3</a:t>
                      </a:r>
                      <a:endParaRPr lang="es-ES" sz="5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Plan de gestión de los costes</a:t>
                      </a:r>
                      <a:endParaRPr lang="es-ES" sz="5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extLst>
                  <a:ext uri="{0D108BD9-81ED-4DB2-BD59-A6C34878D82A}">
                    <a16:rowId xmlns:a16="http://schemas.microsoft.com/office/drawing/2014/main" val="2643146736"/>
                  </a:ext>
                </a:extLst>
              </a:tr>
              <a:tr h="90266"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2.3.1</a:t>
                      </a:r>
                      <a:endParaRPr lang="es-E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Control de Costes</a:t>
                      </a:r>
                      <a:endParaRPr lang="es-E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extLst>
                  <a:ext uri="{0D108BD9-81ED-4DB2-BD59-A6C34878D82A}">
                    <a16:rowId xmlns:a16="http://schemas.microsoft.com/office/drawing/2014/main" val="3787007625"/>
                  </a:ext>
                </a:extLst>
              </a:tr>
              <a:tr h="90266"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2.4</a:t>
                      </a:r>
                      <a:endParaRPr lang="es-ES" sz="5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Plan de gestión de la calidad</a:t>
                      </a:r>
                      <a:endParaRPr lang="es-ES" sz="5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extLst>
                  <a:ext uri="{0D108BD9-81ED-4DB2-BD59-A6C34878D82A}">
                    <a16:rowId xmlns:a16="http://schemas.microsoft.com/office/drawing/2014/main" val="2452942252"/>
                  </a:ext>
                </a:extLst>
              </a:tr>
              <a:tr h="90266"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2.4.1</a:t>
                      </a:r>
                      <a:endParaRPr lang="es-E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 Definición protocolos de calidad</a:t>
                      </a:r>
                      <a:endParaRPr lang="es-E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extLst>
                  <a:ext uri="{0D108BD9-81ED-4DB2-BD59-A6C34878D82A}">
                    <a16:rowId xmlns:a16="http://schemas.microsoft.com/office/drawing/2014/main" val="3534755825"/>
                  </a:ext>
                </a:extLst>
              </a:tr>
              <a:tr h="90266"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2.4.2</a:t>
                      </a:r>
                      <a:endParaRPr lang="es-E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Control de calidad</a:t>
                      </a:r>
                      <a:endParaRPr lang="es-E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extLst>
                  <a:ext uri="{0D108BD9-81ED-4DB2-BD59-A6C34878D82A}">
                    <a16:rowId xmlns:a16="http://schemas.microsoft.com/office/drawing/2014/main" val="3156896557"/>
                  </a:ext>
                </a:extLst>
              </a:tr>
              <a:tr h="90266"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2.5</a:t>
                      </a:r>
                      <a:endParaRPr lang="es-ES" sz="5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Plan de gestión de recursos humanos</a:t>
                      </a:r>
                      <a:endParaRPr lang="es-ES" sz="5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extLst>
                  <a:ext uri="{0D108BD9-81ED-4DB2-BD59-A6C34878D82A}">
                    <a16:rowId xmlns:a16="http://schemas.microsoft.com/office/drawing/2014/main" val="4066982080"/>
                  </a:ext>
                </a:extLst>
              </a:tr>
              <a:tr h="90266"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2.5.1</a:t>
                      </a:r>
                      <a:endParaRPr lang="es-E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 Responsabilidades</a:t>
                      </a:r>
                      <a:endParaRPr lang="es-E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extLst>
                  <a:ext uri="{0D108BD9-81ED-4DB2-BD59-A6C34878D82A}">
                    <a16:rowId xmlns:a16="http://schemas.microsoft.com/office/drawing/2014/main" val="2978202591"/>
                  </a:ext>
                </a:extLst>
              </a:tr>
              <a:tr h="90266"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2.5.2</a:t>
                      </a:r>
                      <a:endParaRPr lang="es-E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 Administración Recursos humanos</a:t>
                      </a:r>
                      <a:endParaRPr lang="es-E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extLst>
                  <a:ext uri="{0D108BD9-81ED-4DB2-BD59-A6C34878D82A}">
                    <a16:rowId xmlns:a16="http://schemas.microsoft.com/office/drawing/2014/main" val="538241948"/>
                  </a:ext>
                </a:extLst>
              </a:tr>
              <a:tr h="90266"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2.6</a:t>
                      </a:r>
                      <a:endParaRPr lang="es-ES" sz="5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Plan de la gestión de la comunicación</a:t>
                      </a:r>
                      <a:endParaRPr lang="es-ES" sz="5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extLst>
                  <a:ext uri="{0D108BD9-81ED-4DB2-BD59-A6C34878D82A}">
                    <a16:rowId xmlns:a16="http://schemas.microsoft.com/office/drawing/2014/main" val="1546240650"/>
                  </a:ext>
                </a:extLst>
              </a:tr>
              <a:tr h="90266"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2.6.1</a:t>
                      </a:r>
                      <a:endParaRPr lang="es-E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Elaboración del plan de comunicaciones con los interesados</a:t>
                      </a:r>
                      <a:endParaRPr lang="es-E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extLst>
                  <a:ext uri="{0D108BD9-81ED-4DB2-BD59-A6C34878D82A}">
                    <a16:rowId xmlns:a16="http://schemas.microsoft.com/office/drawing/2014/main" val="2904019952"/>
                  </a:ext>
                </a:extLst>
              </a:tr>
              <a:tr h="90266"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2.6.2</a:t>
                      </a:r>
                      <a:endParaRPr lang="es-E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Control de las comunicaciones</a:t>
                      </a:r>
                      <a:endParaRPr lang="es-E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extLst>
                  <a:ext uri="{0D108BD9-81ED-4DB2-BD59-A6C34878D82A}">
                    <a16:rowId xmlns:a16="http://schemas.microsoft.com/office/drawing/2014/main" val="3818238091"/>
                  </a:ext>
                </a:extLst>
              </a:tr>
              <a:tr h="90266"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2.7</a:t>
                      </a:r>
                      <a:endParaRPr lang="es-ES" sz="5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Plan de la gestión de los riesgos</a:t>
                      </a:r>
                      <a:endParaRPr lang="es-ES" sz="5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extLst>
                  <a:ext uri="{0D108BD9-81ED-4DB2-BD59-A6C34878D82A}">
                    <a16:rowId xmlns:a16="http://schemas.microsoft.com/office/drawing/2014/main" val="1848089344"/>
                  </a:ext>
                </a:extLst>
              </a:tr>
              <a:tr h="90266"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2.7.1</a:t>
                      </a:r>
                      <a:endParaRPr lang="es-E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Identificación de los riesgos</a:t>
                      </a:r>
                      <a:endParaRPr lang="es-E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extLst>
                  <a:ext uri="{0D108BD9-81ED-4DB2-BD59-A6C34878D82A}">
                    <a16:rowId xmlns:a16="http://schemas.microsoft.com/office/drawing/2014/main" val="1029059067"/>
                  </a:ext>
                </a:extLst>
              </a:tr>
              <a:tr h="90266"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2.7.2 </a:t>
                      </a:r>
                      <a:endParaRPr lang="es-E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Análisis cualitativo de los riesgos</a:t>
                      </a:r>
                      <a:endParaRPr lang="es-E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extLst>
                  <a:ext uri="{0D108BD9-81ED-4DB2-BD59-A6C34878D82A}">
                    <a16:rowId xmlns:a16="http://schemas.microsoft.com/office/drawing/2014/main" val="3551230943"/>
                  </a:ext>
                </a:extLst>
              </a:tr>
              <a:tr h="90266"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2.7.3</a:t>
                      </a:r>
                      <a:endParaRPr lang="es-E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Análisis cuantitativo de los riesgos</a:t>
                      </a:r>
                      <a:endParaRPr lang="es-E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extLst>
                  <a:ext uri="{0D108BD9-81ED-4DB2-BD59-A6C34878D82A}">
                    <a16:rowId xmlns:a16="http://schemas.microsoft.com/office/drawing/2014/main" val="1348600842"/>
                  </a:ext>
                </a:extLst>
              </a:tr>
              <a:tr h="90266"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2.7.4</a:t>
                      </a:r>
                      <a:endParaRPr lang="es-E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Planificación de la respuesta ante los riesgos</a:t>
                      </a:r>
                      <a:endParaRPr lang="es-E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extLst>
                  <a:ext uri="{0D108BD9-81ED-4DB2-BD59-A6C34878D82A}">
                    <a16:rowId xmlns:a16="http://schemas.microsoft.com/office/drawing/2014/main" val="3798627812"/>
                  </a:ext>
                </a:extLst>
              </a:tr>
              <a:tr h="90266"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2.7.5</a:t>
                      </a:r>
                      <a:endParaRPr lang="es-E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Control de Riesgos</a:t>
                      </a:r>
                      <a:endParaRPr lang="es-E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extLst>
                  <a:ext uri="{0D108BD9-81ED-4DB2-BD59-A6C34878D82A}">
                    <a16:rowId xmlns:a16="http://schemas.microsoft.com/office/drawing/2014/main" val="2484618313"/>
                  </a:ext>
                </a:extLst>
              </a:tr>
              <a:tr h="90266"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2.8</a:t>
                      </a:r>
                      <a:endParaRPr lang="es-ES" sz="5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 Plan elección empresa subcontratada diseño de red LTE  </a:t>
                      </a:r>
                      <a:endParaRPr lang="es-ES" sz="5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extLst>
                  <a:ext uri="{0D108BD9-81ED-4DB2-BD59-A6C34878D82A}">
                    <a16:rowId xmlns:a16="http://schemas.microsoft.com/office/drawing/2014/main" val="3552877696"/>
                  </a:ext>
                </a:extLst>
              </a:tr>
              <a:tr h="90266"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2.8.1</a:t>
                      </a:r>
                      <a:endParaRPr lang="es-E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 Elaboración del pliego de contratación </a:t>
                      </a:r>
                      <a:endParaRPr lang="es-E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extLst>
                  <a:ext uri="{0D108BD9-81ED-4DB2-BD59-A6C34878D82A}">
                    <a16:rowId xmlns:a16="http://schemas.microsoft.com/office/drawing/2014/main" val="3770349225"/>
                  </a:ext>
                </a:extLst>
              </a:tr>
              <a:tr h="90266"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2.8.2</a:t>
                      </a:r>
                      <a:endParaRPr lang="es-E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Análisis de propuestas</a:t>
                      </a:r>
                      <a:endParaRPr lang="es-E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extLst>
                  <a:ext uri="{0D108BD9-81ED-4DB2-BD59-A6C34878D82A}">
                    <a16:rowId xmlns:a16="http://schemas.microsoft.com/office/drawing/2014/main" val="1330544994"/>
                  </a:ext>
                </a:extLst>
              </a:tr>
              <a:tr h="90266"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2.8.3</a:t>
                      </a:r>
                      <a:endParaRPr lang="es-E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 Selección empresa subcontratada </a:t>
                      </a:r>
                      <a:endParaRPr lang="es-E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extLst>
                  <a:ext uri="{0D108BD9-81ED-4DB2-BD59-A6C34878D82A}">
                    <a16:rowId xmlns:a16="http://schemas.microsoft.com/office/drawing/2014/main" val="3337622039"/>
                  </a:ext>
                </a:extLst>
              </a:tr>
              <a:tr h="90266"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2.8.4</a:t>
                      </a:r>
                      <a:endParaRPr lang="es-E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Administrar contrato empresa subcontratada</a:t>
                      </a:r>
                      <a:endParaRPr lang="es-E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extLst>
                  <a:ext uri="{0D108BD9-81ED-4DB2-BD59-A6C34878D82A}">
                    <a16:rowId xmlns:a16="http://schemas.microsoft.com/office/drawing/2014/main" val="2715809836"/>
                  </a:ext>
                </a:extLst>
              </a:tr>
              <a:tr h="90266"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3</a:t>
                      </a:r>
                      <a:endParaRPr lang="es-ES" sz="5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Diseño red LTE  empresa subcontratada</a:t>
                      </a:r>
                      <a:endParaRPr lang="es-ES" sz="5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extLst>
                  <a:ext uri="{0D108BD9-81ED-4DB2-BD59-A6C34878D82A}">
                    <a16:rowId xmlns:a16="http://schemas.microsoft.com/office/drawing/2014/main" val="950613179"/>
                  </a:ext>
                </a:extLst>
              </a:tr>
              <a:tr h="90266"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3.1</a:t>
                      </a:r>
                      <a:endParaRPr lang="es-E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Seguimiento del estado de desarrollo diseño red LTE</a:t>
                      </a:r>
                      <a:endParaRPr lang="es-E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extLst>
                  <a:ext uri="{0D108BD9-81ED-4DB2-BD59-A6C34878D82A}">
                    <a16:rowId xmlns:a16="http://schemas.microsoft.com/office/drawing/2014/main" val="910949725"/>
                  </a:ext>
                </a:extLst>
              </a:tr>
              <a:tr h="90266"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4</a:t>
                      </a:r>
                      <a:endParaRPr lang="es-ES" sz="5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Plan gestión de adquisiciones</a:t>
                      </a:r>
                      <a:endParaRPr lang="es-ES" sz="5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extLst>
                  <a:ext uri="{0D108BD9-81ED-4DB2-BD59-A6C34878D82A}">
                    <a16:rowId xmlns:a16="http://schemas.microsoft.com/office/drawing/2014/main" val="4058091590"/>
                  </a:ext>
                </a:extLst>
              </a:tr>
              <a:tr h="90266"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4.1</a:t>
                      </a:r>
                      <a:endParaRPr lang="es-E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Elaboración del pliego de contratación</a:t>
                      </a:r>
                      <a:endParaRPr lang="es-E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extLst>
                  <a:ext uri="{0D108BD9-81ED-4DB2-BD59-A6C34878D82A}">
                    <a16:rowId xmlns:a16="http://schemas.microsoft.com/office/drawing/2014/main" val="1366234355"/>
                  </a:ext>
                </a:extLst>
              </a:tr>
              <a:tr h="90266"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4.2</a:t>
                      </a:r>
                      <a:endParaRPr lang="es-E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Selección de proveedores</a:t>
                      </a:r>
                      <a:endParaRPr lang="es-E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extLst>
                  <a:ext uri="{0D108BD9-81ED-4DB2-BD59-A6C34878D82A}">
                    <a16:rowId xmlns:a16="http://schemas.microsoft.com/office/drawing/2014/main" val="1221621622"/>
                  </a:ext>
                </a:extLst>
              </a:tr>
              <a:tr h="90266"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4.3</a:t>
                      </a:r>
                      <a:endParaRPr lang="es-E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Administrar contratos proveedores</a:t>
                      </a:r>
                      <a:endParaRPr lang="es-E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extLst>
                  <a:ext uri="{0D108BD9-81ED-4DB2-BD59-A6C34878D82A}">
                    <a16:rowId xmlns:a16="http://schemas.microsoft.com/office/drawing/2014/main" val="3212088957"/>
                  </a:ext>
                </a:extLst>
              </a:tr>
              <a:tr h="90266"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5</a:t>
                      </a:r>
                      <a:endParaRPr lang="es-ES" sz="5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Ejecución de pruebas</a:t>
                      </a:r>
                      <a:endParaRPr lang="es-ES" sz="5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extLst>
                  <a:ext uri="{0D108BD9-81ED-4DB2-BD59-A6C34878D82A}">
                    <a16:rowId xmlns:a16="http://schemas.microsoft.com/office/drawing/2014/main" val="1661048572"/>
                  </a:ext>
                </a:extLst>
              </a:tr>
              <a:tr h="90266"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5.1</a:t>
                      </a:r>
                      <a:endParaRPr lang="es-E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Ajustes de equipos</a:t>
                      </a:r>
                      <a:endParaRPr lang="es-E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extLst>
                  <a:ext uri="{0D108BD9-81ED-4DB2-BD59-A6C34878D82A}">
                    <a16:rowId xmlns:a16="http://schemas.microsoft.com/office/drawing/2014/main" val="2464090045"/>
                  </a:ext>
                </a:extLst>
              </a:tr>
              <a:tr h="90266"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5.2</a:t>
                      </a:r>
                      <a:endParaRPr lang="es-E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Pruebas de cobertura</a:t>
                      </a:r>
                      <a:endParaRPr lang="es-E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extLst>
                  <a:ext uri="{0D108BD9-81ED-4DB2-BD59-A6C34878D82A}">
                    <a16:rowId xmlns:a16="http://schemas.microsoft.com/office/drawing/2014/main" val="75596268"/>
                  </a:ext>
                </a:extLst>
              </a:tr>
              <a:tr h="90266"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6</a:t>
                      </a:r>
                      <a:endParaRPr lang="es-ES" sz="5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Proceso de cierre</a:t>
                      </a:r>
                      <a:endParaRPr lang="es-ES" sz="5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extLst>
                  <a:ext uri="{0D108BD9-81ED-4DB2-BD59-A6C34878D82A}">
                    <a16:rowId xmlns:a16="http://schemas.microsoft.com/office/drawing/2014/main" val="2521419375"/>
                  </a:ext>
                </a:extLst>
              </a:tr>
              <a:tr h="90266"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6.1</a:t>
                      </a:r>
                      <a:endParaRPr lang="es-E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500" u="none" strike="noStrike" dirty="0">
                          <a:effectLst/>
                        </a:rPr>
                        <a:t>Generación de informe técnico económico</a:t>
                      </a:r>
                      <a:endParaRPr lang="es-E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1" marR="3761" marT="3761" marB="0" anchor="b"/>
                </a:tc>
                <a:extLst>
                  <a:ext uri="{0D108BD9-81ED-4DB2-BD59-A6C34878D82A}">
                    <a16:rowId xmlns:a16="http://schemas.microsoft.com/office/drawing/2014/main" val="355752546"/>
                  </a:ext>
                </a:extLst>
              </a:tr>
            </a:tbl>
          </a:graphicData>
        </a:graphic>
      </p:graphicFrame>
      <p:graphicFrame>
        <p:nvGraphicFramePr>
          <p:cNvPr id="10" name="Tabla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4904108"/>
              </p:ext>
            </p:extLst>
          </p:nvPr>
        </p:nvGraphicFramePr>
        <p:xfrm>
          <a:off x="793669" y="2635372"/>
          <a:ext cx="7849168" cy="315876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3480">
                  <a:extLst>
                    <a:ext uri="{9D8B030D-6E8A-4147-A177-3AD203B41FA5}">
                      <a16:colId xmlns:a16="http://schemas.microsoft.com/office/drawing/2014/main" val="2615650859"/>
                    </a:ext>
                  </a:extLst>
                </a:gridCol>
                <a:gridCol w="1550431">
                  <a:extLst>
                    <a:ext uri="{9D8B030D-6E8A-4147-A177-3AD203B41FA5}">
                      <a16:colId xmlns:a16="http://schemas.microsoft.com/office/drawing/2014/main" val="1508252779"/>
                    </a:ext>
                  </a:extLst>
                </a:gridCol>
                <a:gridCol w="1631085">
                  <a:extLst>
                    <a:ext uri="{9D8B030D-6E8A-4147-A177-3AD203B41FA5}">
                      <a16:colId xmlns:a16="http://schemas.microsoft.com/office/drawing/2014/main" val="2995020875"/>
                    </a:ext>
                  </a:extLst>
                </a:gridCol>
                <a:gridCol w="738786">
                  <a:extLst>
                    <a:ext uri="{9D8B030D-6E8A-4147-A177-3AD203B41FA5}">
                      <a16:colId xmlns:a16="http://schemas.microsoft.com/office/drawing/2014/main" val="4189665339"/>
                    </a:ext>
                  </a:extLst>
                </a:gridCol>
                <a:gridCol w="911488">
                  <a:extLst>
                    <a:ext uri="{9D8B030D-6E8A-4147-A177-3AD203B41FA5}">
                      <a16:colId xmlns:a16="http://schemas.microsoft.com/office/drawing/2014/main" val="2380076902"/>
                    </a:ext>
                  </a:extLst>
                </a:gridCol>
                <a:gridCol w="978652">
                  <a:extLst>
                    <a:ext uri="{9D8B030D-6E8A-4147-A177-3AD203B41FA5}">
                      <a16:colId xmlns:a16="http://schemas.microsoft.com/office/drawing/2014/main" val="4031276516"/>
                    </a:ext>
                  </a:extLst>
                </a:gridCol>
                <a:gridCol w="633245">
                  <a:extLst>
                    <a:ext uri="{9D8B030D-6E8A-4147-A177-3AD203B41FA5}">
                      <a16:colId xmlns:a16="http://schemas.microsoft.com/office/drawing/2014/main" val="3025330159"/>
                    </a:ext>
                  </a:extLst>
                </a:gridCol>
                <a:gridCol w="519126">
                  <a:extLst>
                    <a:ext uri="{9D8B030D-6E8A-4147-A177-3AD203B41FA5}">
                      <a16:colId xmlns:a16="http://schemas.microsoft.com/office/drawing/2014/main" val="419609405"/>
                    </a:ext>
                  </a:extLst>
                </a:gridCol>
                <a:gridCol w="462875">
                  <a:extLst>
                    <a:ext uri="{9D8B030D-6E8A-4147-A177-3AD203B41FA5}">
                      <a16:colId xmlns:a16="http://schemas.microsoft.com/office/drawing/2014/main" val="2009101052"/>
                    </a:ext>
                  </a:extLst>
                </a:gridCol>
              </a:tblGrid>
              <a:tr h="274760">
                <a:tc>
                  <a:txBody>
                    <a:bodyPr/>
                    <a:lstStyle/>
                    <a:p>
                      <a:pPr algn="ctr" fontAlgn="b"/>
                      <a:r>
                        <a:rPr lang="es-ES" sz="700" b="1" u="none" strike="noStrike" dirty="0">
                          <a:effectLst/>
                        </a:rPr>
                        <a:t>ID</a:t>
                      </a:r>
                      <a:endParaRPr lang="es-E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700" b="1" u="none" strike="noStrike" dirty="0">
                          <a:effectLst/>
                        </a:rPr>
                        <a:t>Tarea</a:t>
                      </a:r>
                      <a:endParaRPr lang="es-E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700" b="1" u="none" strike="noStrike" dirty="0">
                          <a:effectLst/>
                        </a:rPr>
                        <a:t>RRHH</a:t>
                      </a:r>
                      <a:endParaRPr lang="es-E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700" b="1" u="none" strike="noStrike" dirty="0">
                          <a:effectLst/>
                        </a:rPr>
                        <a:t>Duración</a:t>
                      </a:r>
                      <a:endParaRPr lang="es-E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700" b="1" u="none" strike="noStrike" dirty="0">
                          <a:effectLst/>
                        </a:rPr>
                        <a:t>Horas laborables</a:t>
                      </a:r>
                      <a:endParaRPr lang="es-E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700" b="1" u="none" strike="noStrike" dirty="0">
                          <a:effectLst/>
                        </a:rPr>
                        <a:t>Porcentaje Asignado</a:t>
                      </a:r>
                      <a:endParaRPr lang="es-E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700" b="1" u="none" strike="noStrike" dirty="0">
                          <a:effectLst/>
                        </a:rPr>
                        <a:t>Horas </a:t>
                      </a:r>
                      <a:endParaRPr lang="es-E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700" b="1" u="none" strike="noStrike" dirty="0">
                          <a:effectLst/>
                        </a:rPr>
                        <a:t>€/hora</a:t>
                      </a:r>
                      <a:endParaRPr lang="es-E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700" b="1" u="none" strike="noStrike" dirty="0">
                          <a:effectLst/>
                        </a:rPr>
                        <a:t>TOTAL €</a:t>
                      </a:r>
                      <a:endParaRPr lang="es-E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253588"/>
                  </a:ext>
                </a:extLst>
              </a:tr>
              <a:tr h="251943">
                <a:tc>
                  <a:txBody>
                    <a:bodyPr/>
                    <a:lstStyle/>
                    <a:p>
                      <a:pPr algn="ctr" fontAlgn="b"/>
                      <a:r>
                        <a:rPr lang="es-ES" sz="700" b="1" u="none" strike="noStrike" dirty="0">
                          <a:effectLst/>
                        </a:rPr>
                        <a:t> </a:t>
                      </a:r>
                      <a:endParaRPr lang="es-E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700" b="1" u="none" strike="noStrike" dirty="0">
                          <a:effectLst/>
                        </a:rPr>
                        <a:t>Definición de las actividades</a:t>
                      </a:r>
                      <a:endParaRPr lang="es-E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700" b="1" u="none" strike="noStrike" dirty="0">
                          <a:effectLst/>
                        </a:rPr>
                        <a:t> </a:t>
                      </a:r>
                      <a:endParaRPr lang="es-E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700" b="1" u="none" strike="noStrike" dirty="0">
                          <a:effectLst/>
                        </a:rPr>
                        <a:t>días</a:t>
                      </a:r>
                      <a:endParaRPr lang="es-E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700" b="1" u="none" strike="noStrike" dirty="0">
                          <a:effectLst/>
                        </a:rPr>
                        <a:t>8horas/día</a:t>
                      </a:r>
                      <a:endParaRPr lang="es-E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700" b="1" u="none" strike="noStrike" dirty="0">
                          <a:effectLst/>
                        </a:rPr>
                        <a:t>%</a:t>
                      </a:r>
                      <a:endParaRPr lang="es-E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700" b="1" u="none" strike="noStrike" dirty="0">
                          <a:effectLst/>
                        </a:rPr>
                        <a:t>dedicadas</a:t>
                      </a:r>
                      <a:endParaRPr lang="es-E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700" b="1" u="none" strike="noStrike" dirty="0">
                          <a:effectLst/>
                        </a:rPr>
                        <a:t> </a:t>
                      </a:r>
                      <a:endParaRPr lang="es-E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700" b="1" u="none" strike="noStrike" dirty="0">
                          <a:effectLst/>
                        </a:rPr>
                        <a:t> </a:t>
                      </a:r>
                      <a:endParaRPr lang="es-E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3729247"/>
                  </a:ext>
                </a:extLst>
              </a:tr>
              <a:tr h="228789">
                <a:tc>
                  <a:txBody>
                    <a:bodyPr/>
                    <a:lstStyle/>
                    <a:p>
                      <a:pPr algn="l" fontAlgn="b"/>
                      <a:r>
                        <a:rPr lang="es-ES" sz="700" b="1" u="none" strike="noStrike" dirty="0">
                          <a:effectLst/>
                        </a:rPr>
                        <a:t>1</a:t>
                      </a:r>
                      <a:endParaRPr lang="es-E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700" b="1" u="none" strike="noStrike" dirty="0">
                          <a:effectLst/>
                        </a:rPr>
                        <a:t>Inicio del proyecto</a:t>
                      </a:r>
                      <a:endParaRPr lang="es-E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extLst>
                  <a:ext uri="{0D108BD9-81ED-4DB2-BD59-A6C34878D82A}">
                    <a16:rowId xmlns:a16="http://schemas.microsoft.com/office/drawing/2014/main" val="2975468307"/>
                  </a:ext>
                </a:extLst>
              </a:tr>
              <a:tr h="228789">
                <a:tc>
                  <a:txBody>
                    <a:bodyPr/>
                    <a:lstStyle/>
                    <a:p>
                      <a:pPr algn="l" fontAlgn="b"/>
                      <a:r>
                        <a:rPr lang="es-ES" sz="700" u="none" strike="noStrike" dirty="0">
                          <a:effectLst/>
                        </a:rPr>
                        <a:t>1.1</a:t>
                      </a:r>
                      <a:endParaRPr lang="es-E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700" u="none" strike="noStrike" dirty="0">
                          <a:effectLst/>
                        </a:rPr>
                        <a:t>Acta de constitución del proyecto</a:t>
                      </a:r>
                      <a:endParaRPr lang="es-E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700" u="none" strike="noStrike" dirty="0">
                          <a:effectLst/>
                        </a:rPr>
                        <a:t>Project Manager</a:t>
                      </a:r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700" u="none" strike="noStrike" dirty="0">
                          <a:effectLst/>
                        </a:rPr>
                        <a:t>2</a:t>
                      </a:r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700" u="none" strike="noStrike" dirty="0">
                          <a:effectLst/>
                        </a:rPr>
                        <a:t>16</a:t>
                      </a:r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700" u="none" strike="noStrike" dirty="0">
                          <a:effectLst/>
                        </a:rPr>
                        <a:t>100%</a:t>
                      </a:r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700" u="none" strike="noStrike" dirty="0">
                          <a:effectLst/>
                        </a:rPr>
                        <a:t>16</a:t>
                      </a:r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700" u="none" strike="noStrike" dirty="0">
                          <a:effectLst/>
                        </a:rPr>
                        <a:t>25</a:t>
                      </a:r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700" u="none" strike="noStrike" dirty="0">
                          <a:effectLst/>
                        </a:rPr>
                        <a:t>400</a:t>
                      </a:r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extLst>
                  <a:ext uri="{0D108BD9-81ED-4DB2-BD59-A6C34878D82A}">
                    <a16:rowId xmlns:a16="http://schemas.microsoft.com/office/drawing/2014/main" val="1477979370"/>
                  </a:ext>
                </a:extLst>
              </a:tr>
              <a:tr h="228789">
                <a:tc>
                  <a:txBody>
                    <a:bodyPr/>
                    <a:lstStyle/>
                    <a:p>
                      <a:pPr algn="l" fontAlgn="b"/>
                      <a:r>
                        <a:rPr lang="es-ES" sz="700" u="none" strike="noStrike" dirty="0">
                          <a:effectLst/>
                        </a:rPr>
                        <a:t> </a:t>
                      </a:r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700" u="none" strike="noStrike" dirty="0">
                          <a:effectLst/>
                        </a:rPr>
                        <a:t> </a:t>
                      </a:r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extLst>
                  <a:ext uri="{0D108BD9-81ED-4DB2-BD59-A6C34878D82A}">
                    <a16:rowId xmlns:a16="http://schemas.microsoft.com/office/drawing/2014/main" val="1579188322"/>
                  </a:ext>
                </a:extLst>
              </a:tr>
              <a:tr h="298584">
                <a:tc>
                  <a:txBody>
                    <a:bodyPr/>
                    <a:lstStyle/>
                    <a:p>
                      <a:pPr algn="l" fontAlgn="b"/>
                      <a:r>
                        <a:rPr lang="es-ES" sz="700" b="1" u="none" strike="noStrike" dirty="0">
                          <a:effectLst/>
                        </a:rPr>
                        <a:t>2</a:t>
                      </a:r>
                      <a:endParaRPr lang="es-E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700" b="1" u="none" strike="noStrike" dirty="0">
                          <a:effectLst/>
                        </a:rPr>
                        <a:t>Plan para la dirección del proyecto</a:t>
                      </a:r>
                      <a:endParaRPr lang="es-E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s-E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extLst>
                  <a:ext uri="{0D108BD9-81ED-4DB2-BD59-A6C34878D82A}">
                    <a16:rowId xmlns:a16="http://schemas.microsoft.com/office/drawing/2014/main" val="569239919"/>
                  </a:ext>
                </a:extLst>
              </a:tr>
              <a:tr h="228789">
                <a:tc>
                  <a:txBody>
                    <a:bodyPr/>
                    <a:lstStyle/>
                    <a:p>
                      <a:pPr algn="l" fontAlgn="b"/>
                      <a:r>
                        <a:rPr lang="es-ES" sz="700" u="none" strike="noStrike" dirty="0">
                          <a:effectLst/>
                        </a:rPr>
                        <a:t>2.1</a:t>
                      </a:r>
                      <a:endParaRPr lang="es-E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700" u="none" strike="noStrike" dirty="0">
                          <a:effectLst/>
                        </a:rPr>
                        <a:t>Plan de gestión del alcance</a:t>
                      </a:r>
                      <a:endParaRPr lang="es-E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700" u="none" strike="noStrike" dirty="0">
                          <a:effectLst/>
                        </a:rPr>
                        <a:t>Project Manager</a:t>
                      </a:r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700" u="none" strike="noStrike" dirty="0">
                          <a:effectLst/>
                        </a:rPr>
                        <a:t>7</a:t>
                      </a:r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700" u="none" strike="noStrike" dirty="0">
                          <a:effectLst/>
                        </a:rPr>
                        <a:t>56</a:t>
                      </a:r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700" u="none" strike="noStrike" dirty="0">
                          <a:effectLst/>
                        </a:rPr>
                        <a:t>50%</a:t>
                      </a:r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700" u="none" strike="noStrike" dirty="0">
                          <a:effectLst/>
                        </a:rPr>
                        <a:t>28</a:t>
                      </a:r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700" u="none" strike="noStrike" dirty="0">
                          <a:effectLst/>
                        </a:rPr>
                        <a:t>25</a:t>
                      </a:r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700" u="none" strike="noStrike" dirty="0">
                          <a:effectLst/>
                        </a:rPr>
                        <a:t>700</a:t>
                      </a:r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extLst>
                  <a:ext uri="{0D108BD9-81ED-4DB2-BD59-A6C34878D82A}">
                    <a16:rowId xmlns:a16="http://schemas.microsoft.com/office/drawing/2014/main" val="4243292854"/>
                  </a:ext>
                </a:extLst>
              </a:tr>
              <a:tr h="257613">
                <a:tc>
                  <a:txBody>
                    <a:bodyPr/>
                    <a:lstStyle/>
                    <a:p>
                      <a:pPr algn="l" fontAlgn="b"/>
                      <a:r>
                        <a:rPr lang="es-ES" sz="700" u="none" strike="noStrike" dirty="0">
                          <a:effectLst/>
                        </a:rPr>
                        <a:t> </a:t>
                      </a:r>
                      <a:endParaRPr lang="es-E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700" u="none" strike="noStrike" dirty="0">
                          <a:effectLst/>
                        </a:rPr>
                        <a:t> </a:t>
                      </a:r>
                      <a:endParaRPr lang="es-E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700" u="none" strike="noStrike" dirty="0">
                          <a:effectLst/>
                        </a:rPr>
                        <a:t>Ingeniero de Telecomunicaciones</a:t>
                      </a:r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700" u="none" strike="noStrike" dirty="0">
                          <a:effectLst/>
                        </a:rPr>
                        <a:t>7</a:t>
                      </a:r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700" u="none" strike="noStrike" dirty="0">
                          <a:effectLst/>
                        </a:rPr>
                        <a:t>56</a:t>
                      </a:r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700" u="none" strike="noStrike" dirty="0">
                          <a:effectLst/>
                        </a:rPr>
                        <a:t>20%</a:t>
                      </a:r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700" u="none" strike="noStrike" dirty="0">
                          <a:effectLst/>
                        </a:rPr>
                        <a:t>11,2</a:t>
                      </a:r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700" u="none" strike="noStrike" dirty="0">
                          <a:effectLst/>
                        </a:rPr>
                        <a:t>21</a:t>
                      </a:r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700" u="none" strike="noStrike" dirty="0">
                          <a:effectLst/>
                        </a:rPr>
                        <a:t>235,2</a:t>
                      </a:r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extLst>
                  <a:ext uri="{0D108BD9-81ED-4DB2-BD59-A6C34878D82A}">
                    <a16:rowId xmlns:a16="http://schemas.microsoft.com/office/drawing/2014/main" val="2282574081"/>
                  </a:ext>
                </a:extLst>
              </a:tr>
              <a:tr h="262021">
                <a:tc>
                  <a:txBody>
                    <a:bodyPr/>
                    <a:lstStyle/>
                    <a:p>
                      <a:pPr algn="l" fontAlgn="b"/>
                      <a:r>
                        <a:rPr lang="es-ES" sz="700" u="none" strike="noStrike" dirty="0">
                          <a:effectLst/>
                        </a:rPr>
                        <a:t> </a:t>
                      </a:r>
                      <a:endParaRPr lang="es-E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700" u="none" strike="noStrike" dirty="0">
                          <a:effectLst/>
                        </a:rPr>
                        <a:t> </a:t>
                      </a:r>
                      <a:endParaRPr lang="es-E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700" u="none" strike="noStrike" dirty="0">
                          <a:effectLst/>
                        </a:rPr>
                        <a:t>Ingeniero de Telecomunicaciones Jr.</a:t>
                      </a:r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700" u="none" strike="noStrike" dirty="0">
                          <a:effectLst/>
                        </a:rPr>
                        <a:t>7</a:t>
                      </a:r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700" u="none" strike="noStrike" dirty="0">
                          <a:effectLst/>
                        </a:rPr>
                        <a:t>56</a:t>
                      </a:r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700" u="none" strike="noStrike" dirty="0">
                          <a:effectLst/>
                        </a:rPr>
                        <a:t>30%</a:t>
                      </a:r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700" u="none" strike="noStrike" dirty="0">
                          <a:effectLst/>
                        </a:rPr>
                        <a:t>16,8</a:t>
                      </a:r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700" u="none" strike="noStrike" dirty="0">
                          <a:effectLst/>
                        </a:rPr>
                        <a:t>12</a:t>
                      </a:r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700" u="none" strike="noStrike" dirty="0">
                          <a:effectLst/>
                        </a:rPr>
                        <a:t>201,6</a:t>
                      </a:r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extLst>
                  <a:ext uri="{0D108BD9-81ED-4DB2-BD59-A6C34878D82A}">
                    <a16:rowId xmlns:a16="http://schemas.microsoft.com/office/drawing/2014/main" val="3460731143"/>
                  </a:ext>
                </a:extLst>
              </a:tr>
              <a:tr h="228789">
                <a:tc>
                  <a:txBody>
                    <a:bodyPr/>
                    <a:lstStyle/>
                    <a:p>
                      <a:pPr algn="l" fontAlgn="b"/>
                      <a:r>
                        <a:rPr lang="es-ES" sz="700" u="none" strike="noStrike" dirty="0">
                          <a:effectLst/>
                        </a:rPr>
                        <a:t>2.1.1</a:t>
                      </a:r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700" u="none" strike="noStrike" dirty="0">
                          <a:effectLst/>
                        </a:rPr>
                        <a:t>Definición del alcance</a:t>
                      </a:r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700" u="none" strike="noStrike" dirty="0">
                          <a:effectLst/>
                        </a:rPr>
                        <a:t>Project Manager</a:t>
                      </a:r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700" u="none" strike="noStrike" dirty="0">
                          <a:effectLst/>
                        </a:rPr>
                        <a:t>2</a:t>
                      </a:r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700" u="none" strike="noStrike" dirty="0">
                          <a:effectLst/>
                        </a:rPr>
                        <a:t>16</a:t>
                      </a:r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700" u="none" strike="noStrike" dirty="0">
                          <a:effectLst/>
                        </a:rPr>
                        <a:t>40%</a:t>
                      </a:r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700" u="none" strike="noStrike" dirty="0">
                          <a:effectLst/>
                        </a:rPr>
                        <a:t>6,4</a:t>
                      </a:r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700" u="none" strike="noStrike" dirty="0">
                          <a:effectLst/>
                        </a:rPr>
                        <a:t>25</a:t>
                      </a:r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700" u="none" strike="noStrike" dirty="0">
                          <a:effectLst/>
                        </a:rPr>
                        <a:t>160</a:t>
                      </a:r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extLst>
                  <a:ext uri="{0D108BD9-81ED-4DB2-BD59-A6C34878D82A}">
                    <a16:rowId xmlns:a16="http://schemas.microsoft.com/office/drawing/2014/main" val="3508012357"/>
                  </a:ext>
                </a:extLst>
              </a:tr>
              <a:tr h="234787">
                <a:tc>
                  <a:txBody>
                    <a:bodyPr/>
                    <a:lstStyle/>
                    <a:p>
                      <a:pPr algn="l" fontAlgn="b"/>
                      <a:r>
                        <a:rPr lang="es-ES" sz="700" u="none" strike="noStrike" dirty="0">
                          <a:effectLst/>
                        </a:rPr>
                        <a:t> </a:t>
                      </a:r>
                      <a:endParaRPr lang="es-E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700" u="none" strike="noStrike" dirty="0">
                          <a:effectLst/>
                        </a:rPr>
                        <a:t> </a:t>
                      </a:r>
                      <a:endParaRPr lang="es-E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700" u="none" strike="noStrike" dirty="0">
                          <a:effectLst/>
                        </a:rPr>
                        <a:t>Ingeniero de Telecomunicaciones</a:t>
                      </a:r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700" u="none" strike="noStrike" dirty="0">
                          <a:effectLst/>
                        </a:rPr>
                        <a:t>2</a:t>
                      </a:r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700" u="none" strike="noStrike" dirty="0">
                          <a:effectLst/>
                        </a:rPr>
                        <a:t>16</a:t>
                      </a:r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700" u="none" strike="noStrike" dirty="0">
                          <a:effectLst/>
                        </a:rPr>
                        <a:t>30%</a:t>
                      </a:r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700" u="none" strike="noStrike" dirty="0">
                          <a:effectLst/>
                        </a:rPr>
                        <a:t>4,8</a:t>
                      </a:r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700" u="none" strike="noStrike" dirty="0">
                          <a:effectLst/>
                        </a:rPr>
                        <a:t>21</a:t>
                      </a:r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700" u="none" strike="noStrike" dirty="0">
                          <a:effectLst/>
                        </a:rPr>
                        <a:t>100,8</a:t>
                      </a:r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extLst>
                  <a:ext uri="{0D108BD9-81ED-4DB2-BD59-A6C34878D82A}">
                    <a16:rowId xmlns:a16="http://schemas.microsoft.com/office/drawing/2014/main" val="621360296"/>
                  </a:ext>
                </a:extLst>
              </a:tr>
              <a:tr h="435108">
                <a:tc>
                  <a:txBody>
                    <a:bodyPr/>
                    <a:lstStyle/>
                    <a:p>
                      <a:pPr algn="l" fontAlgn="b"/>
                      <a:r>
                        <a:rPr lang="es-ES" sz="700" u="none" strike="noStrike" dirty="0">
                          <a:effectLst/>
                        </a:rPr>
                        <a:t> </a:t>
                      </a:r>
                      <a:endParaRPr lang="es-E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700" u="none" strike="noStrike" dirty="0">
                          <a:effectLst/>
                        </a:rPr>
                        <a:t> </a:t>
                      </a:r>
                      <a:endParaRPr lang="es-E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700" u="none" strike="noStrike" dirty="0">
                          <a:effectLst/>
                        </a:rPr>
                        <a:t>Ingeniero de Telecomunicaciones Jr.</a:t>
                      </a:r>
                    </a:p>
                    <a:p>
                      <a:pPr algn="ctr" fontAlgn="b"/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700" u="none" strike="noStrike" dirty="0">
                          <a:effectLst/>
                        </a:rPr>
                        <a:t>2</a:t>
                      </a:r>
                    </a:p>
                    <a:p>
                      <a:pPr algn="r" fontAlgn="b"/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700" u="none" strike="noStrike" dirty="0">
                          <a:effectLst/>
                        </a:rPr>
                        <a:t>16</a:t>
                      </a:r>
                    </a:p>
                    <a:p>
                      <a:pPr algn="r" fontAlgn="b"/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700" u="none" strike="noStrike" dirty="0">
                          <a:effectLst/>
                        </a:rPr>
                        <a:t>30%</a:t>
                      </a:r>
                    </a:p>
                    <a:p>
                      <a:pPr algn="r" fontAlgn="b"/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700" u="none" strike="noStrike" dirty="0">
                          <a:effectLst/>
                        </a:rPr>
                        <a:t>4,8</a:t>
                      </a:r>
                    </a:p>
                    <a:p>
                      <a:pPr algn="r" fontAlgn="b"/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700" u="none" strike="noStrike" dirty="0">
                          <a:effectLst/>
                        </a:rPr>
                        <a:t>12</a:t>
                      </a:r>
                    </a:p>
                    <a:p>
                      <a:pPr algn="r" fontAlgn="b"/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700" u="none" strike="noStrike" dirty="0">
                          <a:effectLst/>
                        </a:rPr>
                        <a:t>57,6</a:t>
                      </a:r>
                    </a:p>
                    <a:p>
                      <a:pPr algn="r" fontAlgn="b"/>
                      <a:endParaRPr lang="es-E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79" marR="4779" marT="4779" marB="0" anchor="b"/>
                </a:tc>
                <a:extLst>
                  <a:ext uri="{0D108BD9-81ED-4DB2-BD59-A6C34878D82A}">
                    <a16:rowId xmlns:a16="http://schemas.microsoft.com/office/drawing/2014/main" val="1889607208"/>
                  </a:ext>
                </a:extLst>
              </a:tr>
            </a:tbl>
          </a:graphicData>
        </a:graphic>
      </p:graphicFrame>
      <p:pic>
        <p:nvPicPr>
          <p:cNvPr id="11" name="Imagen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7312" y="1083126"/>
            <a:ext cx="2207464" cy="1352550"/>
          </a:xfrm>
          <a:prstGeom prst="rect">
            <a:avLst/>
          </a:prstGeom>
        </p:spPr>
      </p:pic>
      <p:sp>
        <p:nvSpPr>
          <p:cNvPr id="13" name="CuadroTexto 12"/>
          <p:cNvSpPr txBox="1"/>
          <p:nvPr/>
        </p:nvSpPr>
        <p:spPr>
          <a:xfrm>
            <a:off x="3564380" y="6125193"/>
            <a:ext cx="3516923" cy="3693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TOTAL 		63060,80 €</a:t>
            </a:r>
          </a:p>
        </p:txBody>
      </p:sp>
    </p:spTree>
    <p:extLst>
      <p:ext uri="{BB962C8B-B14F-4D97-AF65-F5344CB8AC3E}">
        <p14:creationId xmlns:p14="http://schemas.microsoft.com/office/powerpoint/2010/main" val="3204188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Estimación de Costes de las actividades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09599" y="2160590"/>
            <a:ext cx="6793524" cy="3880773"/>
          </a:xfrm>
        </p:spPr>
        <p:txBody>
          <a:bodyPr/>
          <a:lstStyle/>
          <a:p>
            <a:r>
              <a:rPr lang="es-ES" dirty="0"/>
              <a:t>Diseño de la red</a:t>
            </a:r>
          </a:p>
          <a:p>
            <a:pPr lvl="1"/>
            <a:r>
              <a:rPr lang="es-ES" b="1" dirty="0"/>
              <a:t>Empresa subcontratada</a:t>
            </a:r>
          </a:p>
          <a:p>
            <a:pPr lvl="3"/>
            <a:r>
              <a:rPr lang="es-ES" dirty="0"/>
              <a:t>Establecimiento de las divisiones correspondientes entre terrenos urbano denso, urbano, suburbano y rural.</a:t>
            </a:r>
          </a:p>
          <a:p>
            <a:pPr lvl="3"/>
            <a:r>
              <a:rPr lang="es-ES" dirty="0"/>
              <a:t>Estudio de la situación actual del despliegue del operador Telefónica</a:t>
            </a:r>
          </a:p>
          <a:p>
            <a:pPr lvl="3"/>
            <a:r>
              <a:rPr lang="es-ES" dirty="0"/>
              <a:t>Determinación del número, localización y características de los emplazamientos</a:t>
            </a:r>
          </a:p>
          <a:p>
            <a:pPr lvl="3"/>
            <a:r>
              <a:rPr lang="es-ES" dirty="0"/>
              <a:t>Red de agregación </a:t>
            </a:r>
          </a:p>
          <a:p>
            <a:pPr lvl="3"/>
            <a:r>
              <a:rPr lang="es-ES" dirty="0"/>
              <a:t>Realización de pruebas y ajustes de equipos. </a:t>
            </a:r>
          </a:p>
          <a:p>
            <a:pPr lvl="3"/>
            <a:r>
              <a:rPr lang="es-ES" dirty="0"/>
              <a:t>Soluciones de camuflaje.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r>
              <a:rPr lang="en-US" dirty="0"/>
              <a:t>/22</a:t>
            </a:r>
          </a:p>
        </p:txBody>
      </p:sp>
      <p:sp>
        <p:nvSpPr>
          <p:cNvPr id="5" name="Abrir llave 4"/>
          <p:cNvSpPr/>
          <p:nvPr/>
        </p:nvSpPr>
        <p:spPr>
          <a:xfrm>
            <a:off x="1503485" y="2998177"/>
            <a:ext cx="378069" cy="21717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992" y="4280022"/>
            <a:ext cx="2354873" cy="2163362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1788334" y="5677752"/>
            <a:ext cx="3516923" cy="3693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TOTAL 		50.000 €</a:t>
            </a:r>
          </a:p>
        </p:txBody>
      </p:sp>
    </p:spTree>
    <p:extLst>
      <p:ext uri="{BB962C8B-B14F-4D97-AF65-F5344CB8AC3E}">
        <p14:creationId xmlns:p14="http://schemas.microsoft.com/office/powerpoint/2010/main" val="2407032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480" y="3974647"/>
            <a:ext cx="2294480" cy="2555025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29480" y="484630"/>
            <a:ext cx="6527834" cy="1673021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ES" dirty="0"/>
              <a:t>Estimación de costes para las contingencias</a:t>
            </a:r>
            <a:br>
              <a:rPr lang="es-ES" sz="2700" dirty="0"/>
            </a:br>
            <a:endParaRPr lang="es-ES" sz="27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50631" y="1907931"/>
            <a:ext cx="6998677" cy="4133432"/>
          </a:xfrm>
        </p:spPr>
        <p:txBody>
          <a:bodyPr>
            <a:normAutofit/>
          </a:bodyPr>
          <a:lstStyle/>
          <a:p>
            <a:r>
              <a:rPr lang="es-ES" dirty="0"/>
              <a:t>A partir de los riesgos identificados y la forma en la que afectan a las actividades se pretende crear un colchón de reservas para hacerlos frente.</a:t>
            </a:r>
          </a:p>
          <a:p>
            <a:pPr lvl="1"/>
            <a:r>
              <a:rPr lang="es-ES" dirty="0"/>
              <a:t>Dos actividades más críticas: </a:t>
            </a:r>
            <a:r>
              <a:rPr lang="es-ES" b="1" dirty="0"/>
              <a:t>el diseño de la red LTE y la ejecución de las pruebas.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6444676" y="6041363"/>
            <a:ext cx="512638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fld id="{D57F1E4F-1CFF-5643-939E-217C01CDF565}" type="slidenum">
              <a:rPr lang="en-US" sz="1900" smtClean="0"/>
              <a:pPr>
                <a:lnSpc>
                  <a:spcPct val="90000"/>
                </a:lnSpc>
              </a:pPr>
              <a:t>9</a:t>
            </a:fld>
            <a:endParaRPr lang="en-US" sz="1900" dirty="0"/>
          </a:p>
        </p:txBody>
      </p:sp>
      <p:graphicFrame>
        <p:nvGraphicFramePr>
          <p:cNvPr id="6" name="Tab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2189355"/>
              </p:ext>
            </p:extLst>
          </p:nvPr>
        </p:nvGraphicFramePr>
        <p:xfrm>
          <a:off x="3341768" y="3580952"/>
          <a:ext cx="4720779" cy="2981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3482">
                  <a:extLst>
                    <a:ext uri="{9D8B030D-6E8A-4147-A177-3AD203B41FA5}">
                      <a16:colId xmlns:a16="http://schemas.microsoft.com/office/drawing/2014/main" val="215674713"/>
                    </a:ext>
                  </a:extLst>
                </a:gridCol>
                <a:gridCol w="843482">
                  <a:extLst>
                    <a:ext uri="{9D8B030D-6E8A-4147-A177-3AD203B41FA5}">
                      <a16:colId xmlns:a16="http://schemas.microsoft.com/office/drawing/2014/main" val="2126917841"/>
                    </a:ext>
                  </a:extLst>
                </a:gridCol>
                <a:gridCol w="843482">
                  <a:extLst>
                    <a:ext uri="{9D8B030D-6E8A-4147-A177-3AD203B41FA5}">
                      <a16:colId xmlns:a16="http://schemas.microsoft.com/office/drawing/2014/main" val="4279612410"/>
                    </a:ext>
                  </a:extLst>
                </a:gridCol>
                <a:gridCol w="965923">
                  <a:extLst>
                    <a:ext uri="{9D8B030D-6E8A-4147-A177-3AD203B41FA5}">
                      <a16:colId xmlns:a16="http://schemas.microsoft.com/office/drawing/2014/main" val="84061725"/>
                    </a:ext>
                  </a:extLst>
                </a:gridCol>
                <a:gridCol w="1224410">
                  <a:extLst>
                    <a:ext uri="{9D8B030D-6E8A-4147-A177-3AD203B41FA5}">
                      <a16:colId xmlns:a16="http://schemas.microsoft.com/office/drawing/2014/main" val="1657332778"/>
                    </a:ext>
                  </a:extLst>
                </a:gridCol>
              </a:tblGrid>
              <a:tr h="198776"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b="1" u="none" strike="noStrike" dirty="0">
                          <a:effectLst/>
                        </a:rPr>
                        <a:t>ID</a:t>
                      </a:r>
                      <a:endParaRPr lang="es-E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b="1" u="none" strike="noStrike" dirty="0">
                          <a:effectLst/>
                        </a:rPr>
                        <a:t>Riesgos </a:t>
                      </a:r>
                      <a:endParaRPr lang="es-E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b="1" u="none" strike="noStrike" dirty="0">
                          <a:effectLst/>
                        </a:rPr>
                        <a:t>Duración</a:t>
                      </a:r>
                      <a:endParaRPr lang="es-E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b="1" u="none" strike="noStrike" dirty="0">
                          <a:effectLst/>
                        </a:rPr>
                        <a:t>Importe </a:t>
                      </a:r>
                      <a:endParaRPr lang="es-E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b="1" u="none" strike="noStrike" dirty="0">
                          <a:effectLst/>
                        </a:rPr>
                        <a:t>Contingencias</a:t>
                      </a:r>
                      <a:endParaRPr lang="es-E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2010984"/>
                  </a:ext>
                </a:extLst>
              </a:tr>
              <a:tr h="198776"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b="1" u="none" strike="noStrike" dirty="0">
                          <a:effectLst/>
                        </a:rPr>
                        <a:t> </a:t>
                      </a:r>
                      <a:endParaRPr lang="es-E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b="1" u="none" strike="noStrike" dirty="0">
                          <a:effectLst/>
                        </a:rPr>
                        <a:t>detectados</a:t>
                      </a:r>
                      <a:endParaRPr lang="es-E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b="1" u="none" strike="noStrike" dirty="0">
                          <a:effectLst/>
                        </a:rPr>
                        <a:t>días </a:t>
                      </a:r>
                      <a:endParaRPr lang="es-E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b="1" u="none" strike="noStrike" dirty="0">
                          <a:effectLst/>
                        </a:rPr>
                        <a:t>dedicado/día</a:t>
                      </a:r>
                      <a:endParaRPr lang="es-E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b="1" u="none" strike="noStrike" dirty="0">
                          <a:effectLst/>
                        </a:rPr>
                        <a:t>€</a:t>
                      </a:r>
                      <a:endParaRPr lang="es-E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7479047"/>
                  </a:ext>
                </a:extLst>
              </a:tr>
              <a:tr h="198776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 dirty="0">
                          <a:effectLst/>
                        </a:rPr>
                        <a:t>1.1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u="none" strike="noStrike" dirty="0">
                          <a:effectLst/>
                        </a:rPr>
                        <a:t>3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u="none" strike="noStrike" dirty="0">
                          <a:effectLst/>
                        </a:rPr>
                        <a:t>2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u="none" strike="noStrike" dirty="0">
                          <a:effectLst/>
                        </a:rPr>
                        <a:t>50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u="none" strike="noStrike" dirty="0">
                          <a:effectLst/>
                        </a:rPr>
                        <a:t>100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50075308"/>
                  </a:ext>
                </a:extLst>
              </a:tr>
              <a:tr h="198776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 dirty="0">
                          <a:effectLst/>
                        </a:rPr>
                        <a:t>2.1</a:t>
                      </a:r>
                      <a:endParaRPr lang="es-E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u="none" strike="noStrike" dirty="0">
                          <a:effectLst/>
                        </a:rPr>
                        <a:t>3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u="none" strike="noStrike" dirty="0">
                          <a:effectLst/>
                        </a:rPr>
                        <a:t>7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u="none" strike="noStrike" dirty="0">
                          <a:effectLst/>
                        </a:rPr>
                        <a:t>60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u="none" strike="noStrike" dirty="0">
                          <a:effectLst/>
                        </a:rPr>
                        <a:t>420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73914144"/>
                  </a:ext>
                </a:extLst>
              </a:tr>
              <a:tr h="198776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 dirty="0">
                          <a:effectLst/>
                        </a:rPr>
                        <a:t>2.2</a:t>
                      </a:r>
                      <a:endParaRPr lang="es-E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u="none" strike="noStrike" dirty="0">
                          <a:effectLst/>
                        </a:rPr>
                        <a:t>3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u="none" strike="noStrike" dirty="0">
                          <a:effectLst/>
                        </a:rPr>
                        <a:t>3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u="none" strike="noStrike" dirty="0">
                          <a:effectLst/>
                        </a:rPr>
                        <a:t>50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u="none" strike="noStrike" dirty="0">
                          <a:effectLst/>
                        </a:rPr>
                        <a:t>150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48185620"/>
                  </a:ext>
                </a:extLst>
              </a:tr>
              <a:tr h="198776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 dirty="0">
                          <a:effectLst/>
                        </a:rPr>
                        <a:t>2.3</a:t>
                      </a:r>
                      <a:endParaRPr lang="es-E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u="none" strike="noStrike" dirty="0">
                          <a:effectLst/>
                        </a:rPr>
                        <a:t>3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u="none" strike="noStrike" dirty="0">
                          <a:effectLst/>
                        </a:rPr>
                        <a:t>3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u="none" strike="noStrike" dirty="0">
                          <a:effectLst/>
                        </a:rPr>
                        <a:t>50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u="none" strike="noStrike" dirty="0">
                          <a:effectLst/>
                        </a:rPr>
                        <a:t>150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69853476"/>
                  </a:ext>
                </a:extLst>
              </a:tr>
              <a:tr h="198776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 dirty="0">
                          <a:effectLst/>
                        </a:rPr>
                        <a:t>2.4</a:t>
                      </a:r>
                      <a:endParaRPr lang="es-E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u="none" strike="noStrike" dirty="0">
                          <a:effectLst/>
                        </a:rPr>
                        <a:t>3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u="none" strike="noStrike" dirty="0">
                          <a:effectLst/>
                        </a:rPr>
                        <a:t>3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u="none" strike="noStrike" dirty="0">
                          <a:effectLst/>
                        </a:rPr>
                        <a:t>50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u="none" strike="noStrike" dirty="0">
                          <a:effectLst/>
                        </a:rPr>
                        <a:t>150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579800"/>
                  </a:ext>
                </a:extLst>
              </a:tr>
              <a:tr h="198776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 dirty="0">
                          <a:effectLst/>
                        </a:rPr>
                        <a:t>2.5</a:t>
                      </a:r>
                      <a:endParaRPr lang="es-E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u="none" strike="noStrike" dirty="0">
                          <a:effectLst/>
                        </a:rPr>
                        <a:t>3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u="none" strike="noStrike" dirty="0">
                          <a:effectLst/>
                        </a:rPr>
                        <a:t>2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u="none" strike="noStrike" dirty="0">
                          <a:effectLst/>
                        </a:rPr>
                        <a:t>50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u="none" strike="noStrike" dirty="0">
                          <a:effectLst/>
                        </a:rPr>
                        <a:t>100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62476440"/>
                  </a:ext>
                </a:extLst>
              </a:tr>
              <a:tr h="198776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 dirty="0">
                          <a:effectLst/>
                        </a:rPr>
                        <a:t>2.6</a:t>
                      </a:r>
                      <a:endParaRPr lang="es-E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u="none" strike="noStrike" dirty="0">
                          <a:effectLst/>
                        </a:rPr>
                        <a:t>3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u="none" strike="noStrike" dirty="0">
                          <a:effectLst/>
                        </a:rPr>
                        <a:t>3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u="none" strike="noStrike" dirty="0">
                          <a:effectLst/>
                        </a:rPr>
                        <a:t>50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u="none" strike="noStrike" dirty="0">
                          <a:effectLst/>
                        </a:rPr>
                        <a:t>150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96759374"/>
                  </a:ext>
                </a:extLst>
              </a:tr>
              <a:tr h="198776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 dirty="0">
                          <a:effectLst/>
                        </a:rPr>
                        <a:t>2.7</a:t>
                      </a:r>
                      <a:endParaRPr lang="es-E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u="none" strike="noStrike" dirty="0">
                          <a:effectLst/>
                        </a:rPr>
                        <a:t>3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u="none" strike="noStrike" dirty="0">
                          <a:effectLst/>
                        </a:rPr>
                        <a:t>16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u="none" strike="noStrike" dirty="0">
                          <a:effectLst/>
                        </a:rPr>
                        <a:t>100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u="none" strike="noStrike" dirty="0">
                          <a:effectLst/>
                        </a:rPr>
                        <a:t>1600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98397025"/>
                  </a:ext>
                </a:extLst>
              </a:tr>
              <a:tr h="198776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 dirty="0">
                          <a:effectLst/>
                        </a:rPr>
                        <a:t>2.8</a:t>
                      </a:r>
                      <a:endParaRPr lang="es-E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u="none" strike="noStrike" dirty="0">
                          <a:effectLst/>
                        </a:rPr>
                        <a:t>3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u="none" strike="noStrike" dirty="0">
                          <a:effectLst/>
                        </a:rPr>
                        <a:t>8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u="none" strike="noStrike" dirty="0">
                          <a:effectLst/>
                        </a:rPr>
                        <a:t>60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u="none" strike="noStrike" dirty="0">
                          <a:effectLst/>
                        </a:rPr>
                        <a:t>480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22795376"/>
                  </a:ext>
                </a:extLst>
              </a:tr>
              <a:tr h="198776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 dirty="0">
                          <a:effectLst/>
                        </a:rPr>
                        <a:t>3</a:t>
                      </a:r>
                      <a:endParaRPr lang="es-E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u="none" strike="noStrike" dirty="0">
                          <a:effectLst/>
                        </a:rPr>
                        <a:t>8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u="none" strike="noStrike" dirty="0">
                          <a:effectLst/>
                        </a:rPr>
                        <a:t>40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u="none" strike="noStrike" dirty="0">
                          <a:effectLst/>
                        </a:rPr>
                        <a:t>350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u="none" strike="noStrike" dirty="0">
                          <a:effectLst/>
                        </a:rPr>
                        <a:t>14000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48186220"/>
                  </a:ext>
                </a:extLst>
              </a:tr>
              <a:tr h="198776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 dirty="0">
                          <a:effectLst/>
                        </a:rPr>
                        <a:t>4</a:t>
                      </a:r>
                      <a:endParaRPr lang="es-E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u="none" strike="noStrike" dirty="0">
                          <a:effectLst/>
                        </a:rPr>
                        <a:t>3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u="none" strike="noStrike" dirty="0">
                          <a:effectLst/>
                        </a:rPr>
                        <a:t>8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u="none" strike="noStrike" dirty="0">
                          <a:effectLst/>
                        </a:rPr>
                        <a:t>60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u="none" strike="noStrike" dirty="0">
                          <a:effectLst/>
                        </a:rPr>
                        <a:t>480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14293786"/>
                  </a:ext>
                </a:extLst>
              </a:tr>
              <a:tr h="198776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 dirty="0">
                          <a:effectLst/>
                        </a:rPr>
                        <a:t>5</a:t>
                      </a:r>
                      <a:endParaRPr lang="es-E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u="none" strike="noStrike" dirty="0">
                          <a:effectLst/>
                        </a:rPr>
                        <a:t>6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u="none" strike="noStrike" dirty="0">
                          <a:effectLst/>
                        </a:rPr>
                        <a:t>4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u="none" strike="noStrike" dirty="0">
                          <a:effectLst/>
                        </a:rPr>
                        <a:t>750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u="none" strike="noStrike" dirty="0">
                          <a:effectLst/>
                        </a:rPr>
                        <a:t>3000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94945991"/>
                  </a:ext>
                </a:extLst>
              </a:tr>
              <a:tr h="198776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 dirty="0">
                          <a:effectLst/>
                        </a:rPr>
                        <a:t>6</a:t>
                      </a:r>
                      <a:endParaRPr lang="es-E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u="none" strike="noStrike" dirty="0">
                          <a:effectLst/>
                        </a:rPr>
                        <a:t>3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u="none" strike="noStrike" dirty="0">
                          <a:effectLst/>
                        </a:rPr>
                        <a:t>6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u="none" strike="noStrike" dirty="0">
                          <a:effectLst/>
                        </a:rPr>
                        <a:t>50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u="none" strike="noStrike" dirty="0">
                          <a:effectLst/>
                        </a:rPr>
                        <a:t>300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96819728"/>
                  </a:ext>
                </a:extLst>
              </a:tr>
            </a:tbl>
          </a:graphicData>
        </a:graphic>
      </p:graphicFrame>
      <p:sp>
        <p:nvSpPr>
          <p:cNvPr id="8" name="Marcador de número de diapositiva 3"/>
          <p:cNvSpPr txBox="1">
            <a:spLocks/>
          </p:cNvSpPr>
          <p:nvPr/>
        </p:nvSpPr>
        <p:spPr>
          <a:xfrm>
            <a:off x="7661429" y="82973"/>
            <a:ext cx="1275605" cy="1053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mtClean="0"/>
              <a:pPr/>
              <a:t>9</a:t>
            </a:fld>
            <a:r>
              <a:rPr lang="en-US" dirty="0"/>
              <a:t>/22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4012788" y="4960381"/>
            <a:ext cx="3516923" cy="369332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dirty="0"/>
              <a:t>TOTAL 		21.080 €</a:t>
            </a:r>
          </a:p>
        </p:txBody>
      </p:sp>
    </p:spTree>
    <p:extLst>
      <p:ext uri="{BB962C8B-B14F-4D97-AF65-F5344CB8AC3E}">
        <p14:creationId xmlns:p14="http://schemas.microsoft.com/office/powerpoint/2010/main" val="1627132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Marcador de contenido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7655" y="2267003"/>
            <a:ext cx="4955238" cy="2755035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>
            <a:normAutofit/>
          </a:bodyPr>
          <a:lstStyle/>
          <a:p>
            <a:r>
              <a:rPr lang="es-ES" dirty="0"/>
              <a:t>Determinar el presupuesto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6444676" y="6041363"/>
            <a:ext cx="512638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fld id="{D57F1E4F-1CFF-5643-939E-217C01CDF565}" type="slidenum">
              <a:rPr lang="en-US" sz="1900" smtClean="0"/>
              <a:pPr>
                <a:lnSpc>
                  <a:spcPct val="90000"/>
                </a:lnSpc>
              </a:pPr>
              <a:t>10</a:t>
            </a:fld>
            <a:endParaRPr lang="en-US" sz="1900" dirty="0"/>
          </a:p>
        </p:txBody>
      </p:sp>
      <p:sp>
        <p:nvSpPr>
          <p:cNvPr id="13" name="Content Placeholder 11"/>
          <p:cNvSpPr>
            <a:spLocks noGrp="1"/>
          </p:cNvSpPr>
          <p:nvPr>
            <p:ph idx="1"/>
          </p:nvPr>
        </p:nvSpPr>
        <p:spPr>
          <a:xfrm>
            <a:off x="196359" y="1472829"/>
            <a:ext cx="7813433" cy="4002819"/>
          </a:xfrm>
        </p:spPr>
        <p:txBody>
          <a:bodyPr>
            <a:normAutofit/>
          </a:bodyPr>
          <a:lstStyle/>
          <a:p>
            <a:pPr algn="just"/>
            <a:r>
              <a:rPr lang="es-ES" dirty="0"/>
              <a:t>Sumando los costes estimados de las actividades junto a las reservas de contingencias se establece una </a:t>
            </a:r>
            <a:r>
              <a:rPr lang="es-ES" b="1" dirty="0"/>
              <a:t>línea base de costes</a:t>
            </a:r>
            <a:r>
              <a:rPr lang="es-ES" dirty="0"/>
              <a:t> autorizada por el cliente y la CEO.</a:t>
            </a:r>
            <a:endParaRPr lang="en-US" dirty="0"/>
          </a:p>
        </p:txBody>
      </p:sp>
      <p:sp>
        <p:nvSpPr>
          <p:cNvPr id="14" name="Marcador de número de diapositiva 3"/>
          <p:cNvSpPr txBox="1">
            <a:spLocks/>
          </p:cNvSpPr>
          <p:nvPr/>
        </p:nvSpPr>
        <p:spPr>
          <a:xfrm>
            <a:off x="7661429" y="82973"/>
            <a:ext cx="1275605" cy="1053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mtClean="0"/>
              <a:pPr/>
              <a:t>10</a:t>
            </a:fld>
            <a:r>
              <a:rPr lang="en-US" dirty="0"/>
              <a:t>/22</a:t>
            </a: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116" y="2817582"/>
            <a:ext cx="4643639" cy="2675077"/>
          </a:xfrm>
          <a:prstGeom prst="rect">
            <a:avLst/>
          </a:prstGeom>
        </p:spPr>
      </p:pic>
      <p:sp>
        <p:nvSpPr>
          <p:cNvPr id="17" name="CuadroTexto 16"/>
          <p:cNvSpPr txBox="1"/>
          <p:nvPr/>
        </p:nvSpPr>
        <p:spPr>
          <a:xfrm>
            <a:off x="778662" y="5738712"/>
            <a:ext cx="7869115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" sz="1600" b="1" dirty="0"/>
              <a:t>47702,87 € de reserva de gestión </a:t>
            </a:r>
            <a:r>
              <a:rPr lang="es-ES" sz="1600" dirty="0"/>
              <a:t>para hacer frente a trabajo no previsto en el alcance inicial.</a:t>
            </a:r>
          </a:p>
          <a:p>
            <a:r>
              <a:rPr lang="es-ES" sz="1400" dirty="0"/>
              <a:t>	Necesaria la aprobación de la Project Manager, de la CEO y el cliente para pasar los 	fondos de la reserva de gestión a la línea base de costos.</a:t>
            </a:r>
          </a:p>
        </p:txBody>
      </p:sp>
    </p:spTree>
    <p:extLst>
      <p:ext uri="{BB962C8B-B14F-4D97-AF65-F5344CB8AC3E}">
        <p14:creationId xmlns:p14="http://schemas.microsoft.com/office/powerpoint/2010/main" val="4031098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18728" y="609599"/>
            <a:ext cx="6729455" cy="989356"/>
          </a:xfrm>
        </p:spPr>
        <p:txBody>
          <a:bodyPr>
            <a:normAutofit/>
          </a:bodyPr>
          <a:lstStyle/>
          <a:p>
            <a:r>
              <a:rPr lang="es-ES" dirty="0"/>
              <a:t>Requisitos de Financiación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18728" y="1598955"/>
            <a:ext cx="7459180" cy="3880773"/>
          </a:xfrm>
        </p:spPr>
        <p:txBody>
          <a:bodyPr/>
          <a:lstStyle/>
          <a:p>
            <a:pPr algn="just"/>
            <a:r>
              <a:rPr lang="es-ES" dirty="0"/>
              <a:t>Se debe informar de las fechas estimadas de inyección de financiación, así como del importe de la misma, al cliente viendo los recursos que se van a consumir por fases.</a:t>
            </a:r>
          </a:p>
          <a:p>
            <a:pPr lvl="1" algn="just"/>
            <a:r>
              <a:rPr lang="es-ES" dirty="0"/>
              <a:t>Recursos materiales : Octubre</a:t>
            </a:r>
          </a:p>
          <a:p>
            <a:pPr lvl="1" algn="just"/>
            <a:r>
              <a:rPr lang="es-ES" dirty="0"/>
              <a:t>Pago a empresa subcontratada : Noviembre</a:t>
            </a:r>
          </a:p>
          <a:p>
            <a:pPr lvl="1" algn="just"/>
            <a:r>
              <a:rPr lang="es-ES" dirty="0"/>
              <a:t>RRHH por fechas:</a:t>
            </a:r>
          </a:p>
          <a:p>
            <a:pPr algn="just"/>
            <a:endParaRPr lang="es-ES" sz="18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r>
              <a:rPr lang="en-US" dirty="0"/>
              <a:t>/22</a:t>
            </a: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350" y="2405429"/>
            <a:ext cx="2914650" cy="1695450"/>
          </a:xfrm>
          <a:prstGeom prst="rect">
            <a:avLst/>
          </a:prstGeom>
        </p:spPr>
      </p:pic>
      <p:pic>
        <p:nvPicPr>
          <p:cNvPr id="12" name="Imagen 11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914" y="3942212"/>
            <a:ext cx="4927135" cy="26411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21336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Requisitos de Financiación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r>
              <a:rPr lang="en-US" dirty="0"/>
              <a:t>/22</a:t>
            </a:r>
          </a:p>
        </p:txBody>
      </p:sp>
      <p:pic>
        <p:nvPicPr>
          <p:cNvPr id="5" name="Marcador de contenido 4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1577" y="1668221"/>
            <a:ext cx="4243755" cy="3009288"/>
          </a:xfrm>
          <a:prstGeom prst="rect">
            <a:avLst/>
          </a:prstGeom>
        </p:spPr>
      </p:pic>
      <p:sp>
        <p:nvSpPr>
          <p:cNvPr id="7" name="Marcador de contenido 2"/>
          <p:cNvSpPr txBox="1">
            <a:spLocks/>
          </p:cNvSpPr>
          <p:nvPr/>
        </p:nvSpPr>
        <p:spPr>
          <a:xfrm>
            <a:off x="609599" y="4917613"/>
            <a:ext cx="7459180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dirty="0"/>
              <a:t>Las inyecciones de capital serán de 20.000€ y más periódicas en las últimas etapas.</a:t>
            </a:r>
          </a:p>
          <a:p>
            <a:pPr algn="just"/>
            <a:r>
              <a:rPr lang="es-ES" dirty="0"/>
              <a:t>Reservas de contingencias aumentarán acorde al avance de las etapas para poder afrontar los riesgos en las fases más avanzadas del proyecto.</a:t>
            </a:r>
          </a:p>
        </p:txBody>
      </p:sp>
    </p:spTree>
    <p:extLst>
      <p:ext uri="{BB962C8B-B14F-4D97-AF65-F5344CB8AC3E}">
        <p14:creationId xmlns:p14="http://schemas.microsoft.com/office/powerpoint/2010/main" val="42359032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7539" y="1473799"/>
            <a:ext cx="8508391" cy="3880773"/>
          </a:xfrm>
        </p:spPr>
        <p:txBody>
          <a:bodyPr/>
          <a:lstStyle/>
          <a:p>
            <a:r>
              <a:rPr lang="es-ES" dirty="0"/>
              <a:t>En las reuniones fijadas se comparará el avance del coste a lo largo del tiempo.</a:t>
            </a:r>
          </a:p>
          <a:p>
            <a:pPr lvl="1"/>
            <a:r>
              <a:rPr lang="es-ES" dirty="0"/>
              <a:t>Las actividades del cronograma que exceden el presupuesto.</a:t>
            </a:r>
          </a:p>
          <a:p>
            <a:pPr lvl="1"/>
            <a:r>
              <a:rPr lang="es-ES" dirty="0"/>
              <a:t>Las actividades del cronograma que están por debajo de éste.</a:t>
            </a:r>
          </a:p>
          <a:p>
            <a:pPr lvl="1"/>
            <a:r>
              <a:rPr lang="es-ES" dirty="0"/>
              <a:t>Los fondos necesarios para completar el trabajo en ejecución.</a:t>
            </a:r>
          </a:p>
          <a:p>
            <a:r>
              <a:rPr lang="es-ES" dirty="0"/>
              <a:t>Parámetros</a:t>
            </a:r>
          </a:p>
          <a:p>
            <a:pPr lvl="1"/>
            <a:r>
              <a:rPr lang="es-ES" dirty="0"/>
              <a:t>Valor planificado (PV) </a:t>
            </a:r>
          </a:p>
          <a:p>
            <a:pPr lvl="1"/>
            <a:r>
              <a:rPr lang="es-ES" dirty="0"/>
              <a:t>Valor ganado (EV)</a:t>
            </a:r>
          </a:p>
          <a:p>
            <a:pPr lvl="1"/>
            <a:r>
              <a:rPr lang="es-ES" dirty="0"/>
              <a:t>Coste real (AC) como coste total para llevar a cabo la actividad.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r>
              <a:rPr lang="en-US" dirty="0"/>
              <a:t>/22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457200" y="5134654"/>
            <a:ext cx="2356338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Retrasos : SV=EV-PV</a:t>
            </a:r>
          </a:p>
        </p:txBody>
      </p:sp>
      <p:sp>
        <p:nvSpPr>
          <p:cNvPr id="6" name="CuadroTexto 5"/>
          <p:cNvSpPr txBox="1"/>
          <p:nvPr/>
        </p:nvSpPr>
        <p:spPr>
          <a:xfrm>
            <a:off x="594071" y="6034105"/>
            <a:ext cx="3917663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Variaciones del coste: CV= EV-AC</a:t>
            </a:r>
          </a:p>
        </p:txBody>
      </p:sp>
      <p:sp>
        <p:nvSpPr>
          <p:cNvPr id="7" name="CuadroTexto 6"/>
          <p:cNvSpPr txBox="1"/>
          <p:nvPr/>
        </p:nvSpPr>
        <p:spPr>
          <a:xfrm>
            <a:off x="3947746" y="5180820"/>
            <a:ext cx="1406769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Medidas de eficiencia</a:t>
            </a:r>
          </a:p>
        </p:txBody>
      </p:sp>
      <p:sp>
        <p:nvSpPr>
          <p:cNvPr id="8" name="Abrir llave 7"/>
          <p:cNvSpPr/>
          <p:nvPr/>
        </p:nvSpPr>
        <p:spPr>
          <a:xfrm>
            <a:off x="5297364" y="4932485"/>
            <a:ext cx="492369" cy="110162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" name="CuadroTexto 8"/>
          <p:cNvSpPr txBox="1"/>
          <p:nvPr/>
        </p:nvSpPr>
        <p:spPr>
          <a:xfrm>
            <a:off x="5845218" y="4875281"/>
            <a:ext cx="1717829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SPI=EV/PV</a:t>
            </a:r>
          </a:p>
        </p:txBody>
      </p:sp>
      <p:sp>
        <p:nvSpPr>
          <p:cNvPr id="10" name="Rectángulo 9"/>
          <p:cNvSpPr/>
          <p:nvPr/>
        </p:nvSpPr>
        <p:spPr>
          <a:xfrm>
            <a:off x="5827420" y="5849439"/>
            <a:ext cx="1292341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s-ES" dirty="0">
                <a:ea typeface="Calibri" panose="020F0502020204030204" pitchFamily="34" charset="0"/>
                <a:cs typeface="Times New Roman" panose="02020603050405020304" pitchFamily="18" charset="0"/>
              </a:rPr>
              <a:t>CPI=EV/AC</a:t>
            </a:r>
            <a:endParaRPr lang="es-ES" dirty="0"/>
          </a:p>
        </p:txBody>
      </p:sp>
      <p:sp>
        <p:nvSpPr>
          <p:cNvPr id="19" name="Título 1"/>
          <p:cNvSpPr txBox="1">
            <a:spLocks/>
          </p:cNvSpPr>
          <p:nvPr/>
        </p:nvSpPr>
        <p:spPr>
          <a:xfrm>
            <a:off x="257539" y="412017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dirty="0"/>
              <a:t>Control de los costes</a:t>
            </a:r>
          </a:p>
        </p:txBody>
      </p:sp>
      <p:sp>
        <p:nvSpPr>
          <p:cNvPr id="20" name="Marcador de contenido 2"/>
          <p:cNvSpPr txBox="1">
            <a:spLocks/>
          </p:cNvSpPr>
          <p:nvPr/>
        </p:nvSpPr>
        <p:spPr>
          <a:xfrm>
            <a:off x="257539" y="1384561"/>
            <a:ext cx="8886461" cy="180704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>
                <a:solidFill>
                  <a:schemeClr val="bg2">
                    <a:lumMod val="25000"/>
                  </a:schemeClr>
                </a:solidFill>
              </a:rPr>
              <a:t>Al cliente se le entregará una gráfica siguiendo el modelo EVM</a:t>
            </a:r>
          </a:p>
          <a:p>
            <a:endParaRPr lang="es-ES" dirty="0">
              <a:solidFill>
                <a:schemeClr val="bg2">
                  <a:lumMod val="25000"/>
                </a:schemeClr>
              </a:solidFill>
            </a:endParaRPr>
          </a:p>
          <a:p>
            <a:pPr lvl="1"/>
            <a:r>
              <a:rPr lang="es-ES" dirty="0">
                <a:solidFill>
                  <a:schemeClr val="bg2">
                    <a:lumMod val="25000"/>
                  </a:schemeClr>
                </a:solidFill>
              </a:rPr>
              <a:t>Desvíos hasta 10% 	     Carácter informativo 	     	  Acciones preventivas</a:t>
            </a:r>
          </a:p>
          <a:p>
            <a:pPr lvl="1"/>
            <a:r>
              <a:rPr lang="es-ES" dirty="0">
                <a:solidFill>
                  <a:schemeClr val="bg2">
                    <a:lumMod val="25000"/>
                  </a:schemeClr>
                </a:solidFill>
              </a:rPr>
              <a:t>&gt;10% 		 Informe extraordinario de solicitud de cambios 		Medidas correctivas</a:t>
            </a:r>
          </a:p>
          <a:p>
            <a:pPr lvl="1"/>
            <a:endParaRPr lang="es-ES" dirty="0">
              <a:solidFill>
                <a:schemeClr val="bg2">
                  <a:lumMod val="25000"/>
                </a:schemeClr>
              </a:solidFill>
            </a:endParaRPr>
          </a:p>
          <a:p>
            <a:pPr lvl="1"/>
            <a:endParaRPr lang="es-ES" dirty="0">
              <a:solidFill>
                <a:schemeClr val="bg2">
                  <a:lumMod val="25000"/>
                </a:schemeClr>
              </a:solidFill>
            </a:endParaRPr>
          </a:p>
          <a:p>
            <a:endParaRPr lang="es-ES" dirty="0"/>
          </a:p>
        </p:txBody>
      </p:sp>
      <p:sp>
        <p:nvSpPr>
          <p:cNvPr id="21" name="Flecha derecha 20"/>
          <p:cNvSpPr/>
          <p:nvPr/>
        </p:nvSpPr>
        <p:spPr>
          <a:xfrm>
            <a:off x="2813538" y="2322917"/>
            <a:ext cx="400857" cy="8979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2" name="Flecha derecha 21"/>
          <p:cNvSpPr/>
          <p:nvPr/>
        </p:nvSpPr>
        <p:spPr>
          <a:xfrm>
            <a:off x="1698709" y="2699176"/>
            <a:ext cx="400857" cy="8979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3" name="Flecha derecha 22"/>
          <p:cNvSpPr/>
          <p:nvPr/>
        </p:nvSpPr>
        <p:spPr>
          <a:xfrm>
            <a:off x="5444361" y="2333527"/>
            <a:ext cx="400857" cy="8979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Flecha derecha 23"/>
          <p:cNvSpPr/>
          <p:nvPr/>
        </p:nvSpPr>
        <p:spPr>
          <a:xfrm>
            <a:off x="6686186" y="2699176"/>
            <a:ext cx="400857" cy="8979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69339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45987" y="636105"/>
            <a:ext cx="7246291" cy="56676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4000" dirty="0">
                <a:latin typeface="Berlin Sans FB" panose="020E0602020502020306" pitchFamily="34" charset="0"/>
              </a:rPr>
              <a:t>JUSTIFICACIÓN TÉCNICA DEL PROYECTO</a:t>
            </a:r>
          </a:p>
          <a:p>
            <a:pPr marL="0" indent="0">
              <a:buNone/>
            </a:pPr>
            <a:endParaRPr lang="es-ES" sz="4000" dirty="0">
              <a:latin typeface="Berlin Sans FB" panose="020E0602020502020306" pitchFamily="34" charset="0"/>
            </a:endParaRPr>
          </a:p>
          <a:p>
            <a:r>
              <a:rPr lang="es-ES" sz="2800" dirty="0"/>
              <a:t>Equipos y Software utilizados</a:t>
            </a:r>
          </a:p>
          <a:p>
            <a:r>
              <a:rPr lang="es-ES" sz="2800" dirty="0"/>
              <a:t>Recursos para las comunicaciones</a:t>
            </a:r>
          </a:p>
          <a:p>
            <a:r>
              <a:rPr lang="es-ES" sz="2800" dirty="0"/>
              <a:t>Estrategia de diseño</a:t>
            </a:r>
          </a:p>
          <a:p>
            <a:r>
              <a:rPr lang="es-ES" sz="2800" dirty="0"/>
              <a:t>Equipos de pruebas</a:t>
            </a:r>
          </a:p>
          <a:p>
            <a:r>
              <a:rPr lang="es-ES" sz="2800" dirty="0"/>
              <a:t>Integración en el entorno</a:t>
            </a:r>
          </a:p>
          <a:p>
            <a:endParaRPr lang="es-ES" sz="2800" dirty="0"/>
          </a:p>
          <a:p>
            <a:endParaRPr lang="es-ES" sz="2800" dirty="0"/>
          </a:p>
          <a:p>
            <a:pPr marL="457200" lvl="1" indent="0">
              <a:buNone/>
            </a:pPr>
            <a:endParaRPr lang="es-ES" sz="1800" dirty="0"/>
          </a:p>
          <a:p>
            <a:pPr marL="0" indent="0">
              <a:buNone/>
            </a:pPr>
            <a:endParaRPr lang="es-ES" sz="4000" dirty="0">
              <a:latin typeface="Berlin Sans FB" panose="020E0602020502020306" pitchFamily="34" charset="0"/>
            </a:endParaRPr>
          </a:p>
          <a:p>
            <a:pPr marL="0" indent="0">
              <a:buNone/>
            </a:pPr>
            <a:endParaRPr lang="es-ES" sz="4000" dirty="0">
              <a:latin typeface="Berlin Sans FB" panose="020E0602020502020306" pitchFamily="34" charset="0"/>
            </a:endParaRPr>
          </a:p>
          <a:p>
            <a:pPr marL="0" indent="0">
              <a:buNone/>
            </a:pPr>
            <a:endParaRPr lang="es-ES" sz="4000" dirty="0">
              <a:latin typeface="Berlin Sans FB" panose="020E0602020502020306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r>
              <a:rPr lang="en-US" dirty="0"/>
              <a:t>/22</a:t>
            </a:r>
          </a:p>
        </p:txBody>
      </p:sp>
    </p:spTree>
    <p:extLst>
      <p:ext uri="{BB962C8B-B14F-4D97-AF65-F5344CB8AC3E}">
        <p14:creationId xmlns:p14="http://schemas.microsoft.com/office/powerpoint/2010/main" val="38272431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50575"/>
            <a:ext cx="7728668" cy="1226614"/>
          </a:xfrm>
        </p:spPr>
        <p:txBody>
          <a:bodyPr>
            <a:normAutofit/>
          </a:bodyPr>
          <a:lstStyle/>
          <a:p>
            <a:r>
              <a:rPr lang="es-ES" dirty="0"/>
              <a:t>Equipos y Software 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1136226"/>
            <a:ext cx="7661429" cy="535733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ES" sz="2800" dirty="0"/>
          </a:p>
          <a:p>
            <a:r>
              <a:rPr lang="es-ES" sz="2800" dirty="0"/>
              <a:t>Ordenadores de sobremesa</a:t>
            </a:r>
            <a:endParaRPr lang="es-ES" sz="2000" dirty="0"/>
          </a:p>
          <a:p>
            <a:pPr marL="0" indent="0">
              <a:buNone/>
            </a:pPr>
            <a:endParaRPr lang="es-ES" sz="2800" dirty="0"/>
          </a:p>
          <a:p>
            <a:r>
              <a:rPr lang="es-ES" sz="2800" dirty="0"/>
              <a:t>Ordenadores portátiles</a:t>
            </a:r>
          </a:p>
          <a:p>
            <a:pPr marL="0" indent="0">
              <a:buNone/>
            </a:pPr>
            <a:endParaRPr lang="es-ES" sz="2800" dirty="0"/>
          </a:p>
          <a:p>
            <a:r>
              <a:rPr lang="es-ES" sz="2800" dirty="0"/>
              <a:t>Impresoras</a:t>
            </a:r>
          </a:p>
          <a:p>
            <a:pPr marL="0" indent="0">
              <a:buNone/>
            </a:pPr>
            <a:endParaRPr lang="es-ES" sz="2800" dirty="0"/>
          </a:p>
          <a:p>
            <a:r>
              <a:rPr lang="es-ES" sz="2800" dirty="0"/>
              <a:t>Office Professional 2016</a:t>
            </a:r>
          </a:p>
          <a:p>
            <a:pPr lvl="1"/>
            <a:r>
              <a:rPr lang="es-ES" sz="2000" dirty="0"/>
              <a:t>Word, Excel, PowerPoint, Outlook</a:t>
            </a:r>
          </a:p>
          <a:p>
            <a:pPr lvl="2"/>
            <a:endParaRPr lang="es-ES" sz="2000" dirty="0"/>
          </a:p>
          <a:p>
            <a:pPr marL="457200" lvl="1" indent="0">
              <a:buNone/>
            </a:pPr>
            <a:endParaRPr lang="es-ES" sz="2600" dirty="0"/>
          </a:p>
          <a:p>
            <a:pPr lvl="1"/>
            <a:endParaRPr lang="es-ES" sz="1800" dirty="0"/>
          </a:p>
          <a:p>
            <a:pPr marL="457200" lvl="1" indent="0">
              <a:buNone/>
            </a:pPr>
            <a:endParaRPr lang="es-ES" sz="2000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r>
              <a:rPr lang="en-US" dirty="0"/>
              <a:t>/22</a:t>
            </a:r>
          </a:p>
          <a:p>
            <a:endParaRPr lang="en-US" dirty="0"/>
          </a:p>
        </p:txBody>
      </p:sp>
      <p:sp>
        <p:nvSpPr>
          <p:cNvPr id="6" name="Marcador de contenido 2"/>
          <p:cNvSpPr txBox="1">
            <a:spLocks/>
          </p:cNvSpPr>
          <p:nvPr/>
        </p:nvSpPr>
        <p:spPr>
          <a:xfrm>
            <a:off x="4969565" y="4023361"/>
            <a:ext cx="3824579" cy="1534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dirty="0"/>
          </a:p>
          <a:p>
            <a:endParaRPr lang="es-ES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187" y="1677189"/>
            <a:ext cx="4509466" cy="2580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4101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516835"/>
            <a:ext cx="7728668" cy="877297"/>
          </a:xfrm>
        </p:spPr>
        <p:txBody>
          <a:bodyPr>
            <a:normAutofit/>
          </a:bodyPr>
          <a:lstStyle/>
          <a:p>
            <a:r>
              <a:rPr lang="es-ES" dirty="0"/>
              <a:t>Equipos y Software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1318295"/>
            <a:ext cx="7728667" cy="5334295"/>
          </a:xfrm>
        </p:spPr>
        <p:txBody>
          <a:bodyPr>
            <a:normAutofit/>
          </a:bodyPr>
          <a:lstStyle/>
          <a:p>
            <a:r>
              <a:rPr lang="es-ES" sz="2800" dirty="0"/>
              <a:t>Cellular Expert</a:t>
            </a:r>
            <a:endParaRPr lang="es-ES" sz="1800" dirty="0"/>
          </a:p>
          <a:p>
            <a:pPr lvl="1"/>
            <a:r>
              <a:rPr lang="es-ES" sz="2000" dirty="0"/>
              <a:t>Potente sistema de información geográfica-ArcGIS</a:t>
            </a:r>
          </a:p>
          <a:p>
            <a:pPr lvl="1"/>
            <a:endParaRPr lang="es-ES" sz="2000" dirty="0"/>
          </a:p>
          <a:p>
            <a:pPr lvl="1"/>
            <a:endParaRPr lang="es-ES" sz="2000" dirty="0"/>
          </a:p>
          <a:p>
            <a:pPr lvl="1"/>
            <a:endParaRPr lang="es-ES" sz="2000" dirty="0"/>
          </a:p>
          <a:p>
            <a:pPr lvl="1"/>
            <a:endParaRPr lang="es-ES" sz="2000" dirty="0"/>
          </a:p>
          <a:p>
            <a:pPr lvl="1"/>
            <a:endParaRPr lang="es-ES" sz="2000" dirty="0"/>
          </a:p>
          <a:p>
            <a:pPr lvl="1"/>
            <a:endParaRPr lang="es-ES" sz="2000" dirty="0"/>
          </a:p>
          <a:p>
            <a:pPr lvl="1"/>
            <a:endParaRPr lang="es-ES" sz="2000" dirty="0"/>
          </a:p>
          <a:p>
            <a:pPr marL="457200" lvl="1" indent="0">
              <a:buNone/>
            </a:pPr>
            <a:endParaRPr lang="es-ES" sz="2000" dirty="0"/>
          </a:p>
          <a:p>
            <a:pPr lvl="1"/>
            <a:r>
              <a:rPr lang="es-ES" sz="2000" dirty="0"/>
              <a:t>Dotado con variedad de herramientas para una planificación 4G de calidad</a:t>
            </a:r>
          </a:p>
          <a:p>
            <a:pPr lvl="1"/>
            <a:endParaRPr lang="es-ES" sz="2000" dirty="0"/>
          </a:p>
          <a:p>
            <a:pPr lvl="1"/>
            <a:endParaRPr lang="es-ES" sz="2000" dirty="0"/>
          </a:p>
          <a:p>
            <a:pPr lvl="1"/>
            <a:endParaRPr lang="es-ES" sz="2000" dirty="0"/>
          </a:p>
          <a:p>
            <a:pPr lvl="1"/>
            <a:endParaRPr lang="es-ES" sz="2000" dirty="0"/>
          </a:p>
          <a:p>
            <a:pPr lvl="1"/>
            <a:endParaRPr lang="es-ES" sz="2000" dirty="0"/>
          </a:p>
          <a:p>
            <a:pPr lvl="1"/>
            <a:endParaRPr lang="es-ES" sz="2000" dirty="0"/>
          </a:p>
          <a:p>
            <a:pPr marL="457200" lvl="1" indent="0">
              <a:buNone/>
            </a:pPr>
            <a:endParaRPr lang="es-ES" sz="2000" dirty="0"/>
          </a:p>
          <a:p>
            <a:pPr marL="457200" lvl="1" indent="0">
              <a:buNone/>
            </a:pPr>
            <a:endParaRPr lang="es-ES" sz="2000" dirty="0"/>
          </a:p>
          <a:p>
            <a:pPr marL="457200" lvl="1" indent="0">
              <a:buNone/>
            </a:pPr>
            <a:endParaRPr lang="es-ES" sz="2000" dirty="0"/>
          </a:p>
          <a:p>
            <a:pPr marL="457200" lvl="1" indent="0">
              <a:buNone/>
            </a:pPr>
            <a:endParaRPr lang="es-ES" sz="2000" dirty="0"/>
          </a:p>
          <a:p>
            <a:pPr marL="457200" lvl="1" indent="0">
              <a:buNone/>
            </a:pPr>
            <a:endParaRPr lang="es-ES" sz="2000" dirty="0"/>
          </a:p>
          <a:p>
            <a:pPr lvl="1"/>
            <a:endParaRPr lang="es-ES" sz="2000" dirty="0"/>
          </a:p>
          <a:p>
            <a:pPr lvl="1"/>
            <a:endParaRPr lang="es-ES" sz="2000" dirty="0"/>
          </a:p>
          <a:p>
            <a:pPr marL="457200" lvl="1" indent="0">
              <a:buNone/>
            </a:pPr>
            <a:endParaRPr lang="es-ES" sz="2200" dirty="0"/>
          </a:p>
          <a:p>
            <a:pPr marL="457200" lvl="1" indent="0">
              <a:buNone/>
            </a:pPr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r>
              <a:rPr lang="en-US" dirty="0"/>
              <a:t>/22</a:t>
            </a:r>
          </a:p>
        </p:txBody>
      </p:sp>
      <p:sp>
        <p:nvSpPr>
          <p:cNvPr id="6" name="Marcador de contenido 2"/>
          <p:cNvSpPr txBox="1">
            <a:spLocks/>
          </p:cNvSpPr>
          <p:nvPr/>
        </p:nvSpPr>
        <p:spPr>
          <a:xfrm>
            <a:off x="4969565" y="4023361"/>
            <a:ext cx="3824579" cy="1534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dirty="0"/>
          </a:p>
          <a:p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088" y="2540443"/>
            <a:ext cx="5981886" cy="2965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2518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265043"/>
            <a:ext cx="7728668" cy="871183"/>
          </a:xfrm>
        </p:spPr>
        <p:txBody>
          <a:bodyPr>
            <a:normAutofit/>
          </a:bodyPr>
          <a:lstStyle/>
          <a:p>
            <a:r>
              <a:rPr lang="es-ES" dirty="0"/>
              <a:t>Equipos y Software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1020417"/>
            <a:ext cx="8097077" cy="6029740"/>
          </a:xfrm>
        </p:spPr>
        <p:txBody>
          <a:bodyPr>
            <a:normAutofit/>
          </a:bodyPr>
          <a:lstStyle/>
          <a:p>
            <a:r>
              <a:rPr lang="es-ES" sz="2800" dirty="0"/>
              <a:t>Cellular Expert</a:t>
            </a:r>
            <a:endParaRPr lang="es-ES" sz="1800" dirty="0"/>
          </a:p>
          <a:p>
            <a:pPr lvl="1"/>
            <a:r>
              <a:rPr lang="es-ES" sz="2000" dirty="0"/>
              <a:t>Calculo de la cobertura en base a:</a:t>
            </a:r>
          </a:p>
          <a:p>
            <a:pPr lvl="2"/>
            <a:r>
              <a:rPr lang="es-ES" sz="1600" dirty="0"/>
              <a:t>Potencia señal recibida, Calidad de la señal recibida, SNR Velocidad media de bajada, modelos de radio propagación… </a:t>
            </a:r>
          </a:p>
          <a:p>
            <a:pPr marL="457200" lvl="1" indent="0">
              <a:buNone/>
            </a:pPr>
            <a:endParaRPr lang="es-ES" sz="1800" dirty="0"/>
          </a:p>
          <a:p>
            <a:pPr marL="457200" lvl="1" indent="0">
              <a:buNone/>
            </a:pPr>
            <a:endParaRPr lang="es-ES" sz="2000" dirty="0"/>
          </a:p>
          <a:p>
            <a:pPr marL="457200" lvl="1" indent="0">
              <a:buNone/>
            </a:pPr>
            <a:endParaRPr lang="es-ES" sz="2000" dirty="0"/>
          </a:p>
          <a:p>
            <a:pPr marL="457200" lvl="1" indent="0">
              <a:buNone/>
            </a:pPr>
            <a:endParaRPr lang="es-ES" sz="2000" dirty="0"/>
          </a:p>
          <a:p>
            <a:pPr marL="457200" lvl="1" indent="0">
              <a:buNone/>
            </a:pPr>
            <a:endParaRPr lang="es-ES" sz="2000" dirty="0"/>
          </a:p>
          <a:p>
            <a:pPr marL="457200" lvl="1" indent="0">
              <a:buNone/>
            </a:pPr>
            <a:endParaRPr lang="es-ES" sz="2000" dirty="0"/>
          </a:p>
          <a:p>
            <a:pPr marL="457200" lvl="1" indent="0">
              <a:buNone/>
            </a:pPr>
            <a:endParaRPr lang="es-ES" sz="2000" dirty="0"/>
          </a:p>
          <a:p>
            <a:pPr lvl="1"/>
            <a:r>
              <a:rPr lang="es-ES" sz="2000" dirty="0"/>
              <a:t>El SW será el utilizado por la empresa subcontratada</a:t>
            </a:r>
          </a:p>
          <a:p>
            <a:pPr lvl="1"/>
            <a:r>
              <a:rPr lang="es-ES" sz="2000" dirty="0"/>
              <a:t>Almacenamiento de datos y acceso vía “nube”</a:t>
            </a:r>
          </a:p>
          <a:p>
            <a:pPr marL="457200" lvl="1" indent="0">
              <a:buNone/>
            </a:pPr>
            <a:endParaRPr lang="es-ES" sz="2000" dirty="0"/>
          </a:p>
          <a:p>
            <a:pPr lvl="1"/>
            <a:endParaRPr lang="es-ES" sz="2000" dirty="0"/>
          </a:p>
          <a:p>
            <a:pPr lvl="1"/>
            <a:endParaRPr lang="es-ES" sz="2000" dirty="0"/>
          </a:p>
          <a:p>
            <a:pPr marL="914400" lvl="2" indent="0">
              <a:buNone/>
            </a:pPr>
            <a:endParaRPr lang="es-ES" sz="1800" dirty="0"/>
          </a:p>
          <a:p>
            <a:pPr lvl="2"/>
            <a:endParaRPr lang="es-ES" sz="1800" dirty="0"/>
          </a:p>
          <a:p>
            <a:pPr lvl="1"/>
            <a:endParaRPr lang="es-ES" sz="2000" dirty="0"/>
          </a:p>
          <a:p>
            <a:pPr marL="457200" lvl="1" indent="0">
              <a:buNone/>
            </a:pPr>
            <a:endParaRPr lang="es-ES" sz="2000" dirty="0"/>
          </a:p>
          <a:p>
            <a:pPr lvl="1"/>
            <a:endParaRPr lang="es-ES" sz="2000" dirty="0"/>
          </a:p>
          <a:p>
            <a:pPr lvl="1"/>
            <a:endParaRPr lang="es-ES" sz="2000" dirty="0"/>
          </a:p>
          <a:p>
            <a:pPr lvl="1"/>
            <a:endParaRPr lang="es-ES" sz="2000" dirty="0"/>
          </a:p>
          <a:p>
            <a:pPr marL="457200" lvl="1" indent="0">
              <a:buNone/>
            </a:pPr>
            <a:endParaRPr lang="es-ES" sz="2000" dirty="0"/>
          </a:p>
          <a:p>
            <a:pPr marL="457200" lvl="1" indent="0">
              <a:buNone/>
            </a:pPr>
            <a:endParaRPr lang="es-ES" sz="2000" dirty="0"/>
          </a:p>
          <a:p>
            <a:pPr marL="457200" lvl="1" indent="0">
              <a:buNone/>
            </a:pPr>
            <a:endParaRPr lang="es-ES" sz="2000" dirty="0"/>
          </a:p>
          <a:p>
            <a:pPr lvl="1"/>
            <a:endParaRPr lang="es-ES" sz="2000" dirty="0"/>
          </a:p>
          <a:p>
            <a:pPr lvl="1"/>
            <a:endParaRPr lang="es-ES" sz="2000" dirty="0"/>
          </a:p>
          <a:p>
            <a:pPr marL="457200" lvl="1" indent="0">
              <a:buNone/>
            </a:pPr>
            <a:endParaRPr lang="es-ES" sz="2200" dirty="0"/>
          </a:p>
          <a:p>
            <a:pPr marL="457200" lvl="1" indent="0">
              <a:buNone/>
            </a:pPr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r>
              <a:rPr lang="en-US" dirty="0"/>
              <a:t>/22</a:t>
            </a:r>
          </a:p>
        </p:txBody>
      </p:sp>
      <p:sp>
        <p:nvSpPr>
          <p:cNvPr id="6" name="Marcador de contenido 2"/>
          <p:cNvSpPr txBox="1">
            <a:spLocks/>
          </p:cNvSpPr>
          <p:nvPr/>
        </p:nvSpPr>
        <p:spPr>
          <a:xfrm>
            <a:off x="4969565" y="4023361"/>
            <a:ext cx="3824579" cy="1534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dirty="0"/>
          </a:p>
          <a:p>
            <a:endParaRPr lang="es-ES" dirty="0"/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8262" y="2631591"/>
            <a:ext cx="5010150" cy="2926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5736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5888" y="450575"/>
            <a:ext cx="7492780" cy="1226614"/>
          </a:xfrm>
        </p:spPr>
        <p:txBody>
          <a:bodyPr>
            <a:normAutofit/>
          </a:bodyPr>
          <a:lstStyle/>
          <a:p>
            <a:r>
              <a:rPr lang="es-ES" dirty="0"/>
              <a:t>Recursos destinados a la comunicación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09599" y="2053790"/>
            <a:ext cx="7051830" cy="3987573"/>
          </a:xfrm>
        </p:spPr>
        <p:txBody>
          <a:bodyPr>
            <a:normAutofit lnSpcReduction="10000"/>
          </a:bodyPr>
          <a:lstStyle/>
          <a:p>
            <a:r>
              <a:rPr lang="es-ES" sz="2800" dirty="0"/>
              <a:t>Teléfonos</a:t>
            </a:r>
            <a:endParaRPr lang="es-ES" sz="2000" dirty="0"/>
          </a:p>
          <a:p>
            <a:endParaRPr lang="es-ES" sz="2000" dirty="0"/>
          </a:p>
          <a:p>
            <a:r>
              <a:rPr lang="es-ES" sz="2800" dirty="0"/>
              <a:t> Slack</a:t>
            </a:r>
          </a:p>
          <a:p>
            <a:pPr marL="0" indent="0">
              <a:buNone/>
            </a:pPr>
            <a:endParaRPr lang="es-ES" sz="2800" dirty="0"/>
          </a:p>
          <a:p>
            <a:pPr marL="0" indent="0">
              <a:buNone/>
            </a:pPr>
            <a:endParaRPr lang="es-ES" sz="2800" dirty="0"/>
          </a:p>
          <a:p>
            <a:r>
              <a:rPr lang="es-ES" sz="2800" dirty="0"/>
              <a:t>Videoconferencia – Equipos Rollabout</a:t>
            </a:r>
          </a:p>
          <a:p>
            <a:endParaRPr lang="es-ES" sz="2800" dirty="0"/>
          </a:p>
          <a:p>
            <a:r>
              <a:rPr lang="es-ES" sz="2800" dirty="0"/>
              <a:t>Facebook, Twitter…</a:t>
            </a:r>
          </a:p>
          <a:p>
            <a:pPr marL="0" indent="0">
              <a:buNone/>
            </a:pPr>
            <a:endParaRPr lang="es-ES" sz="2800" dirty="0"/>
          </a:p>
          <a:p>
            <a:pPr lvl="1"/>
            <a:endParaRPr lang="es-ES" sz="2600" dirty="0"/>
          </a:p>
          <a:p>
            <a:pPr lvl="1"/>
            <a:endParaRPr lang="es-ES" sz="1800" dirty="0"/>
          </a:p>
          <a:p>
            <a:pPr marL="457200" lvl="1" indent="0">
              <a:buNone/>
            </a:pPr>
            <a:endParaRPr lang="es-ES" sz="2000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r>
              <a:rPr lang="en-US" dirty="0"/>
              <a:t>/22</a:t>
            </a:r>
          </a:p>
        </p:txBody>
      </p:sp>
      <p:sp>
        <p:nvSpPr>
          <p:cNvPr id="6" name="Marcador de contenido 2"/>
          <p:cNvSpPr txBox="1">
            <a:spLocks/>
          </p:cNvSpPr>
          <p:nvPr/>
        </p:nvSpPr>
        <p:spPr>
          <a:xfrm>
            <a:off x="4969565" y="4023361"/>
            <a:ext cx="3824579" cy="1534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dirty="0"/>
          </a:p>
          <a:p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7841" y="2053790"/>
            <a:ext cx="3806273" cy="239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2377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50575"/>
            <a:ext cx="7728668" cy="1226614"/>
          </a:xfrm>
        </p:spPr>
        <p:txBody>
          <a:bodyPr>
            <a:normAutofit/>
          </a:bodyPr>
          <a:lstStyle/>
          <a:p>
            <a:r>
              <a:rPr lang="es-ES" dirty="0"/>
              <a:t>Estrategia de diseño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1677188"/>
            <a:ext cx="7911548" cy="5180811"/>
          </a:xfrm>
        </p:spPr>
        <p:txBody>
          <a:bodyPr>
            <a:normAutofit/>
          </a:bodyPr>
          <a:lstStyle/>
          <a:p>
            <a:r>
              <a:rPr lang="es-ES" sz="2800" dirty="0"/>
              <a:t>Subcontratación</a:t>
            </a:r>
            <a:endParaRPr lang="es-ES" sz="2000" dirty="0"/>
          </a:p>
          <a:p>
            <a:pPr marL="0" indent="0">
              <a:buNone/>
            </a:pPr>
            <a:endParaRPr lang="es-ES" sz="2000" dirty="0"/>
          </a:p>
          <a:p>
            <a:pPr marL="0" indent="0">
              <a:buNone/>
            </a:pPr>
            <a:endParaRPr lang="es-ES" sz="2000" dirty="0"/>
          </a:p>
          <a:p>
            <a:pPr lvl="1"/>
            <a:r>
              <a:rPr lang="es-ES" sz="2600" dirty="0"/>
              <a:t> </a:t>
            </a:r>
            <a:r>
              <a:rPr lang="es-ES" sz="2400" dirty="0"/>
              <a:t>Ahorro de costes</a:t>
            </a:r>
          </a:p>
          <a:p>
            <a:pPr lvl="2"/>
            <a:r>
              <a:rPr lang="es-ES" sz="2000" dirty="0"/>
              <a:t>Servicios de calidad ofrecidos por expertos</a:t>
            </a:r>
          </a:p>
          <a:p>
            <a:pPr lvl="2"/>
            <a:r>
              <a:rPr lang="es-ES" sz="2000" dirty="0"/>
              <a:t>Desaparece la posibilidad de contratar y formar personas</a:t>
            </a:r>
            <a:endParaRPr lang="es-ES" sz="2400" dirty="0"/>
          </a:p>
          <a:p>
            <a:pPr marL="914400" lvl="2" indent="0">
              <a:buNone/>
            </a:pPr>
            <a:endParaRPr lang="es-ES" sz="2400" dirty="0"/>
          </a:p>
          <a:p>
            <a:pPr lvl="1"/>
            <a:r>
              <a:rPr lang="es-ES" sz="2400" dirty="0"/>
              <a:t>Ahorro de tiempo</a:t>
            </a:r>
          </a:p>
          <a:p>
            <a:pPr lvl="2"/>
            <a:r>
              <a:rPr lang="es-ES" sz="2000" dirty="0"/>
              <a:t>Donatel dedica más tiempo a sus líneas de negocios principales</a:t>
            </a:r>
          </a:p>
          <a:p>
            <a:pPr marL="914400" lvl="2" indent="0">
              <a:buNone/>
            </a:pPr>
            <a:endParaRPr lang="es-ES" sz="2800" dirty="0"/>
          </a:p>
          <a:p>
            <a:pPr marL="0" indent="0">
              <a:buNone/>
            </a:pPr>
            <a:endParaRPr lang="es-ES" sz="2800" dirty="0"/>
          </a:p>
          <a:p>
            <a:pPr lvl="1"/>
            <a:endParaRPr lang="es-ES" sz="2600" dirty="0"/>
          </a:p>
          <a:p>
            <a:pPr lvl="1"/>
            <a:endParaRPr lang="es-ES" sz="1800" dirty="0"/>
          </a:p>
          <a:p>
            <a:pPr marL="457200" lvl="1" indent="0">
              <a:buNone/>
            </a:pPr>
            <a:endParaRPr lang="es-ES" sz="2000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r>
              <a:rPr lang="en-US" dirty="0"/>
              <a:t>/22</a:t>
            </a:r>
          </a:p>
        </p:txBody>
      </p:sp>
      <p:sp>
        <p:nvSpPr>
          <p:cNvPr id="6" name="Marcador de contenido 2"/>
          <p:cNvSpPr txBox="1">
            <a:spLocks/>
          </p:cNvSpPr>
          <p:nvPr/>
        </p:nvSpPr>
        <p:spPr>
          <a:xfrm>
            <a:off x="4969565" y="4023361"/>
            <a:ext cx="3824579" cy="1534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dirty="0"/>
          </a:p>
          <a:p>
            <a:endParaRPr lang="es-ES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1583" y="1058783"/>
            <a:ext cx="3631095" cy="2625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9036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50575"/>
            <a:ext cx="7728668" cy="1226614"/>
          </a:xfrm>
        </p:spPr>
        <p:txBody>
          <a:bodyPr>
            <a:normAutofit/>
          </a:bodyPr>
          <a:lstStyle/>
          <a:p>
            <a:r>
              <a:rPr lang="es-ES" dirty="0"/>
              <a:t>Equipos de prueba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1364974"/>
            <a:ext cx="7728668" cy="5493025"/>
          </a:xfrm>
        </p:spPr>
        <p:txBody>
          <a:bodyPr>
            <a:normAutofit/>
          </a:bodyPr>
          <a:lstStyle/>
          <a:p>
            <a:r>
              <a:rPr lang="es-ES" sz="2800" dirty="0"/>
              <a:t>Red verificada según protocolo de pruebas de Donatel</a:t>
            </a:r>
          </a:p>
          <a:p>
            <a:endParaRPr lang="es-ES" sz="1000" dirty="0"/>
          </a:p>
          <a:p>
            <a:pPr lvl="1"/>
            <a:r>
              <a:rPr lang="es-ES" sz="1800" dirty="0"/>
              <a:t>Pruebas de ajuste de equipos</a:t>
            </a:r>
          </a:p>
          <a:p>
            <a:pPr lvl="1"/>
            <a:r>
              <a:rPr lang="es-ES" sz="1800" dirty="0"/>
              <a:t>Pruebas de cobertura</a:t>
            </a:r>
          </a:p>
          <a:p>
            <a:pPr marL="457200" lvl="1" indent="0">
              <a:buNone/>
            </a:pPr>
            <a:endParaRPr lang="es-ES" sz="1000" dirty="0"/>
          </a:p>
          <a:p>
            <a:r>
              <a:rPr lang="es-ES" sz="2800" dirty="0"/>
              <a:t>Se dispone de herramientas de calidad de la marca Rhode &amp; Schwarz</a:t>
            </a:r>
          </a:p>
          <a:p>
            <a:pPr marL="0" indent="0">
              <a:buNone/>
            </a:pPr>
            <a:endParaRPr lang="es-ES" sz="1000" dirty="0"/>
          </a:p>
          <a:p>
            <a:pPr lvl="1"/>
            <a:r>
              <a:rPr lang="es-ES" sz="1800" dirty="0"/>
              <a:t>Medidor de potencia y reflexión R&amp;S NRT</a:t>
            </a:r>
          </a:p>
          <a:p>
            <a:pPr lvl="1"/>
            <a:r>
              <a:rPr lang="es-ES" sz="1800" dirty="0"/>
              <a:t>Analizador de cables y antenas R&amp;S ZSV</a:t>
            </a:r>
          </a:p>
          <a:p>
            <a:pPr lvl="1"/>
            <a:r>
              <a:rPr lang="es-ES" sz="1800" dirty="0"/>
              <a:t>Analizador de espectros portátil R&amp;S FSH</a:t>
            </a:r>
          </a:p>
          <a:p>
            <a:pPr marL="0" indent="0">
              <a:buNone/>
            </a:pPr>
            <a:endParaRPr lang="es-ES" sz="2800" dirty="0"/>
          </a:p>
          <a:p>
            <a:pPr lvl="1"/>
            <a:endParaRPr lang="es-ES" sz="2600" dirty="0"/>
          </a:p>
          <a:p>
            <a:pPr lvl="1"/>
            <a:endParaRPr lang="es-ES" sz="1800" dirty="0"/>
          </a:p>
          <a:p>
            <a:pPr marL="457200" lvl="1" indent="0">
              <a:buNone/>
            </a:pPr>
            <a:endParaRPr lang="es-ES" sz="2000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r>
              <a:rPr lang="en-US" dirty="0"/>
              <a:t>/22</a:t>
            </a:r>
          </a:p>
        </p:txBody>
      </p:sp>
      <p:sp>
        <p:nvSpPr>
          <p:cNvPr id="6" name="Marcador de contenido 2"/>
          <p:cNvSpPr txBox="1">
            <a:spLocks/>
          </p:cNvSpPr>
          <p:nvPr/>
        </p:nvSpPr>
        <p:spPr>
          <a:xfrm>
            <a:off x="4969565" y="4023361"/>
            <a:ext cx="3824579" cy="1534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dirty="0"/>
          </a:p>
          <a:p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5018" y="4214191"/>
            <a:ext cx="2533650" cy="2707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0715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50575"/>
            <a:ext cx="7728668" cy="1226614"/>
          </a:xfrm>
        </p:spPr>
        <p:txBody>
          <a:bodyPr>
            <a:normAutofit/>
          </a:bodyPr>
          <a:lstStyle/>
          <a:p>
            <a:r>
              <a:rPr lang="es-ES" dirty="0"/>
              <a:t>Integración en el entorno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1417983"/>
            <a:ext cx="7513983" cy="5440016"/>
          </a:xfrm>
        </p:spPr>
        <p:txBody>
          <a:bodyPr>
            <a:normAutofit/>
          </a:bodyPr>
          <a:lstStyle/>
          <a:p>
            <a:r>
              <a:rPr lang="es-ES" sz="2000" dirty="0"/>
              <a:t>La red debe respetar la ordenanza municipal reguladora de las condiciones urbanísticas de la instalación y funcionamiento de los elementos y equipos de telecomunicación en el término municipal de Alcalá de Henares.</a:t>
            </a:r>
          </a:p>
          <a:p>
            <a:pPr marL="0" indent="0">
              <a:buNone/>
            </a:pPr>
            <a:endParaRPr lang="es-ES" sz="1000" dirty="0"/>
          </a:p>
          <a:p>
            <a:r>
              <a:rPr lang="es-ES" sz="2000" dirty="0"/>
              <a:t>La implantación debe:</a:t>
            </a:r>
          </a:p>
          <a:p>
            <a:endParaRPr lang="es-ES" sz="1000" dirty="0"/>
          </a:p>
          <a:p>
            <a:pPr lvl="1"/>
            <a:r>
              <a:rPr lang="es-ES" dirty="0"/>
              <a:t>Producir la menor ocupación de espacio posible</a:t>
            </a:r>
          </a:p>
          <a:p>
            <a:pPr lvl="1"/>
            <a:endParaRPr lang="es-ES" dirty="0"/>
          </a:p>
          <a:p>
            <a:pPr lvl="1"/>
            <a:r>
              <a:rPr lang="es-ES" dirty="0"/>
              <a:t>No afectar la salud de los ciudadanos</a:t>
            </a:r>
          </a:p>
          <a:p>
            <a:pPr lvl="2"/>
            <a:r>
              <a:rPr lang="es-ES" sz="1600" dirty="0"/>
              <a:t>Son de especial importancia entornos sensibles como escuelas, hospitales o parques públicos</a:t>
            </a:r>
          </a:p>
          <a:p>
            <a:pPr marL="914400" lvl="2" indent="0">
              <a:buNone/>
            </a:pPr>
            <a:endParaRPr lang="es-ES" sz="1600" dirty="0"/>
          </a:p>
          <a:p>
            <a:pPr lvl="1"/>
            <a:r>
              <a:rPr lang="es-ES" dirty="0"/>
              <a:t>Producir el menor impacto visual y medioambiental</a:t>
            </a:r>
          </a:p>
          <a:p>
            <a:pPr marL="914400" lvl="2" indent="0">
              <a:buNone/>
            </a:pPr>
            <a:endParaRPr lang="es-ES" dirty="0"/>
          </a:p>
          <a:p>
            <a:endParaRPr lang="es-ES" sz="2800" dirty="0"/>
          </a:p>
          <a:p>
            <a:pPr marL="0" indent="0">
              <a:buNone/>
            </a:pPr>
            <a:endParaRPr lang="es-ES" sz="2800" dirty="0"/>
          </a:p>
          <a:p>
            <a:pPr marL="0" indent="0">
              <a:buNone/>
            </a:pPr>
            <a:endParaRPr lang="es-ES" sz="2800" dirty="0"/>
          </a:p>
          <a:p>
            <a:pPr lvl="1"/>
            <a:endParaRPr lang="es-ES" sz="2600" dirty="0"/>
          </a:p>
          <a:p>
            <a:pPr lvl="1"/>
            <a:endParaRPr lang="es-ES" sz="1800" dirty="0"/>
          </a:p>
          <a:p>
            <a:pPr marL="457200" lvl="1" indent="0">
              <a:buNone/>
            </a:pPr>
            <a:endParaRPr lang="es-ES" sz="2000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r>
              <a:rPr lang="en-US" dirty="0"/>
              <a:t>/22</a:t>
            </a:r>
          </a:p>
        </p:txBody>
      </p:sp>
      <p:sp>
        <p:nvSpPr>
          <p:cNvPr id="6" name="Marcador de contenido 2"/>
          <p:cNvSpPr txBox="1">
            <a:spLocks/>
          </p:cNvSpPr>
          <p:nvPr/>
        </p:nvSpPr>
        <p:spPr>
          <a:xfrm>
            <a:off x="4969565" y="4023361"/>
            <a:ext cx="3824579" cy="1534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554970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50575"/>
            <a:ext cx="7728668" cy="967408"/>
          </a:xfrm>
        </p:spPr>
        <p:txBody>
          <a:bodyPr>
            <a:normAutofit/>
          </a:bodyPr>
          <a:lstStyle/>
          <a:p>
            <a:r>
              <a:rPr lang="es-ES" dirty="0"/>
              <a:t>Integración en el entorno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1417983"/>
            <a:ext cx="7513983" cy="5440016"/>
          </a:xfrm>
        </p:spPr>
        <p:txBody>
          <a:bodyPr>
            <a:normAutofit/>
          </a:bodyPr>
          <a:lstStyle/>
          <a:p>
            <a:r>
              <a:rPr lang="es-ES" sz="2800" dirty="0"/>
              <a:t>Soluciones basadas en mimetización</a:t>
            </a:r>
          </a:p>
          <a:p>
            <a:pPr marL="0" indent="0">
              <a:buNone/>
            </a:pPr>
            <a:endParaRPr lang="es-ES" sz="1000" dirty="0"/>
          </a:p>
          <a:p>
            <a:pPr lvl="1"/>
            <a:r>
              <a:rPr lang="es-ES" sz="2000" dirty="0"/>
              <a:t>Sistemas clásicos</a:t>
            </a:r>
          </a:p>
          <a:p>
            <a:pPr lvl="1"/>
            <a:r>
              <a:rPr lang="es-ES" sz="2000" dirty="0"/>
              <a:t>Sistemas automimetizados</a:t>
            </a:r>
          </a:p>
          <a:p>
            <a:pPr marL="0" indent="0">
              <a:buNone/>
            </a:pPr>
            <a:endParaRPr lang="es-ES" sz="2800" dirty="0"/>
          </a:p>
          <a:p>
            <a:r>
              <a:rPr lang="es-ES" sz="2800" dirty="0"/>
              <a:t>Materiales a emplear</a:t>
            </a:r>
          </a:p>
          <a:p>
            <a:pPr marL="0" indent="0">
              <a:buNone/>
            </a:pPr>
            <a:endParaRPr lang="es-ES" sz="1000" dirty="0"/>
          </a:p>
          <a:p>
            <a:pPr lvl="1"/>
            <a:r>
              <a:rPr lang="es-ES" sz="2000" dirty="0"/>
              <a:t>Poliéster Reforzado de fibra de vidrio</a:t>
            </a:r>
          </a:p>
          <a:p>
            <a:pPr lvl="1"/>
            <a:r>
              <a:rPr lang="es-ES" sz="2000" dirty="0"/>
              <a:t>PVC</a:t>
            </a:r>
          </a:p>
          <a:p>
            <a:pPr lvl="1"/>
            <a:r>
              <a:rPr lang="es-ES" sz="2000" dirty="0"/>
              <a:t>Acero</a:t>
            </a:r>
          </a:p>
          <a:p>
            <a:pPr lvl="1"/>
            <a:endParaRPr lang="es-ES" sz="2600" dirty="0"/>
          </a:p>
          <a:p>
            <a:endParaRPr lang="es-ES" sz="2800" dirty="0"/>
          </a:p>
          <a:p>
            <a:endParaRPr lang="es-ES" sz="2800" dirty="0"/>
          </a:p>
          <a:p>
            <a:endParaRPr lang="es-ES" sz="2800" dirty="0"/>
          </a:p>
          <a:p>
            <a:pPr marL="0" indent="0">
              <a:buNone/>
            </a:pPr>
            <a:endParaRPr lang="es-ES" sz="2800" dirty="0"/>
          </a:p>
          <a:p>
            <a:pPr lvl="1"/>
            <a:endParaRPr lang="es-ES" sz="2600" dirty="0"/>
          </a:p>
          <a:p>
            <a:pPr marL="457200" lvl="1" indent="0">
              <a:buNone/>
            </a:pPr>
            <a:endParaRPr lang="es-ES" sz="2600" dirty="0"/>
          </a:p>
          <a:p>
            <a:pPr marL="914400" lvl="2" indent="0">
              <a:buNone/>
            </a:pPr>
            <a:endParaRPr lang="es-ES" dirty="0"/>
          </a:p>
          <a:p>
            <a:endParaRPr lang="es-ES" sz="2800" dirty="0"/>
          </a:p>
          <a:p>
            <a:pPr marL="0" indent="0">
              <a:buNone/>
            </a:pPr>
            <a:endParaRPr lang="es-ES" sz="2800" dirty="0"/>
          </a:p>
          <a:p>
            <a:pPr marL="0" indent="0">
              <a:buNone/>
            </a:pPr>
            <a:endParaRPr lang="es-ES" sz="2800" dirty="0"/>
          </a:p>
          <a:p>
            <a:pPr lvl="1"/>
            <a:endParaRPr lang="es-ES" sz="2600" dirty="0"/>
          </a:p>
          <a:p>
            <a:pPr lvl="1"/>
            <a:endParaRPr lang="es-ES" sz="1800" dirty="0"/>
          </a:p>
          <a:p>
            <a:pPr marL="457200" lvl="1" indent="0">
              <a:buNone/>
            </a:pPr>
            <a:endParaRPr lang="es-ES" sz="2000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r>
              <a:rPr lang="en-US" dirty="0"/>
              <a:t>/22</a:t>
            </a:r>
          </a:p>
        </p:txBody>
      </p:sp>
      <p:sp>
        <p:nvSpPr>
          <p:cNvPr id="6" name="Marcador de contenido 2"/>
          <p:cNvSpPr txBox="1">
            <a:spLocks/>
          </p:cNvSpPr>
          <p:nvPr/>
        </p:nvSpPr>
        <p:spPr>
          <a:xfrm>
            <a:off x="4969565" y="4023361"/>
            <a:ext cx="3824579" cy="1534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dirty="0"/>
          </a:p>
          <a:p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908" y="2007887"/>
            <a:ext cx="3315156" cy="252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6175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sz="8000" dirty="0"/>
              <a:t>DONATEL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3599" y="527907"/>
            <a:ext cx="3303715" cy="2160121"/>
          </a:xfrm>
          <a:prstGeom prst="rect">
            <a:avLst/>
          </a:prstGeom>
        </p:spPr>
      </p:pic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702784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3118</TotalTime>
  <Words>1375</Words>
  <Application>Microsoft Office PowerPoint</Application>
  <PresentationFormat>Presentación en pantalla (4:3)</PresentationFormat>
  <Paragraphs>541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30" baseType="lpstr">
      <vt:lpstr>Arial</vt:lpstr>
      <vt:lpstr>Berlin Sans FB</vt:lpstr>
      <vt:lpstr>Calibri</vt:lpstr>
      <vt:lpstr>Times New Roman</vt:lpstr>
      <vt:lpstr>Trebuchet MS</vt:lpstr>
      <vt:lpstr>Wingdings 3</vt:lpstr>
      <vt:lpstr>Faceta</vt:lpstr>
      <vt:lpstr>DONATEL</vt:lpstr>
      <vt:lpstr>Presentación de PowerPoint</vt:lpstr>
      <vt:lpstr>Planificar los costes</vt:lpstr>
      <vt:lpstr>Presentación de PowerPoint</vt:lpstr>
      <vt:lpstr>Estimación de Costes</vt:lpstr>
      <vt:lpstr>Estimación de Costes de las actividades</vt:lpstr>
      <vt:lpstr>Estimación de Costes de las actividades</vt:lpstr>
      <vt:lpstr>Estimación de Costes de las actividades</vt:lpstr>
      <vt:lpstr>Estimación de costes para las contingencias </vt:lpstr>
      <vt:lpstr>Determinar el presupuesto</vt:lpstr>
      <vt:lpstr>Requisitos de Financiación</vt:lpstr>
      <vt:lpstr>Requisitos de Financiación</vt:lpstr>
      <vt:lpstr>Presentación de PowerPoint</vt:lpstr>
      <vt:lpstr>Presentación de PowerPoint</vt:lpstr>
      <vt:lpstr>Equipos y Software </vt:lpstr>
      <vt:lpstr>Equipos y Software</vt:lpstr>
      <vt:lpstr>Equipos y Software</vt:lpstr>
      <vt:lpstr>Recursos destinados a la comunicación</vt:lpstr>
      <vt:lpstr>Estrategia de diseño</vt:lpstr>
      <vt:lpstr>Equipos de prueba</vt:lpstr>
      <vt:lpstr>Integración en el entorno</vt:lpstr>
      <vt:lpstr>Integración en el entorno</vt:lpstr>
      <vt:lpstr>DONATEL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DONATEL</dc:title>
  <dc:creator>Carlos Herranz Perdiguero</dc:creator>
  <cp:lastModifiedBy>Ana Maria de la Fuente Aguilar</cp:lastModifiedBy>
  <cp:revision>172</cp:revision>
  <dcterms:created xsi:type="dcterms:W3CDTF">2016-05-09T08:14:16Z</dcterms:created>
  <dcterms:modified xsi:type="dcterms:W3CDTF">2016-12-13T12:42:19Z</dcterms:modified>
</cp:coreProperties>
</file>